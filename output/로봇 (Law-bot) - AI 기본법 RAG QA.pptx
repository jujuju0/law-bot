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118397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AI 기본법을 조문 근거와 함께 답하는 RAG 질의응답 서비스, 로봇(Law-bot)을 소개하겠습니다. 오늘 핵심은 기법을 많이 쓴 것이 아니라, 어떤 기법이 검색을 실제로 개선했는지 수치로 보여드리는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순서는 프로젝트 개요, 데이터와 아키텍처, 실험 결과, 그리고 한계와 향후 과제입니다.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로봇은 세 가지 원칙으로 만들었습니다. 첫째, 검색된 조문 안에서만 답하고 범위 밖 질문은 거절합니다. 둘째, 모든 주장에 법 제31조 제2항, 영 별표 2 같은 인용을 답니다. 셋째, 목표는 기법을 많이 쓰는 것이 아니라 어떤 기법이 검색을 실제로 개선했는지 E0부터 E10까지 단계별로 수치로 보이는 것입니다. 서비스는 POST /ask 하나로, 답변과 근거 목록, 근거 여부, AI 생성 고지를 함께 돌려줍니다.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PDF가 아니라 국가법령정보 공동활용 Open API로 수집했습니다. 법률 108개, 시행령 87개, 별표 26개 청크가 핵심 원천이고, 과기정통부 고시와 법령용어를 보조 원천으로 붙여 총 236개 청크입니다. 별표는 시행령 본문의 고정폭 표를 파싱해 행 단위로 잘랐습니다. API 원문은 캐시해 두고 서비스는 런타임에 외부 API를 호출하지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오프라인에서는 Open API 캐시를 조·항·호 구조로 청킹하고, 위임 그래프를 만든 뒤 Qdrant에 적재합니다. 온라인에서는 Term 확장으로 질의를 준비하고, Dense와 BM25 결과를 RRF로 합친 뒤 CrossEncoder로 재정렬합니다. 그 다음 Router와 위임 그래프로 근거를 확장하고, LLM이 답한 뒤 인용과 숫자를 후검증합니다. 파란색 두 단계가 가장 큰 개선을 만든 부분입니다. 모든 기법은 설정 플래그로 켜고 끌 수 있어서 E0부터 E10까지 하나씩 쌓아 비교했습니다.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법률 질문의 답은 한 조문에 다 있지 않습니다. 과태료를 물으면 법 제43조는 "대통령령으로 정한다"고만 하고, 실제 금액은 시행령 제32조를 거쳐 별표 2에 있습니다. 그래서 법률 조문의 위임 문구를 시행령 조와 별표, 고시로 연결한 그래프를 만들었고 간선은 57개입니다. 검색된 법률 조문에서 이 그래프를 따라가 하위 법령 근거를 컨텍스트에 붙입니다.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 29문항에서 플래그를 하나씩 켜며 쌓은 결과입니다. 파란 막대는 1위 적중률 Hit@1, 주황 막대는 정답 조문이 컨텍스트에 모두 들어왔는지 보는 Full-Recall입니다. 큰 계단이 두 번 있습니다. E4 Rerank에서 Hit@1이 0.48에서 0.76으로, E8 시행령·별표 추가에서 Full-Recall이 0.14에서 0.71로 뛰었습니다. 이후 위임 확장과 보조 원천으로 0.905까지 올렸습니다. 1문항이 0.034라 1~2문항 차이는 노이즈로 봤습니다.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효과가 컸던 기법 세 가지입니다. 첫째 Rerank는 Hit@1을 0.276 올렸습니다. BM25가 후보 안에 끌어온 정답을 CrossEncoder가 상위로 올렸고, 나빠진 문항은 없었습니다. 둘째 시행령과 별표를 색인에 넣은 것만으로 Full-Recall이 0.143에서 0.714로 올랐습니다. 셋째 위임 확장은 +0.095인데, 중요한 건 결과 개수만 8개로 늘린 대조군은 그대로 0.714였다는 점입니다. 즉 청크를 더 넣어서가 아니라 위임 체인을 따라갔기 때문에 좋아졌습니다.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 결과에 저장된 실제 출력입니다. "31조를 요약해 주세요"는 고정 500자 청킹에서 조 경계가 깨져 상위 5개에 정답이 없었는데, 구조 청킹 후 1위가 됐습니다. AI 이미지 표시 질문은 dense 검색이 놓친 법 제31조를 BM25가 '표시', '생성' 같은 용어 일치로 2위까지 끌어왔습니다. 해외 사업자 질문은 법 제36조만 찾던 것을, 위임 그래프로 국내대리인 지정 기준인 시행령 제29조까지 붙였습니다.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효과가 없거나 비용 대비 이득이 없는 기법은 기각했습니다. Multi-Query는 Term 확장과 지표가 같은데 LLM 비용이 약 184 크레딧 들고 지연도 늘어서 기각했습니다. Rerank에 조 전체의 긴 문맥을 넣는 변형은 오히려 점수가 흐려졌고, 우선순위 boost는 보조 원천의 이득을 지워서 기각했습니다. 원칙은 같은 효과라면 비용이 없고 결정적인 쪽을 택하는 것이었습니다.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중간에 부딪힌 문제들입니다. 처음 BM25를 붙였을 때 '인공지능'이 '인공'과 '지능'으로 쪼개져 거의 모든 청크에 매칭됐고, 법령 정의어 51개를 형태소 분석기 사용자 사전에 넣어 해결했습니다. BM25를 추가하자 Hit@1이 오히려 떨어졌는데, 후보 20개 안의 재현율은 올라서 버리지 않고 1단계 후보 생성기로 두었고 순위는 Rerank가 바로잡았습니다. "고영향 인공지능이란?" 같은 정의 질문은 같은 용어가 다른 조 제목에 반복돼 정의 조항이 29위, 49위까지 밀렸고, 정의형 질문을 감지해 정의 조항을 고정하는 규칙을 추가했습니다. 마지막으로 후검증이 올바른 인용까지 지우는 문제가 있어 인용 판정 범위를 조 단위로 넓혔습니다.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튜닝은 dev에서만 하고 test는 마지막에 한 번만 돌렸습니다. test 11문항에서 E10은 Hit@1과 Full-Recall 모두 1.0으로, dev에서 고른 설정이 test에서도 가장 좋았습니다. 답변 평가에서는 정확도 4.24점, 근거 인용률 100%, 거절 정확도 1.0이었습니다. 가장 낮은 지표는 충실도 3.38로, 근거 밖 서술이 일부 섞이는 경우가 있었습니다. test에서 나온 환각 인용 2건은 후검증 단계가 최종 답변에서 제거했습니다.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한계도 분명합니다. CPU rerank와 LLM 때문에 질문당 11~13초가 걸려, 범위 밖 질문은 LLM 호출 전에 거절하는 방안을 검토하고 있습니다. "고지 안 하면 어떤 제재가 있나" 같은 질문은 의무 조문에서 제재 조문으로 거꾸로 가야 하는데 현재는 정방향 참조만 따라가서 실패합니다. 골든셋이 45문항으로 작아 위임 확장 효과가 test에서는 재현되지 않았고, 용어 확장 사전은 수작업이라 사전 품질에 성능이 좌우됩니다.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로봇 발표를 마치겠습니다. 정리하면, 기법의 개수보다 어떤 기법이 왜 효과가 있었는지를 대조 실험으로 보이는 데 집중했습니다.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102212"/>
            <a:ext cx="10566389" cy="467253"/>
          </a:xfrm>
          <a:prstGeom prst="rect">
            <a:avLst/>
          </a:prstGeom>
          <a:noFill/>
          <a:ln/>
        </p:spPr>
        <p:txBody>
          <a:bodyPr wrap="square" lIns="0" tIns="0" rIns="0" bIns="0" rtlCol="0" anchor="t"/>
          <a:lstStyle>
            <a:lvl1pPr marL="0" indent="0" algn="l">
              <a:lnSpc>
                <a:spcPct val="115000"/>
              </a:lnSpc>
              <a:buNone/>
              <a:defRPr lang="en-US" sz="3200" dirty="0">
                <a:solidFill>
                  <a:srgbClr val="0F1B2A"/>
                </a:solidFill>
                <a:latin typeface="IBM Plex Sans KR" pitchFamily="34" charset="0"/>
                <a:ea typeface="IBM Plex Sans KR" pitchFamily="34" charset="-122"/>
                <a:cs typeface="IBM Plex Sans K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74" y="1874265"/>
            <a:ext cx="10566426" cy="4170935"/>
          </a:xfrm>
          <a:prstGeom prst="rect">
            <a:avLst/>
          </a:prstGeom>
          <a:noFill/>
          <a:ln/>
        </p:spPr>
        <p:txBody>
          <a:bodyPr wrap="square" lIns="0" tIns="0" rIns="0" bIns="0" rtlCol="0" anchor="t"/>
          <a:lstStyle>
            <a:lvl1pPr marL="0" indent="0" algn="l">
              <a:lnSpc>
                <a:spcPct val="140000"/>
              </a:lnSpc>
              <a:buNone/>
              <a:defRPr lang="en-US" sz="1600" dirty="0">
                <a:solidFill>
                  <a:srgbClr val="0F1B2A"/>
                </a:solidFill>
                <a:latin typeface="IBM Plex Sans KR" pitchFamily="34" charset="0"/>
                <a:ea typeface="IBM Plex Sans KR" pitchFamily="34" charset="-122"/>
                <a:cs typeface="IBM Plex Sans K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102212"/>
            <a:ext cx="10566389" cy="467253"/>
          </a:xfrm>
          <a:prstGeom prst="rect">
            <a:avLst/>
          </a:prstGeom>
          <a:noFill/>
          <a:ln/>
        </p:spPr>
        <p:txBody>
          <a:bodyPr wrap="square" lIns="0" tIns="0" rIns="0" bIns="0" rtlCol="0" anchor="t"/>
          <a:lstStyle>
            <a:lvl1pPr marL="0" indent="0" algn="l">
              <a:lnSpc>
                <a:spcPct val="115000"/>
              </a:lnSpc>
              <a:buNone/>
              <a:defRPr lang="en-US" sz="3200" dirty="0">
                <a:solidFill>
                  <a:srgbClr val="0F1B2A"/>
                </a:solidFill>
                <a:latin typeface="IBM Plex Sans KR" pitchFamily="34" charset="0"/>
                <a:ea typeface="IBM Plex Sans KR" pitchFamily="34" charset="-122"/>
                <a:cs typeface="IBM Plex Sans K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74" y="1874265"/>
            <a:ext cx="10566426" cy="4170935"/>
          </a:xfrm>
          <a:prstGeom prst="rect">
            <a:avLst/>
          </a:prstGeom>
          <a:noFill/>
          <a:ln/>
        </p:spPr>
        <p:txBody>
          <a:bodyPr wrap="square" lIns="0" tIns="0" rIns="0" bIns="0" rtlCol="0" anchor="t"/>
          <a:lstStyle>
            <a:lvl1pPr marL="0" indent="0" algn="l">
              <a:lnSpc>
                <a:spcPct val="140000"/>
              </a:lnSpc>
              <a:buNone/>
              <a:defRPr lang="en-US" sz="1600" dirty="0">
                <a:solidFill>
                  <a:srgbClr val="0F1B2A"/>
                </a:solidFill>
                <a:latin typeface="IBM Plex Sans KR" pitchFamily="34" charset="0"/>
                <a:ea typeface="IBM Plex Sans KR" pitchFamily="34" charset="-122"/>
                <a:cs typeface="IBM Plex Sans K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A"/>
        </a:solidFill>
        <a:effectLst/>
      </p:bgPr>
    </p:bg>
    <p:spTree>
      <p:nvGrpSpPr>
        <p:cNvPr id="1" name=""/>
        <p:cNvGrpSpPr/>
        <p:nvPr/>
      </p:nvGrpSpPr>
      <p:grpSpPr>
        <a:xfrm>
          <a:off x="0" y="0"/>
          <a:ext cx="0" cy="0"/>
          <a:chOff x="0" y="0"/>
          <a:chExt cx="0" cy="0"/>
        </a:xfrm>
      </p:grpSpPr>
      <p:sp>
        <p:nvSpPr>
          <p:cNvPr id="2" name="Shape 0"/>
          <p:cNvSpPr/>
          <p:nvPr/>
        </p:nvSpPr>
        <p:spPr>
          <a:xfrm>
            <a:off x="0" y="0"/>
            <a:ext cx="152382" cy="6857931"/>
          </a:xfrm>
          <a:prstGeom prst="rect">
            <a:avLst/>
          </a:prstGeom>
          <a:solidFill>
            <a:srgbClr val="38BDF8"/>
          </a:solidFill>
          <a:ln/>
        </p:spPr>
      </p:sp>
      <p:sp>
        <p:nvSpPr>
          <p:cNvPr id="3" name="Text 1"/>
          <p:cNvSpPr/>
          <p:nvPr/>
        </p:nvSpPr>
        <p:spPr>
          <a:xfrm>
            <a:off x="812774" y="2199859"/>
            <a:ext cx="7377799" cy="27429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38BDF8"/>
                </a:solidFill>
                <a:latin typeface="JetBrains Mono" pitchFamily="49" charset="0"/>
                <a:ea typeface="JetBrains Mono" pitchFamily="49" charset="-122"/>
                <a:cs typeface="JetBrains Mono" pitchFamily="49" charset="-120"/>
              </a:rPr>
              <a:t>RAG MINI PROJECT · 2026.10</a:t>
            </a:r>
            <a:endParaRPr lang="en-US" sz="1400" dirty="0"/>
          </a:p>
        </p:txBody>
      </p:sp>
      <p:sp>
        <p:nvSpPr>
          <p:cNvPr id="4" name="Text 2"/>
          <p:cNvSpPr>
            <a:spLocks noGrp="1"/>
          </p:cNvSpPr>
          <p:nvPr>
            <p:ph type="title"/>
          </p:nvPr>
        </p:nvSpPr>
        <p:spPr>
          <a:xfrm>
            <a:off x="812774" y="2651895"/>
            <a:ext cx="7377799" cy="919365"/>
          </a:xfrm>
          <a:prstGeom prst="rect">
            <a:avLst/>
          </a:prstGeom>
          <a:noFill/>
          <a:ln/>
        </p:spPr>
        <p:txBody>
          <a:bodyPr wrap="square" lIns="0" tIns="0" rIns="0" bIns="0" rtlCol="0" anchor="t">
            <a:normAutofit/>
          </a:bodyPr>
          <a:lstStyle/>
          <a:p>
            <a:pPr marL="0" indent="0" algn="l">
              <a:lnSpc>
                <a:spcPts val="7040"/>
              </a:lnSpc>
              <a:buNone/>
            </a:pPr>
            <a:r>
              <a:rPr lang="en-US" sz="6400" b="1" i="0" dirty="0">
                <a:solidFill>
                  <a:srgbClr val="F4F6F9"/>
                </a:solidFill>
                <a:latin typeface="IBM Plex Sans KR" pitchFamily="34" charset="0"/>
                <a:ea typeface="IBM Plex Sans KR" pitchFamily="34" charset="-122"/>
                <a:cs typeface="IBM Plex Sans KR" pitchFamily="34" charset="-120"/>
              </a:rPr>
              <a:t>로봇 </a:t>
            </a:r>
            <a:r>
              <a:rPr lang="en-US" sz="6400" b="1" i="0" dirty="0">
                <a:solidFill>
                  <a:srgbClr val="38BDF8"/>
                </a:solidFill>
                <a:latin typeface="IBM Plex Sans KR" pitchFamily="34" charset="0"/>
                <a:ea typeface="IBM Plex Sans KR" pitchFamily="34" charset="-122"/>
                <a:cs typeface="IBM Plex Sans KR" pitchFamily="34" charset="-120"/>
              </a:rPr>
              <a:t>Law-bot</a:t>
            </a:r>
            <a:endParaRPr lang="en-US" sz="6400" dirty="0"/>
          </a:p>
        </p:txBody>
      </p:sp>
      <p:sp>
        <p:nvSpPr>
          <p:cNvPr id="5" name="Text 3"/>
          <p:cNvSpPr/>
          <p:nvPr/>
        </p:nvSpPr>
        <p:spPr>
          <a:xfrm>
            <a:off x="812774" y="3748999"/>
            <a:ext cx="7377799" cy="402550"/>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C9D6E3"/>
                </a:solidFill>
                <a:latin typeface="IBM Plex Sans KR" pitchFamily="34" charset="0"/>
                <a:ea typeface="IBM Plex Sans KR" pitchFamily="34" charset="-122"/>
                <a:cs typeface="IBM Plex Sans KR" pitchFamily="34" charset="-120"/>
              </a:rPr>
              <a:t>AI 기본법 조문 근거 기반 RAG 질의응답</a:t>
            </a:r>
            <a:endParaRPr lang="en-US" sz="2200" dirty="0"/>
          </a:p>
        </p:txBody>
      </p:sp>
      <p:sp>
        <p:nvSpPr>
          <p:cNvPr id="6" name="Text 4"/>
          <p:cNvSpPr/>
          <p:nvPr/>
        </p:nvSpPr>
        <p:spPr>
          <a:xfrm>
            <a:off x="815949" y="4332463"/>
            <a:ext cx="860768" cy="322325"/>
          </a:xfrm>
          <a:prstGeom prst="roundRect">
            <a:avLst>
              <a:gd name="adj" fmla="val 50000"/>
            </a:avLst>
          </a:prstGeom>
          <a:noFill/>
          <a:ln w="6350">
            <a:solidFill>
              <a:srgbClr val="3A5068"/>
            </a:solidFill>
            <a:prstDash val="solid"/>
          </a:ln>
        </p:spPr>
        <p:txBody>
          <a:bodyPr wrap="none" lIns="0" tIns="0" rIns="0" bIns="0" rtlCol="0" anchor="ctr">
            <a:normAutofit/>
          </a:bodyPr>
          <a:lstStyle/>
          <a:p>
            <a:pPr marL="0" indent="0" algn="ctr">
              <a:lnSpc>
                <a:spcPts val="1680"/>
              </a:lnSpc>
              <a:buNone/>
            </a:pPr>
            <a:r>
              <a:rPr lang="en-US" sz="1200" dirty="0">
                <a:solidFill>
                  <a:srgbClr val="C9D6E3"/>
                </a:solidFill>
                <a:latin typeface="JetBrains Mono" pitchFamily="49" charset="0"/>
                <a:ea typeface="JetBrains Mono" pitchFamily="49" charset="-122"/>
                <a:cs typeface="JetBrains Mono" pitchFamily="49" charset="-120"/>
              </a:rPr>
              <a:t>Qdrant</a:t>
            </a:r>
            <a:endParaRPr lang="en-US" sz="1200" dirty="0"/>
          </a:p>
        </p:txBody>
      </p:sp>
      <p:sp>
        <p:nvSpPr>
          <p:cNvPr id="7" name="Text 5"/>
          <p:cNvSpPr/>
          <p:nvPr/>
        </p:nvSpPr>
        <p:spPr>
          <a:xfrm>
            <a:off x="1784583" y="4332463"/>
            <a:ext cx="1226397" cy="322325"/>
          </a:xfrm>
          <a:prstGeom prst="roundRect">
            <a:avLst>
              <a:gd name="adj" fmla="val 50000"/>
            </a:avLst>
          </a:prstGeom>
          <a:noFill/>
          <a:ln w="6350">
            <a:solidFill>
              <a:srgbClr val="3A5068"/>
            </a:solidFill>
            <a:prstDash val="solid"/>
          </a:ln>
        </p:spPr>
        <p:txBody>
          <a:bodyPr wrap="none" lIns="0" tIns="0" rIns="0" bIns="0" rtlCol="0" anchor="ctr">
            <a:normAutofit/>
          </a:bodyPr>
          <a:lstStyle/>
          <a:p>
            <a:pPr marL="0" indent="0" algn="ctr">
              <a:lnSpc>
                <a:spcPts val="1680"/>
              </a:lnSpc>
              <a:buNone/>
            </a:pPr>
            <a:r>
              <a:rPr lang="en-US" sz="1200" dirty="0">
                <a:solidFill>
                  <a:srgbClr val="C9D6E3"/>
                </a:solidFill>
                <a:latin typeface="JetBrains Mono" pitchFamily="49" charset="0"/>
                <a:ea typeface="JetBrains Mono" pitchFamily="49" charset="-122"/>
                <a:cs typeface="JetBrains Mono" pitchFamily="49" charset="-120"/>
              </a:rPr>
              <a:t>BM25 + RRF</a:t>
            </a:r>
            <a:endParaRPr lang="en-US" sz="1200" dirty="0"/>
          </a:p>
        </p:txBody>
      </p:sp>
      <p:sp>
        <p:nvSpPr>
          <p:cNvPr id="8" name="Text 6"/>
          <p:cNvSpPr/>
          <p:nvPr/>
        </p:nvSpPr>
        <p:spPr>
          <a:xfrm>
            <a:off x="3118845" y="4332463"/>
            <a:ext cx="860768" cy="322325"/>
          </a:xfrm>
          <a:prstGeom prst="roundRect">
            <a:avLst>
              <a:gd name="adj" fmla="val 50000"/>
            </a:avLst>
          </a:prstGeom>
          <a:noFill/>
          <a:ln w="6350">
            <a:solidFill>
              <a:srgbClr val="3A5068"/>
            </a:solidFill>
            <a:prstDash val="solid"/>
          </a:ln>
        </p:spPr>
        <p:txBody>
          <a:bodyPr wrap="none" lIns="0" tIns="0" rIns="0" bIns="0" rtlCol="0" anchor="ctr">
            <a:normAutofit/>
          </a:bodyPr>
          <a:lstStyle/>
          <a:p>
            <a:pPr marL="0" indent="0" algn="ctr">
              <a:lnSpc>
                <a:spcPts val="1680"/>
              </a:lnSpc>
              <a:buNone/>
            </a:pPr>
            <a:r>
              <a:rPr lang="en-US" sz="1200" dirty="0">
                <a:solidFill>
                  <a:srgbClr val="C9D6E3"/>
                </a:solidFill>
                <a:latin typeface="JetBrains Mono" pitchFamily="49" charset="0"/>
                <a:ea typeface="JetBrains Mono" pitchFamily="49" charset="-122"/>
                <a:cs typeface="JetBrains Mono" pitchFamily="49" charset="-120"/>
              </a:rPr>
              <a:t>Rerank</a:t>
            </a:r>
            <a:endParaRPr lang="en-US" sz="1200" dirty="0"/>
          </a:p>
        </p:txBody>
      </p:sp>
      <p:sp>
        <p:nvSpPr>
          <p:cNvPr id="9" name="Text 7"/>
          <p:cNvSpPr/>
          <p:nvPr/>
        </p:nvSpPr>
        <p:spPr>
          <a:xfrm>
            <a:off x="4087479" y="4332463"/>
            <a:ext cx="1774840" cy="322325"/>
          </a:xfrm>
          <a:prstGeom prst="roundRect">
            <a:avLst>
              <a:gd name="adj" fmla="val 50000"/>
            </a:avLst>
          </a:prstGeom>
          <a:noFill/>
          <a:ln w="6350">
            <a:solidFill>
              <a:srgbClr val="3A5068"/>
            </a:solidFill>
            <a:prstDash val="solid"/>
          </a:ln>
        </p:spPr>
        <p:txBody>
          <a:bodyPr wrap="none" lIns="0" tIns="0" rIns="0" bIns="0" rtlCol="0" anchor="ctr">
            <a:normAutofit/>
          </a:bodyPr>
          <a:lstStyle/>
          <a:p>
            <a:pPr marL="0" indent="0" algn="ctr">
              <a:lnSpc>
                <a:spcPts val="1680"/>
              </a:lnSpc>
              <a:buNone/>
            </a:pPr>
            <a:r>
              <a:rPr lang="en-US" sz="1200" dirty="0">
                <a:solidFill>
                  <a:srgbClr val="C9D6E3"/>
                </a:solidFill>
                <a:latin typeface="JetBrains Mono" pitchFamily="49" charset="0"/>
                <a:ea typeface="JetBrains Mono" pitchFamily="49" charset="-122"/>
                <a:cs typeface="JetBrains Mono" pitchFamily="49" charset="-120"/>
              </a:rPr>
              <a:t>Delegation Graph</a:t>
            </a:r>
            <a:endParaRPr lang="en-US" sz="1200" dirty="0"/>
          </a:p>
        </p:txBody>
      </p:sp>
      <p:pic>
        <p:nvPicPr>
          <p:cNvPr id="10" name="Image 0" descr="Law-bot 로고: 저울과 펼친 책"/>
          <p:cNvPicPr>
            <a:picLocks noChangeAspect="1"/>
          </p:cNvPicPr>
          <p:nvPr/>
        </p:nvPicPr>
        <p:blipFill>
          <a:blip r:embed="rId3"/>
          <a:srcRect l="-781" r="-781"/>
          <a:stretch/>
        </p:blipFill>
        <p:spPr>
          <a:xfrm>
            <a:off x="8585212" y="2031935"/>
            <a:ext cx="2793952" cy="27939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4"/>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CONTENTS</a:t>
            </a:r>
            <a:endParaRPr lang="en-US" sz="1200" dirty="0"/>
          </a:p>
        </p:txBody>
      </p:sp>
      <p:sp>
        <p:nvSpPr>
          <p:cNvPr id="3" name="Text 1"/>
          <p:cNvSpPr>
            <a:spLocks noGrp="1"/>
          </p:cNvSpPr>
          <p:nvPr>
            <p:ph type="title"/>
          </p:nvPr>
        </p:nvSpPr>
        <p:spPr>
          <a:xfrm>
            <a:off x="812774" y="1102212"/>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목차</a:t>
            </a:r>
            <a:endParaRPr lang="en-US" sz="3200" dirty="0"/>
          </a:p>
        </p:txBody>
      </p:sp>
      <p:sp>
        <p:nvSpPr>
          <p:cNvPr id="4" name="Shape 2"/>
          <p:cNvSpPr/>
          <p:nvPr/>
        </p:nvSpPr>
        <p:spPr>
          <a:xfrm>
            <a:off x="815949" y="1928161"/>
            <a:ext cx="5175275" cy="1252048"/>
          </a:xfrm>
          <a:prstGeom prst="roundRect">
            <a:avLst>
              <a:gd name="adj" fmla="val 7861"/>
            </a:avLst>
          </a:prstGeom>
          <a:solidFill>
            <a:srgbClr val="FDFDFE"/>
          </a:solidFill>
          <a:ln w="6350">
            <a:solidFill>
              <a:srgbClr val="DCE2EA"/>
            </a:solidFill>
            <a:prstDash val="solid"/>
          </a:ln>
        </p:spPr>
      </p:sp>
      <p:sp>
        <p:nvSpPr>
          <p:cNvPr id="5" name="Text 3"/>
          <p:cNvSpPr/>
          <p:nvPr/>
        </p:nvSpPr>
        <p:spPr>
          <a:xfrm>
            <a:off x="1124493" y="2350936"/>
            <a:ext cx="585223" cy="431787"/>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0B6BCB"/>
                </a:solidFill>
                <a:latin typeface="JetBrains Mono" pitchFamily="49" charset="0"/>
                <a:ea typeface="JetBrains Mono" pitchFamily="49" charset="-122"/>
                <a:cs typeface="JetBrains Mono" pitchFamily="49" charset="-120"/>
              </a:rPr>
              <a:t>01</a:t>
            </a:r>
            <a:endParaRPr lang="en-US" sz="3200" dirty="0"/>
          </a:p>
        </p:txBody>
      </p:sp>
      <p:sp>
        <p:nvSpPr>
          <p:cNvPr id="6" name="Text 4"/>
          <p:cNvSpPr/>
          <p:nvPr/>
        </p:nvSpPr>
        <p:spPr>
          <a:xfrm>
            <a:off x="1866076" y="2236705"/>
            <a:ext cx="1873315"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1B2A"/>
                </a:solidFill>
                <a:latin typeface="IBM Plex Sans KR" pitchFamily="34" charset="0"/>
                <a:ea typeface="IBM Plex Sans KR" pitchFamily="34" charset="-122"/>
                <a:cs typeface="IBM Plex Sans KR" pitchFamily="34" charset="-120"/>
              </a:rPr>
              <a:t>프로젝트 개요</a:t>
            </a:r>
            <a:endParaRPr lang="en-US" sz="2200" dirty="0"/>
          </a:p>
        </p:txBody>
      </p:sp>
      <p:sp>
        <p:nvSpPr>
          <p:cNvPr id="7" name="Text 5"/>
          <p:cNvSpPr/>
          <p:nvPr/>
        </p:nvSpPr>
        <p:spPr>
          <a:xfrm>
            <a:off x="1866076" y="2622767"/>
            <a:ext cx="1611896"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목표 · 접근 방식</a:t>
            </a:r>
            <a:endParaRPr lang="en-US" sz="1400" dirty="0"/>
          </a:p>
        </p:txBody>
      </p:sp>
      <p:sp>
        <p:nvSpPr>
          <p:cNvPr id="8" name="Shape 6"/>
          <p:cNvSpPr/>
          <p:nvPr/>
        </p:nvSpPr>
        <p:spPr>
          <a:xfrm>
            <a:off x="6200713" y="1928161"/>
            <a:ext cx="5175275" cy="1252048"/>
          </a:xfrm>
          <a:prstGeom prst="roundRect">
            <a:avLst>
              <a:gd name="adj" fmla="val 7861"/>
            </a:avLst>
          </a:prstGeom>
          <a:solidFill>
            <a:srgbClr val="FDFDFE"/>
          </a:solidFill>
          <a:ln w="6350">
            <a:solidFill>
              <a:srgbClr val="DCE2EA"/>
            </a:solidFill>
            <a:prstDash val="solid"/>
          </a:ln>
        </p:spPr>
      </p:sp>
      <p:sp>
        <p:nvSpPr>
          <p:cNvPr id="9" name="Text 7"/>
          <p:cNvSpPr/>
          <p:nvPr/>
        </p:nvSpPr>
        <p:spPr>
          <a:xfrm>
            <a:off x="6509258" y="2350936"/>
            <a:ext cx="585223" cy="431787"/>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0B6BCB"/>
                </a:solidFill>
                <a:latin typeface="JetBrains Mono" pitchFamily="49" charset="0"/>
                <a:ea typeface="JetBrains Mono" pitchFamily="49" charset="-122"/>
                <a:cs typeface="JetBrains Mono" pitchFamily="49" charset="-120"/>
              </a:rPr>
              <a:t>02</a:t>
            </a:r>
            <a:endParaRPr lang="en-US" sz="3200" dirty="0"/>
          </a:p>
        </p:txBody>
      </p:sp>
      <p:sp>
        <p:nvSpPr>
          <p:cNvPr id="10" name="Text 8"/>
          <p:cNvSpPr/>
          <p:nvPr/>
        </p:nvSpPr>
        <p:spPr>
          <a:xfrm>
            <a:off x="7250840" y="2236705"/>
            <a:ext cx="2295745"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1B2A"/>
                </a:solidFill>
                <a:latin typeface="IBM Plex Sans KR" pitchFamily="34" charset="0"/>
                <a:ea typeface="IBM Plex Sans KR" pitchFamily="34" charset="-122"/>
                <a:cs typeface="IBM Plex Sans KR" pitchFamily="34" charset="-120"/>
              </a:rPr>
              <a:t>데이터 · 아키텍처</a:t>
            </a:r>
            <a:endParaRPr lang="en-US" sz="2200" dirty="0"/>
          </a:p>
        </p:txBody>
      </p:sp>
      <p:sp>
        <p:nvSpPr>
          <p:cNvPr id="11" name="Text 9"/>
          <p:cNvSpPr/>
          <p:nvPr/>
        </p:nvSpPr>
        <p:spPr>
          <a:xfrm>
            <a:off x="7250840" y="2622767"/>
            <a:ext cx="2674655"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원천 · 파이프라인 · 위임 그래프</a:t>
            </a:r>
            <a:endParaRPr lang="en-US" sz="1400" dirty="0"/>
          </a:p>
        </p:txBody>
      </p:sp>
      <p:sp>
        <p:nvSpPr>
          <p:cNvPr id="12" name="Shape 10"/>
          <p:cNvSpPr/>
          <p:nvPr/>
        </p:nvSpPr>
        <p:spPr>
          <a:xfrm>
            <a:off x="815949" y="3389697"/>
            <a:ext cx="5175275" cy="1252048"/>
          </a:xfrm>
          <a:prstGeom prst="roundRect">
            <a:avLst>
              <a:gd name="adj" fmla="val 7861"/>
            </a:avLst>
          </a:prstGeom>
          <a:solidFill>
            <a:srgbClr val="FDFDFE"/>
          </a:solidFill>
          <a:ln w="6350">
            <a:solidFill>
              <a:srgbClr val="DCE2EA"/>
            </a:solidFill>
            <a:prstDash val="solid"/>
          </a:ln>
        </p:spPr>
      </p:sp>
      <p:sp>
        <p:nvSpPr>
          <p:cNvPr id="13" name="Text 11"/>
          <p:cNvSpPr/>
          <p:nvPr/>
        </p:nvSpPr>
        <p:spPr>
          <a:xfrm>
            <a:off x="1124493" y="3812473"/>
            <a:ext cx="585223" cy="431787"/>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0B6BCB"/>
                </a:solidFill>
                <a:latin typeface="JetBrains Mono" pitchFamily="49" charset="0"/>
                <a:ea typeface="JetBrains Mono" pitchFamily="49" charset="-122"/>
                <a:cs typeface="JetBrains Mono" pitchFamily="49" charset="-120"/>
              </a:rPr>
              <a:t>03</a:t>
            </a:r>
            <a:endParaRPr lang="en-US" sz="3200" dirty="0"/>
          </a:p>
        </p:txBody>
      </p:sp>
      <p:sp>
        <p:nvSpPr>
          <p:cNvPr id="14" name="Text 12"/>
          <p:cNvSpPr/>
          <p:nvPr/>
        </p:nvSpPr>
        <p:spPr>
          <a:xfrm>
            <a:off x="1866076" y="3698242"/>
            <a:ext cx="2330226"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1B2A"/>
                </a:solidFill>
                <a:latin typeface="IBM Plex Sans KR" pitchFamily="34" charset="0"/>
                <a:ea typeface="IBM Plex Sans KR" pitchFamily="34" charset="-122"/>
                <a:cs typeface="IBM Plex Sans KR" pitchFamily="34" charset="-120"/>
              </a:rPr>
              <a:t>실험 결과</a:t>
            </a:r>
            <a:endParaRPr lang="en-US" sz="2200" dirty="0"/>
          </a:p>
        </p:txBody>
      </p:sp>
      <p:sp>
        <p:nvSpPr>
          <p:cNvPr id="15" name="Text 13"/>
          <p:cNvSpPr/>
          <p:nvPr/>
        </p:nvSpPr>
        <p:spPr>
          <a:xfrm>
            <a:off x="1866076" y="4084303"/>
            <a:ext cx="2714826"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Ablation · 시행착오 · 최종 성능</a:t>
            </a:r>
            <a:endParaRPr lang="en-US" sz="1400" dirty="0"/>
          </a:p>
        </p:txBody>
      </p:sp>
      <p:sp>
        <p:nvSpPr>
          <p:cNvPr id="16" name="Shape 14"/>
          <p:cNvSpPr/>
          <p:nvPr/>
        </p:nvSpPr>
        <p:spPr>
          <a:xfrm>
            <a:off x="6200713" y="3389697"/>
            <a:ext cx="5175275" cy="1252048"/>
          </a:xfrm>
          <a:prstGeom prst="roundRect">
            <a:avLst>
              <a:gd name="adj" fmla="val 7861"/>
            </a:avLst>
          </a:prstGeom>
          <a:solidFill>
            <a:srgbClr val="FDFDFE"/>
          </a:solidFill>
          <a:ln w="6350">
            <a:solidFill>
              <a:srgbClr val="DCE2EA"/>
            </a:solidFill>
            <a:prstDash val="solid"/>
          </a:ln>
        </p:spPr>
      </p:sp>
      <p:sp>
        <p:nvSpPr>
          <p:cNvPr id="17" name="Text 15"/>
          <p:cNvSpPr/>
          <p:nvPr/>
        </p:nvSpPr>
        <p:spPr>
          <a:xfrm>
            <a:off x="6509258" y="3812473"/>
            <a:ext cx="585223" cy="431787"/>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0B6BCB"/>
                </a:solidFill>
                <a:latin typeface="JetBrains Mono" pitchFamily="49" charset="0"/>
                <a:ea typeface="JetBrains Mono" pitchFamily="49" charset="-122"/>
                <a:cs typeface="JetBrains Mono" pitchFamily="49" charset="-120"/>
              </a:rPr>
              <a:t>04</a:t>
            </a:r>
            <a:endParaRPr lang="en-US" sz="3200" dirty="0"/>
          </a:p>
        </p:txBody>
      </p:sp>
      <p:sp>
        <p:nvSpPr>
          <p:cNvPr id="18" name="Text 16"/>
          <p:cNvSpPr/>
          <p:nvPr/>
        </p:nvSpPr>
        <p:spPr>
          <a:xfrm>
            <a:off x="7250840" y="3698242"/>
            <a:ext cx="1909408"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1B2A"/>
                </a:solidFill>
                <a:latin typeface="IBM Plex Sans KR" pitchFamily="34" charset="0"/>
                <a:ea typeface="IBM Plex Sans KR" pitchFamily="34" charset="-122"/>
                <a:cs typeface="IBM Plex Sans KR" pitchFamily="34" charset="-120"/>
              </a:rPr>
              <a:t>한계 · 향후 과제</a:t>
            </a:r>
            <a:endParaRPr lang="en-US" sz="2200" dirty="0"/>
          </a:p>
        </p:txBody>
      </p:sp>
      <p:sp>
        <p:nvSpPr>
          <p:cNvPr id="19" name="Text 17"/>
          <p:cNvSpPr/>
          <p:nvPr/>
        </p:nvSpPr>
        <p:spPr>
          <a:xfrm>
            <a:off x="7250840" y="4084303"/>
            <a:ext cx="2224553"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남은 실패 유형 · 개선 방향</a:t>
            </a:r>
            <a:endParaRPr lang="en-US" sz="1400" dirty="0"/>
          </a:p>
        </p:txBody>
      </p:sp>
      <p:sp>
        <p:nvSpPr>
          <p:cNvPr id="20" name="Text 18"/>
          <p:cNvSpPr/>
          <p:nvPr/>
        </p:nvSpPr>
        <p:spPr>
          <a:xfrm>
            <a:off x="812774" y="6238296"/>
            <a:ext cx="588640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Law-bot · AI 기본법 RAG QA</a:t>
            </a:r>
            <a:endParaRPr lang="en-US" sz="1200" dirty="0"/>
          </a:p>
        </p:txBody>
      </p:sp>
      <p:sp>
        <p:nvSpPr>
          <p:cNvPr id="21" name="Text 19"/>
          <p:cNvSpPr/>
          <p:nvPr/>
        </p:nvSpPr>
        <p:spPr>
          <a:xfrm>
            <a:off x="10058445" y="6238296"/>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A"/>
        </a:solidFill>
        <a:effectLst/>
      </p:bgPr>
    </p:bg>
    <p:spTree>
      <p:nvGrpSpPr>
        <p:cNvPr id="1" name=""/>
        <p:cNvGrpSpPr/>
        <p:nvPr/>
      </p:nvGrpSpPr>
      <p:grpSpPr>
        <a:xfrm>
          <a:off x="0" y="0"/>
          <a:ext cx="0" cy="0"/>
          <a:chOff x="0" y="0"/>
          <a:chExt cx="0" cy="0"/>
        </a:xfrm>
      </p:grpSpPr>
      <p:sp>
        <p:nvSpPr>
          <p:cNvPr id="2" name="Shape 0"/>
          <p:cNvSpPr/>
          <p:nvPr/>
        </p:nvSpPr>
        <p:spPr>
          <a:xfrm>
            <a:off x="0" y="0"/>
            <a:ext cx="152382" cy="6857931"/>
          </a:xfrm>
          <a:prstGeom prst="rect">
            <a:avLst/>
          </a:prstGeom>
          <a:solidFill>
            <a:srgbClr val="38BDF8"/>
          </a:solidFill>
          <a:ln/>
        </p:spPr>
      </p:sp>
      <p:sp>
        <p:nvSpPr>
          <p:cNvPr id="3" name="Text 1"/>
          <p:cNvSpPr/>
          <p:nvPr/>
        </p:nvSpPr>
        <p:spPr>
          <a:xfrm>
            <a:off x="812774" y="2029436"/>
            <a:ext cx="10883381" cy="1295427"/>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38BDF8"/>
                </a:solidFill>
                <a:latin typeface="JetBrains Mono" pitchFamily="49" charset="0"/>
                <a:ea typeface="JetBrains Mono" pitchFamily="49" charset="-122"/>
                <a:cs typeface="JetBrains Mono" pitchFamily="49" charset="-120"/>
              </a:rPr>
              <a:t>01</a:t>
            </a:r>
            <a:endParaRPr lang="en-US" sz="10000" dirty="0"/>
          </a:p>
        </p:txBody>
      </p:sp>
      <p:sp>
        <p:nvSpPr>
          <p:cNvPr id="4" name="Text 2"/>
          <p:cNvSpPr>
            <a:spLocks noGrp="1"/>
          </p:cNvSpPr>
          <p:nvPr>
            <p:ph type="title"/>
          </p:nvPr>
        </p:nvSpPr>
        <p:spPr>
          <a:xfrm>
            <a:off x="812774" y="3451844"/>
            <a:ext cx="10883381" cy="726442"/>
          </a:xfrm>
          <a:prstGeom prst="rect">
            <a:avLst/>
          </a:prstGeom>
          <a:noFill/>
          <a:ln/>
        </p:spPr>
        <p:txBody>
          <a:bodyPr wrap="square" lIns="0" tIns="0" rIns="0" bIns="0" rtlCol="0" anchor="t">
            <a:normAutofit/>
          </a:bodyPr>
          <a:lstStyle/>
          <a:p>
            <a:pPr marL="0" indent="0" algn="l">
              <a:lnSpc>
                <a:spcPts val="5520"/>
              </a:lnSpc>
              <a:buNone/>
            </a:pPr>
            <a:r>
              <a:rPr lang="en-US" sz="4800" b="1" i="0" dirty="0">
                <a:solidFill>
                  <a:srgbClr val="F4F6F9"/>
                </a:solidFill>
                <a:latin typeface="IBM Plex Sans KR" pitchFamily="34" charset="0"/>
                <a:ea typeface="IBM Plex Sans KR" pitchFamily="34" charset="-122"/>
                <a:cs typeface="IBM Plex Sans KR" pitchFamily="34" charset="-120"/>
              </a:rPr>
              <a:t>프로젝트 개요</a:t>
            </a:r>
            <a:endParaRPr lang="en-US" sz="4800" dirty="0"/>
          </a:p>
        </p:txBody>
      </p:sp>
      <p:sp>
        <p:nvSpPr>
          <p:cNvPr id="5" name="Text 3"/>
          <p:cNvSpPr/>
          <p:nvPr/>
        </p:nvSpPr>
        <p:spPr>
          <a:xfrm>
            <a:off x="812774" y="4305267"/>
            <a:ext cx="10883381"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E3"/>
                </a:solidFill>
                <a:latin typeface="IBM Plex Sans KR" pitchFamily="34" charset="0"/>
                <a:ea typeface="IBM Plex Sans KR" pitchFamily="34" charset="-122"/>
                <a:cs typeface="IBM Plex Sans KR" pitchFamily="34" charset="-120"/>
              </a:rPr>
              <a:t>목표 · 접근 방식</a:t>
            </a:r>
            <a:endParaRPr lang="en-US" sz="1800" dirty="0"/>
          </a:p>
        </p:txBody>
      </p:sp>
      <p:sp>
        <p:nvSpPr>
          <p:cNvPr id="6" name="Text 4"/>
          <p:cNvSpPr/>
          <p:nvPr/>
        </p:nvSpPr>
        <p:spPr>
          <a:xfrm>
            <a:off x="10058445" y="6238297"/>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4"/>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01 · 프로젝트 개요</a:t>
            </a:r>
            <a:endParaRPr lang="en-US" sz="1200" dirty="0"/>
          </a:p>
        </p:txBody>
      </p:sp>
      <p:sp>
        <p:nvSpPr>
          <p:cNvPr id="3" name="Text 1"/>
          <p:cNvSpPr>
            <a:spLocks noGrp="1"/>
          </p:cNvSpPr>
          <p:nvPr>
            <p:ph type="title"/>
          </p:nvPr>
        </p:nvSpPr>
        <p:spPr>
          <a:xfrm>
            <a:off x="812774" y="1102212"/>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프로젝트 목표</a:t>
            </a:r>
            <a:endParaRPr lang="en-US" sz="3200" dirty="0"/>
          </a:p>
        </p:txBody>
      </p:sp>
      <p:sp>
        <p:nvSpPr>
          <p:cNvPr id="4" name="Shape 2"/>
          <p:cNvSpPr/>
          <p:nvPr/>
        </p:nvSpPr>
        <p:spPr>
          <a:xfrm>
            <a:off x="815949" y="1928161"/>
            <a:ext cx="3380281" cy="2067213"/>
          </a:xfrm>
          <a:prstGeom prst="roundRect">
            <a:avLst>
              <a:gd name="adj" fmla="val 4761"/>
            </a:avLst>
          </a:prstGeom>
          <a:solidFill>
            <a:srgbClr val="FDFDFE"/>
          </a:solidFill>
          <a:ln w="6350">
            <a:solidFill>
              <a:srgbClr val="DCE2EA"/>
            </a:solidFill>
            <a:prstDash val="solid"/>
          </a:ln>
        </p:spPr>
      </p:sp>
      <p:pic>
        <p:nvPicPr>
          <p:cNvPr id="5" name="Image 0" descr="Search"/>
          <p:cNvPicPr>
            <a:picLocks noChangeAspect="1"/>
          </p:cNvPicPr>
          <p:nvPr/>
        </p:nvPicPr>
        <p:blipFill>
          <a:blip r:embed="rId3"/>
          <a:srcRect/>
          <a:stretch/>
        </p:blipFill>
        <p:spPr>
          <a:xfrm>
            <a:off x="1124493" y="2236705"/>
            <a:ext cx="406387" cy="406387"/>
          </a:xfrm>
          <a:prstGeom prst="rect">
            <a:avLst/>
          </a:prstGeom>
        </p:spPr>
      </p:pic>
      <p:sp>
        <p:nvSpPr>
          <p:cNvPr id="6" name="Text 3"/>
          <p:cNvSpPr/>
          <p:nvPr/>
        </p:nvSpPr>
        <p:spPr>
          <a:xfrm>
            <a:off x="1124493" y="2770040"/>
            <a:ext cx="2846089" cy="29962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BM Plex Sans KR" pitchFamily="34" charset="0"/>
                <a:ea typeface="IBM Plex Sans KR" pitchFamily="34" charset="-122"/>
                <a:cs typeface="IBM Plex Sans KR" pitchFamily="34" charset="-120"/>
              </a:rPr>
              <a:t>근거 안에서만 답변</a:t>
            </a:r>
            <a:endParaRPr lang="en-US" sz="1800" dirty="0"/>
          </a:p>
        </p:txBody>
      </p:sp>
      <p:sp>
        <p:nvSpPr>
          <p:cNvPr id="7" name="Text 4"/>
          <p:cNvSpPr/>
          <p:nvPr/>
        </p:nvSpPr>
        <p:spPr>
          <a:xfrm>
            <a:off x="1124493" y="3171211"/>
            <a:ext cx="2846089" cy="541019"/>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8"/>
                </a:solidFill>
                <a:latin typeface="IBM Plex Sans KR" pitchFamily="34" charset="0"/>
                <a:ea typeface="IBM Plex Sans KR" pitchFamily="34" charset="-122"/>
                <a:cs typeface="IBM Plex Sans KR" pitchFamily="34" charset="-120"/>
              </a:rPr>
              <a:t>검색된 조문 밖 질문은</a:t>
            </a:r>
            <a:endParaRPr lang="en-US" sz="1400" dirty="0"/>
          </a:p>
          <a:p>
            <a:pPr marL="0" indent="0" algn="l">
              <a:lnSpc>
                <a:spcPts val="2030"/>
              </a:lnSpc>
              <a:buNone/>
            </a:pPr>
            <a:r>
              <a:rPr lang="en-US" sz="1400" dirty="0">
                <a:solidFill>
                  <a:srgbClr val="4A5568"/>
                </a:solidFill>
                <a:latin typeface="IBM Plex Sans KR" pitchFamily="34" charset="0"/>
                <a:ea typeface="IBM Plex Sans KR" pitchFamily="34" charset="-122"/>
                <a:cs typeface="IBM Plex Sans KR" pitchFamily="34" charset="-120"/>
              </a:rPr>
              <a:t>거절</a:t>
            </a:r>
            <a:endParaRPr lang="en-US" sz="1400" dirty="0"/>
          </a:p>
        </p:txBody>
      </p:sp>
      <p:sp>
        <p:nvSpPr>
          <p:cNvPr id="8" name="Shape 5"/>
          <p:cNvSpPr/>
          <p:nvPr/>
        </p:nvSpPr>
        <p:spPr>
          <a:xfrm>
            <a:off x="4405719" y="1928161"/>
            <a:ext cx="3380390" cy="2067213"/>
          </a:xfrm>
          <a:prstGeom prst="roundRect">
            <a:avLst>
              <a:gd name="adj" fmla="val 4761"/>
            </a:avLst>
          </a:prstGeom>
          <a:solidFill>
            <a:srgbClr val="FDFDFE"/>
          </a:solidFill>
          <a:ln w="6350">
            <a:solidFill>
              <a:srgbClr val="DCE2EA"/>
            </a:solidFill>
            <a:prstDash val="solid"/>
          </a:ln>
        </p:spPr>
      </p:sp>
      <p:pic>
        <p:nvPicPr>
          <p:cNvPr id="9" name="Image 1" descr="Link"/>
          <p:cNvPicPr>
            <a:picLocks noChangeAspect="1"/>
          </p:cNvPicPr>
          <p:nvPr/>
        </p:nvPicPr>
        <p:blipFill>
          <a:blip r:embed="rId4"/>
          <a:srcRect/>
          <a:stretch/>
        </p:blipFill>
        <p:spPr>
          <a:xfrm>
            <a:off x="4714264" y="2236705"/>
            <a:ext cx="406387" cy="406387"/>
          </a:xfrm>
          <a:prstGeom prst="rect">
            <a:avLst/>
          </a:prstGeom>
        </p:spPr>
      </p:pic>
      <p:sp>
        <p:nvSpPr>
          <p:cNvPr id="10" name="Text 6"/>
          <p:cNvSpPr/>
          <p:nvPr/>
        </p:nvSpPr>
        <p:spPr>
          <a:xfrm>
            <a:off x="4714264" y="2770040"/>
            <a:ext cx="2846201" cy="29962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BM Plex Sans KR" pitchFamily="34" charset="0"/>
                <a:ea typeface="IBM Plex Sans KR" pitchFamily="34" charset="-122"/>
                <a:cs typeface="IBM Plex Sans KR" pitchFamily="34" charset="-120"/>
              </a:rPr>
              <a:t>모든 주장에 인용</a:t>
            </a:r>
            <a:endParaRPr lang="en-US" sz="1800" dirty="0"/>
          </a:p>
        </p:txBody>
      </p:sp>
      <p:sp>
        <p:nvSpPr>
          <p:cNvPr id="11" name="Text 7"/>
          <p:cNvSpPr/>
          <p:nvPr/>
        </p:nvSpPr>
        <p:spPr>
          <a:xfrm>
            <a:off x="4714264" y="3171211"/>
            <a:ext cx="2846201" cy="541019"/>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8"/>
                </a:solidFill>
                <a:latin typeface="JetBrains Mono" pitchFamily="49" charset="0"/>
                <a:ea typeface="JetBrains Mono" pitchFamily="49" charset="-122"/>
                <a:cs typeface="JetBrains Mono" pitchFamily="49" charset="-120"/>
              </a:rPr>
              <a:t>[법 제31조 제2항]</a:t>
            </a:r>
            <a:endParaRPr lang="en-US" sz="1400" dirty="0"/>
          </a:p>
          <a:p>
            <a:pPr marL="0" indent="0" algn="l">
              <a:lnSpc>
                <a:spcPts val="2030"/>
              </a:lnSpc>
              <a:buNone/>
            </a:pPr>
            <a:r>
              <a:rPr lang="en-US" sz="1400" dirty="0">
                <a:solidFill>
                  <a:srgbClr val="4A5568"/>
                </a:solidFill>
                <a:latin typeface="JetBrains Mono" pitchFamily="49" charset="0"/>
                <a:ea typeface="JetBrains Mono" pitchFamily="49" charset="-122"/>
                <a:cs typeface="JetBrains Mono" pitchFamily="49" charset="-120"/>
              </a:rPr>
              <a:t>[영 별표 2]</a:t>
            </a:r>
            <a:endParaRPr lang="en-US" sz="1400" dirty="0"/>
          </a:p>
        </p:txBody>
      </p:sp>
      <p:sp>
        <p:nvSpPr>
          <p:cNvPr id="12" name="Shape 8"/>
          <p:cNvSpPr/>
          <p:nvPr/>
        </p:nvSpPr>
        <p:spPr>
          <a:xfrm>
            <a:off x="7995599" y="1928161"/>
            <a:ext cx="3380390" cy="2067213"/>
          </a:xfrm>
          <a:prstGeom prst="roundRect">
            <a:avLst>
              <a:gd name="adj" fmla="val 4761"/>
            </a:avLst>
          </a:prstGeom>
          <a:solidFill>
            <a:srgbClr val="FDFDFE"/>
          </a:solidFill>
          <a:ln w="6350">
            <a:solidFill>
              <a:srgbClr val="DCE2EA"/>
            </a:solidFill>
            <a:prstDash val="solid"/>
          </a:ln>
        </p:spPr>
      </p:sp>
      <p:pic>
        <p:nvPicPr>
          <p:cNvPr id="13" name="Image 2" descr="Chart"/>
          <p:cNvPicPr>
            <a:picLocks noChangeAspect="1"/>
          </p:cNvPicPr>
          <p:nvPr/>
        </p:nvPicPr>
        <p:blipFill>
          <a:blip r:embed="rId5"/>
          <a:srcRect/>
          <a:stretch/>
        </p:blipFill>
        <p:spPr>
          <a:xfrm>
            <a:off x="8304143" y="2236705"/>
            <a:ext cx="406387" cy="406387"/>
          </a:xfrm>
          <a:prstGeom prst="rect">
            <a:avLst/>
          </a:prstGeom>
        </p:spPr>
      </p:pic>
      <p:sp>
        <p:nvSpPr>
          <p:cNvPr id="14" name="Text 9"/>
          <p:cNvSpPr/>
          <p:nvPr/>
        </p:nvSpPr>
        <p:spPr>
          <a:xfrm>
            <a:off x="8304143" y="2770040"/>
            <a:ext cx="2846201" cy="29962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BM Plex Sans KR" pitchFamily="34" charset="0"/>
                <a:ea typeface="IBM Plex Sans KR" pitchFamily="34" charset="-122"/>
                <a:cs typeface="IBM Plex Sans KR" pitchFamily="34" charset="-120"/>
              </a:rPr>
              <a:t>기법 효과를 수치로</a:t>
            </a:r>
            <a:endParaRPr lang="en-US" sz="1800" dirty="0"/>
          </a:p>
        </p:txBody>
      </p:sp>
      <p:sp>
        <p:nvSpPr>
          <p:cNvPr id="15" name="Text 10"/>
          <p:cNvSpPr/>
          <p:nvPr/>
        </p:nvSpPr>
        <p:spPr>
          <a:xfrm>
            <a:off x="8304143" y="3171211"/>
            <a:ext cx="2846201" cy="541019"/>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8"/>
                </a:solidFill>
                <a:latin typeface="IBM Plex Sans KR" pitchFamily="34" charset="0"/>
                <a:ea typeface="IBM Plex Sans KR" pitchFamily="34" charset="-122"/>
                <a:cs typeface="IBM Plex Sans KR" pitchFamily="34" charset="-120"/>
              </a:rPr>
              <a:t>E0 → E10 단계별</a:t>
            </a:r>
            <a:endParaRPr lang="en-US" sz="1400" dirty="0"/>
          </a:p>
          <a:p>
            <a:pPr marL="0" indent="0" algn="l">
              <a:lnSpc>
                <a:spcPts val="2030"/>
              </a:lnSpc>
              <a:buNone/>
            </a:pPr>
            <a:r>
              <a:rPr lang="en-US" sz="1400" dirty="0">
                <a:solidFill>
                  <a:srgbClr val="4A5568"/>
                </a:solidFill>
                <a:latin typeface="IBM Plex Sans KR" pitchFamily="34" charset="0"/>
                <a:ea typeface="IBM Plex Sans KR" pitchFamily="34" charset="-122"/>
                <a:cs typeface="IBM Plex Sans KR" pitchFamily="34" charset="-120"/>
              </a:rPr>
              <a:t>Ablation</a:t>
            </a:r>
            <a:endParaRPr lang="en-US" sz="1400" dirty="0"/>
          </a:p>
        </p:txBody>
      </p:sp>
      <p:sp>
        <p:nvSpPr>
          <p:cNvPr id="16" name="Shape 11"/>
          <p:cNvSpPr/>
          <p:nvPr/>
        </p:nvSpPr>
        <p:spPr>
          <a:xfrm>
            <a:off x="812774" y="4354069"/>
            <a:ext cx="10566389" cy="741692"/>
          </a:xfrm>
          <a:prstGeom prst="roundRect">
            <a:avLst>
              <a:gd name="adj" fmla="val 13698"/>
            </a:avLst>
          </a:prstGeom>
          <a:solidFill>
            <a:srgbClr val="0F1B2A"/>
          </a:solidFill>
          <a:ln/>
        </p:spPr>
      </p:sp>
      <p:sp>
        <p:nvSpPr>
          <p:cNvPr id="17" name="Text 12"/>
          <p:cNvSpPr/>
          <p:nvPr/>
        </p:nvSpPr>
        <p:spPr>
          <a:xfrm>
            <a:off x="1117537" y="4582641"/>
            <a:ext cx="1316655" cy="30994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8BDF8"/>
                </a:solidFill>
                <a:latin typeface="JetBrains Mono" pitchFamily="49" charset="0"/>
                <a:ea typeface="JetBrains Mono" pitchFamily="49" charset="-122"/>
                <a:cs typeface="JetBrains Mono" pitchFamily="49" charset="-120"/>
              </a:rPr>
              <a:t>POST /ask</a:t>
            </a:r>
            <a:endParaRPr lang="en-US" sz="1600" dirty="0"/>
          </a:p>
        </p:txBody>
      </p:sp>
      <p:sp>
        <p:nvSpPr>
          <p:cNvPr id="18" name="Text 13"/>
          <p:cNvSpPr/>
          <p:nvPr/>
        </p:nvSpPr>
        <p:spPr>
          <a:xfrm>
            <a:off x="5185646" y="4600466"/>
            <a:ext cx="5888754" cy="274297"/>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C9D6E3"/>
                </a:solidFill>
                <a:latin typeface="JetBrains Mono" pitchFamily="49" charset="0"/>
                <a:ea typeface="JetBrains Mono" pitchFamily="49" charset="-122"/>
                <a:cs typeface="JetBrains Mono" pitchFamily="49" charset="-120"/>
              </a:rPr>
              <a:t>answer · sources[] · grounded · notice · debug</a:t>
            </a:r>
            <a:endParaRPr lang="en-US" sz="1400" dirty="0"/>
          </a:p>
        </p:txBody>
      </p:sp>
      <p:sp>
        <p:nvSpPr>
          <p:cNvPr id="19" name="Text 14"/>
          <p:cNvSpPr/>
          <p:nvPr/>
        </p:nvSpPr>
        <p:spPr>
          <a:xfrm>
            <a:off x="812774" y="6238298"/>
            <a:ext cx="588640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Law-bot · AI 기본법 RAG QA</a:t>
            </a:r>
            <a:endParaRPr lang="en-US" sz="1200" dirty="0"/>
          </a:p>
        </p:txBody>
      </p:sp>
      <p:sp>
        <p:nvSpPr>
          <p:cNvPr id="20" name="Text 15"/>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A"/>
        </a:solidFill>
        <a:effectLst/>
      </p:bgPr>
    </p:bg>
    <p:spTree>
      <p:nvGrpSpPr>
        <p:cNvPr id="1" name=""/>
        <p:cNvGrpSpPr/>
        <p:nvPr/>
      </p:nvGrpSpPr>
      <p:grpSpPr>
        <a:xfrm>
          <a:off x="0" y="0"/>
          <a:ext cx="0" cy="0"/>
          <a:chOff x="0" y="0"/>
          <a:chExt cx="0" cy="0"/>
        </a:xfrm>
      </p:grpSpPr>
      <p:sp>
        <p:nvSpPr>
          <p:cNvPr id="2" name="Shape 0"/>
          <p:cNvSpPr/>
          <p:nvPr/>
        </p:nvSpPr>
        <p:spPr>
          <a:xfrm>
            <a:off x="0" y="0"/>
            <a:ext cx="152382" cy="6857931"/>
          </a:xfrm>
          <a:prstGeom prst="rect">
            <a:avLst/>
          </a:prstGeom>
          <a:solidFill>
            <a:srgbClr val="38BDF8"/>
          </a:solidFill>
          <a:ln/>
        </p:spPr>
      </p:sp>
      <p:sp>
        <p:nvSpPr>
          <p:cNvPr id="3" name="Text 1"/>
          <p:cNvSpPr/>
          <p:nvPr/>
        </p:nvSpPr>
        <p:spPr>
          <a:xfrm>
            <a:off x="812774" y="2029436"/>
            <a:ext cx="10883381" cy="1295427"/>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38BDF8"/>
                </a:solidFill>
                <a:latin typeface="JetBrains Mono" pitchFamily="49" charset="0"/>
                <a:ea typeface="JetBrains Mono" pitchFamily="49" charset="-122"/>
                <a:cs typeface="JetBrains Mono" pitchFamily="49" charset="-120"/>
              </a:rPr>
              <a:t>02</a:t>
            </a:r>
            <a:endParaRPr lang="en-US" sz="10000" dirty="0"/>
          </a:p>
        </p:txBody>
      </p:sp>
      <p:sp>
        <p:nvSpPr>
          <p:cNvPr id="4" name="Text 2"/>
          <p:cNvSpPr>
            <a:spLocks noGrp="1"/>
          </p:cNvSpPr>
          <p:nvPr>
            <p:ph type="title"/>
          </p:nvPr>
        </p:nvSpPr>
        <p:spPr>
          <a:xfrm>
            <a:off x="812774" y="3451845"/>
            <a:ext cx="10883381" cy="726442"/>
          </a:xfrm>
          <a:prstGeom prst="rect">
            <a:avLst/>
          </a:prstGeom>
          <a:noFill/>
          <a:ln/>
        </p:spPr>
        <p:txBody>
          <a:bodyPr wrap="square" lIns="0" tIns="0" rIns="0" bIns="0" rtlCol="0" anchor="t">
            <a:normAutofit/>
          </a:bodyPr>
          <a:lstStyle/>
          <a:p>
            <a:pPr marL="0" indent="0" algn="l">
              <a:lnSpc>
                <a:spcPts val="5520"/>
              </a:lnSpc>
              <a:buNone/>
            </a:pPr>
            <a:r>
              <a:rPr lang="en-US" sz="4800" b="1" i="0" dirty="0">
                <a:solidFill>
                  <a:srgbClr val="F4F6F9"/>
                </a:solidFill>
                <a:latin typeface="IBM Plex Sans KR" pitchFamily="34" charset="0"/>
                <a:ea typeface="IBM Plex Sans KR" pitchFamily="34" charset="-122"/>
                <a:cs typeface="IBM Plex Sans KR" pitchFamily="34" charset="-120"/>
              </a:rPr>
              <a:t>데이터 · 아키텍처</a:t>
            </a:r>
            <a:endParaRPr lang="en-US" sz="4800" dirty="0"/>
          </a:p>
        </p:txBody>
      </p:sp>
      <p:sp>
        <p:nvSpPr>
          <p:cNvPr id="5" name="Text 3"/>
          <p:cNvSpPr/>
          <p:nvPr/>
        </p:nvSpPr>
        <p:spPr>
          <a:xfrm>
            <a:off x="812774" y="4305266"/>
            <a:ext cx="10883381"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E3"/>
                </a:solidFill>
                <a:latin typeface="IBM Plex Sans KR" pitchFamily="34" charset="0"/>
                <a:ea typeface="IBM Plex Sans KR" pitchFamily="34" charset="-122"/>
                <a:cs typeface="IBM Plex Sans KR" pitchFamily="34" charset="-120"/>
              </a:rPr>
              <a:t>원천 · 파이프라인 · 위임 그래프</a:t>
            </a:r>
            <a:endParaRPr lang="en-US" sz="1800" dirty="0"/>
          </a:p>
        </p:txBody>
      </p:sp>
      <p:sp>
        <p:nvSpPr>
          <p:cNvPr id="6" name="Text 4"/>
          <p:cNvSpPr/>
          <p:nvPr/>
        </p:nvSpPr>
        <p:spPr>
          <a:xfrm>
            <a:off x="10058445" y="6238295"/>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02 · 데이터 · 아키텍처</a:t>
            </a:r>
            <a:endParaRPr lang="en-US" sz="1200" dirty="0"/>
          </a:p>
        </p:txBody>
      </p:sp>
      <p:sp>
        <p:nvSpPr>
          <p:cNvPr id="3" name="Text 1"/>
          <p:cNvSpPr>
            <a:spLocks noGrp="1"/>
          </p:cNvSpPr>
          <p:nvPr>
            <p:ph type="title"/>
          </p:nvPr>
        </p:nvSpPr>
        <p:spPr>
          <a:xfrm>
            <a:off x="812774" y="1102215"/>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데이터 원천과 청크 수</a:t>
            </a:r>
            <a:endParaRPr lang="en-US" sz="3200" dirty="0"/>
          </a:p>
        </p:txBody>
      </p:sp>
      <p:sp>
        <p:nvSpPr>
          <p:cNvPr id="4" name="Text 2"/>
          <p:cNvSpPr/>
          <p:nvPr/>
        </p:nvSpPr>
        <p:spPr>
          <a:xfrm>
            <a:off x="812774" y="1987156"/>
            <a:ext cx="939765"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785"/>
                </a:solidFill>
                <a:latin typeface="JetBrains Mono" pitchFamily="49" charset="0"/>
                <a:ea typeface="JetBrains Mono" pitchFamily="49" charset="-122"/>
                <a:cs typeface="JetBrains Mono" pitchFamily="49" charset="-120"/>
              </a:rPr>
              <a:t>law</a:t>
            </a:r>
            <a:endParaRPr lang="en-US" sz="1300" dirty="0"/>
          </a:p>
        </p:txBody>
      </p:sp>
      <p:sp>
        <p:nvSpPr>
          <p:cNvPr id="5" name="Text 3"/>
          <p:cNvSpPr/>
          <p:nvPr/>
        </p:nvSpPr>
        <p:spPr>
          <a:xfrm>
            <a:off x="1803254" y="1969331"/>
            <a:ext cx="407843"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A"/>
                </a:solidFill>
                <a:latin typeface="IBM Plex Sans KR" pitchFamily="34" charset="0"/>
                <a:ea typeface="IBM Plex Sans KR" pitchFamily="34" charset="-122"/>
                <a:cs typeface="IBM Plex Sans KR" pitchFamily="34" charset="-120"/>
              </a:rPr>
              <a:t>법률</a:t>
            </a:r>
            <a:endParaRPr lang="en-US" sz="1500" dirty="0"/>
          </a:p>
        </p:txBody>
      </p:sp>
      <p:sp>
        <p:nvSpPr>
          <p:cNvPr id="6" name="Shape 4"/>
          <p:cNvSpPr/>
          <p:nvPr/>
        </p:nvSpPr>
        <p:spPr>
          <a:xfrm>
            <a:off x="3505102" y="1924986"/>
            <a:ext cx="6857931" cy="355521"/>
          </a:xfrm>
          <a:prstGeom prst="roundRect">
            <a:avLst>
              <a:gd name="adj" fmla="val 14289"/>
            </a:avLst>
          </a:prstGeom>
          <a:solidFill>
            <a:srgbClr val="0B6BCB"/>
          </a:solidFill>
          <a:ln/>
        </p:spPr>
      </p:sp>
      <p:sp>
        <p:nvSpPr>
          <p:cNvPr id="7" name="Text 5"/>
          <p:cNvSpPr/>
          <p:nvPr/>
        </p:nvSpPr>
        <p:spPr>
          <a:xfrm>
            <a:off x="10693404" y="1960420"/>
            <a:ext cx="685759" cy="309947"/>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0F1B2A"/>
                </a:solidFill>
                <a:latin typeface="JetBrains Mono" pitchFamily="49" charset="0"/>
                <a:ea typeface="JetBrains Mono" pitchFamily="49" charset="-122"/>
                <a:cs typeface="JetBrains Mono" pitchFamily="49" charset="-120"/>
              </a:rPr>
              <a:t>108</a:t>
            </a:r>
            <a:endParaRPr lang="en-US" sz="1600" dirty="0"/>
          </a:p>
        </p:txBody>
      </p:sp>
      <p:sp>
        <p:nvSpPr>
          <p:cNvPr id="8" name="Text 6"/>
          <p:cNvSpPr/>
          <p:nvPr/>
        </p:nvSpPr>
        <p:spPr>
          <a:xfrm>
            <a:off x="812774" y="2495060"/>
            <a:ext cx="939765"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785"/>
                </a:solidFill>
                <a:latin typeface="JetBrains Mono" pitchFamily="49" charset="0"/>
                <a:ea typeface="JetBrains Mono" pitchFamily="49" charset="-122"/>
                <a:cs typeface="JetBrains Mono" pitchFamily="49" charset="-120"/>
              </a:rPr>
              <a:t>decree</a:t>
            </a:r>
            <a:endParaRPr lang="en-US" sz="1300" dirty="0"/>
          </a:p>
        </p:txBody>
      </p:sp>
      <p:sp>
        <p:nvSpPr>
          <p:cNvPr id="9" name="Text 7"/>
          <p:cNvSpPr/>
          <p:nvPr/>
        </p:nvSpPr>
        <p:spPr>
          <a:xfrm>
            <a:off x="1803254" y="2477235"/>
            <a:ext cx="611700"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A"/>
                </a:solidFill>
                <a:latin typeface="IBM Plex Sans KR" pitchFamily="34" charset="0"/>
                <a:ea typeface="IBM Plex Sans KR" pitchFamily="34" charset="-122"/>
                <a:cs typeface="IBM Plex Sans KR" pitchFamily="34" charset="-120"/>
              </a:rPr>
              <a:t>시행령</a:t>
            </a:r>
            <a:endParaRPr lang="en-US" sz="1500" dirty="0"/>
          </a:p>
        </p:txBody>
      </p:sp>
      <p:sp>
        <p:nvSpPr>
          <p:cNvPr id="10" name="Shape 8"/>
          <p:cNvSpPr/>
          <p:nvPr/>
        </p:nvSpPr>
        <p:spPr>
          <a:xfrm>
            <a:off x="3505102" y="2432890"/>
            <a:ext cx="5486388" cy="355521"/>
          </a:xfrm>
          <a:prstGeom prst="roundRect">
            <a:avLst>
              <a:gd name="adj" fmla="val 14289"/>
            </a:avLst>
          </a:prstGeom>
          <a:solidFill>
            <a:srgbClr val="0B6BCB"/>
          </a:solidFill>
          <a:ln/>
        </p:spPr>
      </p:sp>
      <p:sp>
        <p:nvSpPr>
          <p:cNvPr id="11" name="Text 9"/>
          <p:cNvSpPr/>
          <p:nvPr/>
        </p:nvSpPr>
        <p:spPr>
          <a:xfrm>
            <a:off x="10693404" y="2468321"/>
            <a:ext cx="685759" cy="309947"/>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0F1B2A"/>
                </a:solidFill>
                <a:latin typeface="JetBrains Mono" pitchFamily="49" charset="0"/>
                <a:ea typeface="JetBrains Mono" pitchFamily="49" charset="-122"/>
                <a:cs typeface="JetBrains Mono" pitchFamily="49" charset="-120"/>
              </a:rPr>
              <a:t>87</a:t>
            </a:r>
            <a:endParaRPr lang="en-US" sz="1600" dirty="0"/>
          </a:p>
        </p:txBody>
      </p:sp>
      <p:sp>
        <p:nvSpPr>
          <p:cNvPr id="12" name="Text 10"/>
          <p:cNvSpPr/>
          <p:nvPr/>
        </p:nvSpPr>
        <p:spPr>
          <a:xfrm>
            <a:off x="812774" y="3002961"/>
            <a:ext cx="939765"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785"/>
                </a:solidFill>
                <a:latin typeface="JetBrains Mono" pitchFamily="49" charset="0"/>
                <a:ea typeface="JetBrains Mono" pitchFamily="49" charset="-122"/>
                <a:cs typeface="JetBrains Mono" pitchFamily="49" charset="-120"/>
              </a:rPr>
              <a:t>annex</a:t>
            </a:r>
            <a:endParaRPr lang="en-US" sz="1300" dirty="0"/>
          </a:p>
        </p:txBody>
      </p:sp>
      <p:sp>
        <p:nvSpPr>
          <p:cNvPr id="13" name="Text 11"/>
          <p:cNvSpPr/>
          <p:nvPr/>
        </p:nvSpPr>
        <p:spPr>
          <a:xfrm>
            <a:off x="1803254" y="2985136"/>
            <a:ext cx="925636"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A"/>
                </a:solidFill>
                <a:latin typeface="IBM Plex Sans KR" pitchFamily="34" charset="0"/>
                <a:ea typeface="IBM Plex Sans KR" pitchFamily="34" charset="-122"/>
                <a:cs typeface="IBM Plex Sans KR" pitchFamily="34" charset="-120"/>
              </a:rPr>
              <a:t>별표 1 · 2</a:t>
            </a:r>
            <a:endParaRPr lang="en-US" sz="1500" dirty="0"/>
          </a:p>
        </p:txBody>
      </p:sp>
      <p:sp>
        <p:nvSpPr>
          <p:cNvPr id="14" name="Shape 12"/>
          <p:cNvSpPr/>
          <p:nvPr/>
        </p:nvSpPr>
        <p:spPr>
          <a:xfrm>
            <a:off x="3505102" y="2940791"/>
            <a:ext cx="1650981" cy="355521"/>
          </a:xfrm>
          <a:prstGeom prst="roundRect">
            <a:avLst>
              <a:gd name="adj" fmla="val 14289"/>
            </a:avLst>
          </a:prstGeom>
          <a:solidFill>
            <a:srgbClr val="0B6BCB"/>
          </a:solidFill>
          <a:ln/>
        </p:spPr>
      </p:sp>
      <p:sp>
        <p:nvSpPr>
          <p:cNvPr id="15" name="Text 13"/>
          <p:cNvSpPr/>
          <p:nvPr/>
        </p:nvSpPr>
        <p:spPr>
          <a:xfrm>
            <a:off x="10693404" y="2976225"/>
            <a:ext cx="685759" cy="309947"/>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0F1B2A"/>
                </a:solidFill>
                <a:latin typeface="JetBrains Mono" pitchFamily="49" charset="0"/>
                <a:ea typeface="JetBrains Mono" pitchFamily="49" charset="-122"/>
                <a:cs typeface="JetBrains Mono" pitchFamily="49" charset="-120"/>
              </a:rPr>
              <a:t>26</a:t>
            </a:r>
            <a:endParaRPr lang="en-US" sz="1600" dirty="0"/>
          </a:p>
        </p:txBody>
      </p:sp>
      <p:sp>
        <p:nvSpPr>
          <p:cNvPr id="16" name="Text 14"/>
          <p:cNvSpPr/>
          <p:nvPr/>
        </p:nvSpPr>
        <p:spPr>
          <a:xfrm>
            <a:off x="812774" y="3510865"/>
            <a:ext cx="939765"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785"/>
                </a:solidFill>
                <a:latin typeface="JetBrains Mono" pitchFamily="49" charset="0"/>
                <a:ea typeface="JetBrains Mono" pitchFamily="49" charset="-122"/>
                <a:cs typeface="JetBrains Mono" pitchFamily="49" charset="-120"/>
              </a:rPr>
              <a:t>admrul</a:t>
            </a:r>
            <a:endParaRPr lang="en-US" sz="1300" dirty="0"/>
          </a:p>
        </p:txBody>
      </p:sp>
      <p:sp>
        <p:nvSpPr>
          <p:cNvPr id="17" name="Text 15"/>
          <p:cNvSpPr/>
          <p:nvPr/>
        </p:nvSpPr>
        <p:spPr>
          <a:xfrm>
            <a:off x="1803254" y="3493040"/>
            <a:ext cx="1023978"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A"/>
                </a:solidFill>
                <a:latin typeface="IBM Plex Sans KR" pitchFamily="34" charset="0"/>
                <a:ea typeface="IBM Plex Sans KR" pitchFamily="34" charset="-122"/>
                <a:cs typeface="IBM Plex Sans KR" pitchFamily="34" charset="-120"/>
              </a:rPr>
              <a:t>고시 </a:t>
            </a:r>
            <a:r>
              <a:rPr lang="en-US" sz="1500" b="1" dirty="0">
                <a:solidFill>
                  <a:srgbClr val="6B7785"/>
                </a:solidFill>
                <a:latin typeface="IBM Plex Sans KR" pitchFamily="34" charset="0"/>
                <a:ea typeface="IBM Plex Sans KR" pitchFamily="34" charset="-122"/>
                <a:cs typeface="IBM Plex Sans KR" pitchFamily="34" charset="-120"/>
              </a:rPr>
              <a:t>(보조)</a:t>
            </a:r>
            <a:endParaRPr lang="en-US" sz="1500" dirty="0"/>
          </a:p>
        </p:txBody>
      </p:sp>
      <p:sp>
        <p:nvSpPr>
          <p:cNvPr id="18" name="Shape 16"/>
          <p:cNvSpPr/>
          <p:nvPr/>
        </p:nvSpPr>
        <p:spPr>
          <a:xfrm>
            <a:off x="3505102" y="3448695"/>
            <a:ext cx="571485" cy="355521"/>
          </a:xfrm>
          <a:prstGeom prst="roundRect">
            <a:avLst>
              <a:gd name="adj" fmla="val 14289"/>
            </a:avLst>
          </a:prstGeom>
          <a:solidFill>
            <a:srgbClr val="9CC3EA"/>
          </a:solidFill>
          <a:ln/>
        </p:spPr>
      </p:sp>
      <p:sp>
        <p:nvSpPr>
          <p:cNvPr id="19" name="Text 17"/>
          <p:cNvSpPr/>
          <p:nvPr/>
        </p:nvSpPr>
        <p:spPr>
          <a:xfrm>
            <a:off x="10693404" y="3484125"/>
            <a:ext cx="685759" cy="309947"/>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0F1B2A"/>
                </a:solidFill>
                <a:latin typeface="JetBrains Mono" pitchFamily="49" charset="0"/>
                <a:ea typeface="JetBrains Mono" pitchFamily="49" charset="-122"/>
                <a:cs typeface="JetBrains Mono" pitchFamily="49" charset="-120"/>
              </a:rPr>
              <a:t>9</a:t>
            </a:r>
            <a:endParaRPr lang="en-US" sz="1600" dirty="0"/>
          </a:p>
        </p:txBody>
      </p:sp>
      <p:sp>
        <p:nvSpPr>
          <p:cNvPr id="20" name="Text 18"/>
          <p:cNvSpPr/>
          <p:nvPr/>
        </p:nvSpPr>
        <p:spPr>
          <a:xfrm>
            <a:off x="812774" y="4018766"/>
            <a:ext cx="939765"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785"/>
                </a:solidFill>
                <a:latin typeface="JetBrains Mono" pitchFamily="49" charset="0"/>
                <a:ea typeface="JetBrains Mono" pitchFamily="49" charset="-122"/>
                <a:cs typeface="JetBrains Mono" pitchFamily="49" charset="-120"/>
              </a:rPr>
              <a:t>term</a:t>
            </a:r>
            <a:endParaRPr lang="en-US" sz="1300" dirty="0"/>
          </a:p>
        </p:txBody>
      </p:sp>
      <p:sp>
        <p:nvSpPr>
          <p:cNvPr id="21" name="Text 19"/>
          <p:cNvSpPr/>
          <p:nvPr/>
        </p:nvSpPr>
        <p:spPr>
          <a:xfrm>
            <a:off x="1803254" y="4000940"/>
            <a:ext cx="1023978"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A"/>
                </a:solidFill>
                <a:latin typeface="IBM Plex Sans KR" pitchFamily="34" charset="0"/>
                <a:ea typeface="IBM Plex Sans KR" pitchFamily="34" charset="-122"/>
                <a:cs typeface="IBM Plex Sans KR" pitchFamily="34" charset="-120"/>
              </a:rPr>
              <a:t>용어 </a:t>
            </a:r>
            <a:r>
              <a:rPr lang="en-US" sz="1500" b="1" dirty="0">
                <a:solidFill>
                  <a:srgbClr val="6B7785"/>
                </a:solidFill>
                <a:latin typeface="IBM Plex Sans KR" pitchFamily="34" charset="0"/>
                <a:ea typeface="IBM Plex Sans KR" pitchFamily="34" charset="-122"/>
                <a:cs typeface="IBM Plex Sans KR" pitchFamily="34" charset="-120"/>
              </a:rPr>
              <a:t>(보조)</a:t>
            </a:r>
            <a:endParaRPr lang="en-US" sz="1500" dirty="0"/>
          </a:p>
        </p:txBody>
      </p:sp>
      <p:sp>
        <p:nvSpPr>
          <p:cNvPr id="22" name="Shape 20"/>
          <p:cNvSpPr/>
          <p:nvPr/>
        </p:nvSpPr>
        <p:spPr>
          <a:xfrm>
            <a:off x="3505102" y="3956596"/>
            <a:ext cx="380954" cy="355521"/>
          </a:xfrm>
          <a:prstGeom prst="roundRect">
            <a:avLst>
              <a:gd name="adj" fmla="val 14289"/>
            </a:avLst>
          </a:prstGeom>
          <a:solidFill>
            <a:srgbClr val="9CC3EA"/>
          </a:solidFill>
          <a:ln/>
        </p:spPr>
      </p:sp>
      <p:sp>
        <p:nvSpPr>
          <p:cNvPr id="23" name="Text 21"/>
          <p:cNvSpPr/>
          <p:nvPr/>
        </p:nvSpPr>
        <p:spPr>
          <a:xfrm>
            <a:off x="10693404" y="3992029"/>
            <a:ext cx="685759" cy="309947"/>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0F1B2A"/>
                </a:solidFill>
                <a:latin typeface="JetBrains Mono" pitchFamily="49" charset="0"/>
                <a:ea typeface="JetBrains Mono" pitchFamily="49" charset="-122"/>
                <a:cs typeface="JetBrains Mono" pitchFamily="49" charset="-120"/>
              </a:rPr>
              <a:t>6</a:t>
            </a:r>
            <a:endParaRPr lang="en-US" sz="1600" dirty="0"/>
          </a:p>
        </p:txBody>
      </p:sp>
      <p:sp>
        <p:nvSpPr>
          <p:cNvPr id="24" name="Shape 22"/>
          <p:cNvSpPr/>
          <p:nvPr/>
        </p:nvSpPr>
        <p:spPr>
          <a:xfrm>
            <a:off x="815949" y="4670813"/>
            <a:ext cx="3380281" cy="754145"/>
          </a:xfrm>
          <a:prstGeom prst="roundRect">
            <a:avLst>
              <a:gd name="adj" fmla="val 13051"/>
            </a:avLst>
          </a:prstGeom>
          <a:solidFill>
            <a:srgbClr val="FDFDFE"/>
          </a:solidFill>
          <a:ln w="6350">
            <a:solidFill>
              <a:srgbClr val="DCE2EA"/>
            </a:solidFill>
            <a:prstDash val="solid"/>
          </a:ln>
        </p:spPr>
      </p:sp>
      <p:sp>
        <p:nvSpPr>
          <p:cNvPr id="25" name="Text 23"/>
          <p:cNvSpPr/>
          <p:nvPr/>
        </p:nvSpPr>
        <p:spPr>
          <a:xfrm>
            <a:off x="1073627" y="4852299"/>
            <a:ext cx="603483" cy="416571"/>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B6BCB"/>
                </a:solidFill>
                <a:latin typeface="JetBrains Mono" pitchFamily="49" charset="0"/>
                <a:ea typeface="JetBrains Mono" pitchFamily="49" charset="-122"/>
                <a:cs typeface="JetBrains Mono" pitchFamily="49" charset="-120"/>
              </a:rPr>
              <a:t>236</a:t>
            </a:r>
            <a:endParaRPr lang="en-US" sz="2200" dirty="0"/>
          </a:p>
        </p:txBody>
      </p:sp>
      <p:sp>
        <p:nvSpPr>
          <p:cNvPr id="26" name="Text 24"/>
          <p:cNvSpPr/>
          <p:nvPr/>
        </p:nvSpPr>
        <p:spPr>
          <a:xfrm>
            <a:off x="1728911" y="4923383"/>
            <a:ext cx="621352"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총 청크</a:t>
            </a:r>
            <a:endParaRPr lang="en-US" sz="1400" dirty="0"/>
          </a:p>
        </p:txBody>
      </p:sp>
      <p:sp>
        <p:nvSpPr>
          <p:cNvPr id="27" name="Shape 25"/>
          <p:cNvSpPr/>
          <p:nvPr/>
        </p:nvSpPr>
        <p:spPr>
          <a:xfrm>
            <a:off x="4405719" y="4670813"/>
            <a:ext cx="3380390" cy="754145"/>
          </a:xfrm>
          <a:prstGeom prst="roundRect">
            <a:avLst>
              <a:gd name="adj" fmla="val 13051"/>
            </a:avLst>
          </a:prstGeom>
          <a:solidFill>
            <a:srgbClr val="FDFDFE"/>
          </a:solidFill>
          <a:ln w="6350">
            <a:solidFill>
              <a:srgbClr val="DCE2EA"/>
            </a:solidFill>
            <a:prstDash val="solid"/>
          </a:ln>
        </p:spPr>
      </p:sp>
      <p:pic>
        <p:nvPicPr>
          <p:cNvPr id="28" name="Image 0" descr="Globe"/>
          <p:cNvPicPr>
            <a:picLocks noChangeAspect="1"/>
          </p:cNvPicPr>
          <p:nvPr/>
        </p:nvPicPr>
        <p:blipFill>
          <a:blip r:embed="rId3"/>
          <a:srcRect/>
          <a:stretch/>
        </p:blipFill>
        <p:spPr>
          <a:xfrm>
            <a:off x="4663397" y="4895450"/>
            <a:ext cx="304763" cy="304763"/>
          </a:xfrm>
          <a:prstGeom prst="rect">
            <a:avLst/>
          </a:prstGeom>
        </p:spPr>
      </p:pic>
      <p:sp>
        <p:nvSpPr>
          <p:cNvPr id="29" name="Text 26"/>
          <p:cNvSpPr/>
          <p:nvPr/>
        </p:nvSpPr>
        <p:spPr>
          <a:xfrm>
            <a:off x="5120542" y="4923383"/>
            <a:ext cx="1726585"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법령정보 Open API</a:t>
            </a:r>
            <a:endParaRPr lang="en-US" sz="1400" dirty="0"/>
          </a:p>
        </p:txBody>
      </p:sp>
      <p:sp>
        <p:nvSpPr>
          <p:cNvPr id="30" name="Shape 27"/>
          <p:cNvSpPr/>
          <p:nvPr/>
        </p:nvSpPr>
        <p:spPr>
          <a:xfrm>
            <a:off x="7995599" y="4670813"/>
            <a:ext cx="3380390" cy="754145"/>
          </a:xfrm>
          <a:prstGeom prst="roundRect">
            <a:avLst>
              <a:gd name="adj" fmla="val 13051"/>
            </a:avLst>
          </a:prstGeom>
          <a:solidFill>
            <a:srgbClr val="FDFDFE"/>
          </a:solidFill>
          <a:ln w="6350">
            <a:solidFill>
              <a:srgbClr val="DCE2EA"/>
            </a:solidFill>
            <a:prstDash val="solid"/>
          </a:ln>
        </p:spPr>
      </p:sp>
      <p:pic>
        <p:nvPicPr>
          <p:cNvPr id="31" name="Image 1" descr="Database"/>
          <p:cNvPicPr>
            <a:picLocks noChangeAspect="1"/>
          </p:cNvPicPr>
          <p:nvPr/>
        </p:nvPicPr>
        <p:blipFill>
          <a:blip r:embed="rId4"/>
          <a:srcRect/>
          <a:stretch/>
        </p:blipFill>
        <p:spPr>
          <a:xfrm>
            <a:off x="8253276" y="4895450"/>
            <a:ext cx="304763" cy="304763"/>
          </a:xfrm>
          <a:prstGeom prst="rect">
            <a:avLst/>
          </a:prstGeom>
        </p:spPr>
      </p:pic>
      <p:sp>
        <p:nvSpPr>
          <p:cNvPr id="32" name="Text 28"/>
          <p:cNvSpPr/>
          <p:nvPr/>
        </p:nvSpPr>
        <p:spPr>
          <a:xfrm>
            <a:off x="8710421" y="4923383"/>
            <a:ext cx="2126994"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snapshot 2026-10-08</a:t>
            </a:r>
            <a:endParaRPr lang="en-US" sz="1400" dirty="0"/>
          </a:p>
        </p:txBody>
      </p:sp>
      <p:sp>
        <p:nvSpPr>
          <p:cNvPr id="33" name="Text 29"/>
          <p:cNvSpPr/>
          <p:nvPr/>
        </p:nvSpPr>
        <p:spPr>
          <a:xfrm>
            <a:off x="812774" y="6238298"/>
            <a:ext cx="588640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Law-bot · AI 기본법 RAG QA</a:t>
            </a:r>
            <a:endParaRPr lang="en-US" sz="1200" dirty="0"/>
          </a:p>
        </p:txBody>
      </p:sp>
      <p:sp>
        <p:nvSpPr>
          <p:cNvPr id="34" name="Text 30"/>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02 · 데이터 · 아키텍처</a:t>
            </a:r>
            <a:endParaRPr lang="en-US" sz="1200" dirty="0"/>
          </a:p>
        </p:txBody>
      </p:sp>
      <p:sp>
        <p:nvSpPr>
          <p:cNvPr id="3" name="Text 1"/>
          <p:cNvSpPr>
            <a:spLocks noGrp="1"/>
          </p:cNvSpPr>
          <p:nvPr>
            <p:ph type="title"/>
          </p:nvPr>
        </p:nvSpPr>
        <p:spPr>
          <a:xfrm>
            <a:off x="812774" y="1102212"/>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검색 파이프라인</a:t>
            </a:r>
            <a:endParaRPr lang="en-US" sz="3200" dirty="0"/>
          </a:p>
        </p:txBody>
      </p:sp>
      <p:sp>
        <p:nvSpPr>
          <p:cNvPr id="4" name="Text 2"/>
          <p:cNvSpPr/>
          <p:nvPr/>
        </p:nvSpPr>
        <p:spPr>
          <a:xfrm>
            <a:off x="812774" y="1874230"/>
            <a:ext cx="10883381" cy="23864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7785"/>
                </a:solidFill>
                <a:latin typeface="JetBrains Mono" pitchFamily="49" charset="0"/>
                <a:ea typeface="JetBrains Mono" pitchFamily="49" charset="-122"/>
                <a:cs typeface="JetBrains Mono" pitchFamily="49" charset="-120"/>
              </a:rPr>
              <a:t>OFFLINE</a:t>
            </a:r>
            <a:endParaRPr lang="en-US" sz="1200" dirty="0"/>
          </a:p>
        </p:txBody>
      </p:sp>
      <p:sp>
        <p:nvSpPr>
          <p:cNvPr id="5" name="Shape 3"/>
          <p:cNvSpPr/>
          <p:nvPr/>
        </p:nvSpPr>
        <p:spPr>
          <a:xfrm>
            <a:off x="815949" y="2192167"/>
            <a:ext cx="2406648" cy="911526"/>
          </a:xfrm>
          <a:prstGeom prst="roundRect">
            <a:avLst>
              <a:gd name="adj" fmla="val 8011"/>
            </a:avLst>
          </a:prstGeom>
          <a:solidFill>
            <a:srgbClr val="FDFDFE"/>
          </a:solidFill>
          <a:ln w="6350">
            <a:solidFill>
              <a:srgbClr val="DCE2EA"/>
            </a:solidFill>
            <a:prstDash val="solid"/>
          </a:ln>
        </p:spPr>
      </p:sp>
      <p:sp>
        <p:nvSpPr>
          <p:cNvPr id="6" name="Text 4"/>
          <p:cNvSpPr/>
          <p:nvPr/>
        </p:nvSpPr>
        <p:spPr>
          <a:xfrm>
            <a:off x="997436" y="2373654"/>
            <a:ext cx="2104984" cy="30994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B2A"/>
                </a:solidFill>
                <a:latin typeface="IBM Plex Sans KR" pitchFamily="34" charset="0"/>
                <a:ea typeface="IBM Plex Sans KR" pitchFamily="34" charset="-122"/>
                <a:cs typeface="IBM Plex Sans KR" pitchFamily="34" charset="-120"/>
              </a:rPr>
              <a:t>수집</a:t>
            </a:r>
            <a:endParaRPr lang="en-US" sz="1600" dirty="0"/>
          </a:p>
        </p:txBody>
      </p:sp>
      <p:sp>
        <p:nvSpPr>
          <p:cNvPr id="7" name="Text 5"/>
          <p:cNvSpPr/>
          <p:nvPr/>
        </p:nvSpPr>
        <p:spPr>
          <a:xfrm>
            <a:off x="997436" y="2708957"/>
            <a:ext cx="2104984"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Open API 캐시</a:t>
            </a:r>
            <a:endParaRPr lang="en-US" sz="1200" dirty="0"/>
          </a:p>
        </p:txBody>
      </p:sp>
      <p:pic>
        <p:nvPicPr>
          <p:cNvPr id="8" name="Image 0" descr="connector"/>
          <p:cNvPicPr>
            <a:picLocks noChangeAspect="1"/>
          </p:cNvPicPr>
          <p:nvPr/>
        </p:nvPicPr>
        <p:blipFill>
          <a:blip r:embed="rId3"/>
          <a:srcRect l="-36" r="-36"/>
          <a:stretch/>
        </p:blipFill>
        <p:spPr>
          <a:xfrm>
            <a:off x="3225772" y="2597116"/>
            <a:ext cx="304763" cy="101515"/>
          </a:xfrm>
          <a:prstGeom prst="rect">
            <a:avLst/>
          </a:prstGeom>
        </p:spPr>
      </p:pic>
      <p:sp>
        <p:nvSpPr>
          <p:cNvPr id="9" name="Shape 6"/>
          <p:cNvSpPr/>
          <p:nvPr/>
        </p:nvSpPr>
        <p:spPr>
          <a:xfrm>
            <a:off x="3533710" y="2192167"/>
            <a:ext cx="2406757" cy="911526"/>
          </a:xfrm>
          <a:prstGeom prst="roundRect">
            <a:avLst>
              <a:gd name="adj" fmla="val 8011"/>
            </a:avLst>
          </a:prstGeom>
          <a:solidFill>
            <a:srgbClr val="FDFDFE"/>
          </a:solidFill>
          <a:ln w="6350">
            <a:solidFill>
              <a:srgbClr val="DCE2EA"/>
            </a:solidFill>
            <a:prstDash val="solid"/>
          </a:ln>
        </p:spPr>
      </p:sp>
      <p:sp>
        <p:nvSpPr>
          <p:cNvPr id="10" name="Text 7"/>
          <p:cNvSpPr/>
          <p:nvPr/>
        </p:nvSpPr>
        <p:spPr>
          <a:xfrm>
            <a:off x="3715197" y="2373654"/>
            <a:ext cx="2105096" cy="30994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B2A"/>
                </a:solidFill>
                <a:latin typeface="IBM Plex Sans KR" pitchFamily="34" charset="0"/>
                <a:ea typeface="IBM Plex Sans KR" pitchFamily="34" charset="-122"/>
                <a:cs typeface="IBM Plex Sans KR" pitchFamily="34" charset="-120"/>
              </a:rPr>
              <a:t>구조 청킹</a:t>
            </a:r>
            <a:endParaRPr lang="en-US" sz="1600" dirty="0"/>
          </a:p>
        </p:txBody>
      </p:sp>
      <p:sp>
        <p:nvSpPr>
          <p:cNvPr id="11" name="Text 8"/>
          <p:cNvSpPr/>
          <p:nvPr/>
        </p:nvSpPr>
        <p:spPr>
          <a:xfrm>
            <a:off x="3715197" y="2708957"/>
            <a:ext cx="2105096"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조·항·호 · 별표 행</a:t>
            </a:r>
            <a:endParaRPr lang="en-US" sz="1200" dirty="0"/>
          </a:p>
        </p:txBody>
      </p:sp>
      <p:pic>
        <p:nvPicPr>
          <p:cNvPr id="12" name="Image 1" descr="connector"/>
          <p:cNvPicPr>
            <a:picLocks noChangeAspect="1"/>
          </p:cNvPicPr>
          <p:nvPr/>
        </p:nvPicPr>
        <p:blipFill>
          <a:blip r:embed="rId3"/>
          <a:srcRect l="-36" r="-36"/>
          <a:stretch/>
        </p:blipFill>
        <p:spPr>
          <a:xfrm>
            <a:off x="5943641" y="2597116"/>
            <a:ext cx="304763" cy="101515"/>
          </a:xfrm>
          <a:prstGeom prst="rect">
            <a:avLst/>
          </a:prstGeom>
        </p:spPr>
      </p:pic>
      <p:sp>
        <p:nvSpPr>
          <p:cNvPr id="13" name="Shape 9"/>
          <p:cNvSpPr/>
          <p:nvPr/>
        </p:nvSpPr>
        <p:spPr>
          <a:xfrm>
            <a:off x="6251580" y="2192167"/>
            <a:ext cx="2406648" cy="911526"/>
          </a:xfrm>
          <a:prstGeom prst="roundRect">
            <a:avLst>
              <a:gd name="adj" fmla="val 8011"/>
            </a:avLst>
          </a:prstGeom>
          <a:solidFill>
            <a:srgbClr val="FDFDFE"/>
          </a:solidFill>
          <a:ln w="6350">
            <a:solidFill>
              <a:srgbClr val="DCE2EA"/>
            </a:solidFill>
            <a:prstDash val="solid"/>
          </a:ln>
        </p:spPr>
      </p:sp>
      <p:sp>
        <p:nvSpPr>
          <p:cNvPr id="14" name="Text 10"/>
          <p:cNvSpPr/>
          <p:nvPr/>
        </p:nvSpPr>
        <p:spPr>
          <a:xfrm>
            <a:off x="6433067" y="2373654"/>
            <a:ext cx="2104984" cy="30994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B2A"/>
                </a:solidFill>
                <a:latin typeface="IBM Plex Sans KR" pitchFamily="34" charset="0"/>
                <a:ea typeface="IBM Plex Sans KR" pitchFamily="34" charset="-122"/>
                <a:cs typeface="IBM Plex Sans KR" pitchFamily="34" charset="-120"/>
              </a:rPr>
              <a:t>위임 그래프</a:t>
            </a:r>
            <a:endParaRPr lang="en-US" sz="1600" dirty="0"/>
          </a:p>
        </p:txBody>
      </p:sp>
      <p:sp>
        <p:nvSpPr>
          <p:cNvPr id="15" name="Text 11"/>
          <p:cNvSpPr/>
          <p:nvPr/>
        </p:nvSpPr>
        <p:spPr>
          <a:xfrm>
            <a:off x="6433067" y="2708957"/>
            <a:ext cx="2104984"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간선 57개</a:t>
            </a:r>
            <a:endParaRPr lang="en-US" sz="1200" dirty="0"/>
          </a:p>
        </p:txBody>
      </p:sp>
      <p:pic>
        <p:nvPicPr>
          <p:cNvPr id="16" name="Image 2" descr="connector"/>
          <p:cNvPicPr>
            <a:picLocks noChangeAspect="1"/>
          </p:cNvPicPr>
          <p:nvPr/>
        </p:nvPicPr>
        <p:blipFill>
          <a:blip r:embed="rId3"/>
          <a:srcRect l="-36" r="-36"/>
          <a:stretch/>
        </p:blipFill>
        <p:spPr>
          <a:xfrm>
            <a:off x="8661402" y="2597116"/>
            <a:ext cx="304763" cy="101515"/>
          </a:xfrm>
          <a:prstGeom prst="rect">
            <a:avLst/>
          </a:prstGeom>
        </p:spPr>
      </p:pic>
      <p:sp>
        <p:nvSpPr>
          <p:cNvPr id="17" name="Shape 12"/>
          <p:cNvSpPr/>
          <p:nvPr/>
        </p:nvSpPr>
        <p:spPr>
          <a:xfrm>
            <a:off x="8969341" y="2192167"/>
            <a:ext cx="2406648" cy="911526"/>
          </a:xfrm>
          <a:prstGeom prst="roundRect">
            <a:avLst>
              <a:gd name="adj" fmla="val 8011"/>
            </a:avLst>
          </a:prstGeom>
          <a:solidFill>
            <a:srgbClr val="FDFDFE"/>
          </a:solidFill>
          <a:ln w="6350">
            <a:solidFill>
              <a:srgbClr val="DCE2EA"/>
            </a:solidFill>
            <a:prstDash val="solid"/>
          </a:ln>
        </p:spPr>
      </p:sp>
      <p:sp>
        <p:nvSpPr>
          <p:cNvPr id="18" name="Text 13"/>
          <p:cNvSpPr/>
          <p:nvPr/>
        </p:nvSpPr>
        <p:spPr>
          <a:xfrm>
            <a:off x="9150827" y="2373654"/>
            <a:ext cx="2104984" cy="30994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B2A"/>
                </a:solidFill>
                <a:latin typeface="IBM Plex Sans KR" pitchFamily="34" charset="0"/>
                <a:ea typeface="IBM Plex Sans KR" pitchFamily="34" charset="-122"/>
                <a:cs typeface="IBM Plex Sans KR" pitchFamily="34" charset="-120"/>
              </a:rPr>
              <a:t>적재</a:t>
            </a:r>
            <a:endParaRPr lang="en-US" sz="1600" dirty="0"/>
          </a:p>
        </p:txBody>
      </p:sp>
      <p:sp>
        <p:nvSpPr>
          <p:cNvPr id="19" name="Text 14"/>
          <p:cNvSpPr/>
          <p:nvPr/>
        </p:nvSpPr>
        <p:spPr>
          <a:xfrm>
            <a:off x="9150827" y="2708957"/>
            <a:ext cx="2104984"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Qdrant · dense</a:t>
            </a:r>
            <a:endParaRPr lang="en-US" sz="1200" dirty="0"/>
          </a:p>
        </p:txBody>
      </p:sp>
      <p:sp>
        <p:nvSpPr>
          <p:cNvPr id="20" name="Text 15"/>
          <p:cNvSpPr/>
          <p:nvPr/>
        </p:nvSpPr>
        <p:spPr>
          <a:xfrm>
            <a:off x="812774" y="3411631"/>
            <a:ext cx="10883381" cy="23864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7785"/>
                </a:solidFill>
                <a:latin typeface="JetBrains Mono" pitchFamily="49" charset="0"/>
                <a:ea typeface="JetBrains Mono" pitchFamily="49" charset="-122"/>
                <a:cs typeface="JetBrains Mono" pitchFamily="49" charset="-120"/>
              </a:rPr>
              <a:t>ONLINE · POST /ask</a:t>
            </a:r>
            <a:endParaRPr lang="en-US" sz="1200" dirty="0"/>
          </a:p>
        </p:txBody>
      </p:sp>
      <p:sp>
        <p:nvSpPr>
          <p:cNvPr id="21" name="Shape 16"/>
          <p:cNvSpPr/>
          <p:nvPr/>
        </p:nvSpPr>
        <p:spPr>
          <a:xfrm>
            <a:off x="815949" y="3729568"/>
            <a:ext cx="1550072" cy="1106948"/>
          </a:xfrm>
          <a:prstGeom prst="roundRect">
            <a:avLst>
              <a:gd name="adj" fmla="val 6597"/>
            </a:avLst>
          </a:prstGeom>
          <a:solidFill>
            <a:srgbClr val="FDFDFE"/>
          </a:solidFill>
          <a:ln w="6350">
            <a:solidFill>
              <a:srgbClr val="DCE2EA"/>
            </a:solidFill>
            <a:prstDash val="solid"/>
          </a:ln>
        </p:spPr>
      </p:sp>
      <p:sp>
        <p:nvSpPr>
          <p:cNvPr id="22" name="Text 17"/>
          <p:cNvSpPr/>
          <p:nvPr/>
        </p:nvSpPr>
        <p:spPr>
          <a:xfrm>
            <a:off x="946679" y="4017677"/>
            <a:ext cx="1339413"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A"/>
                </a:solidFill>
                <a:latin typeface="IBM Plex Sans KR" pitchFamily="34" charset="0"/>
                <a:ea typeface="IBM Plex Sans KR" pitchFamily="34" charset="-122"/>
                <a:cs typeface="IBM Plex Sans KR" pitchFamily="34" charset="-120"/>
              </a:rPr>
              <a:t>질의 준비</a:t>
            </a:r>
            <a:endParaRPr lang="en-US" sz="1500" dirty="0"/>
          </a:p>
        </p:txBody>
      </p:sp>
      <p:sp>
        <p:nvSpPr>
          <p:cNvPr id="23" name="Text 18"/>
          <p:cNvSpPr/>
          <p:nvPr/>
        </p:nvSpPr>
        <p:spPr>
          <a:xfrm>
            <a:off x="946679" y="4335159"/>
            <a:ext cx="1339413"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Term 확장</a:t>
            </a:r>
            <a:endParaRPr lang="en-US" sz="1200" dirty="0"/>
          </a:p>
        </p:txBody>
      </p:sp>
      <p:pic>
        <p:nvPicPr>
          <p:cNvPr id="24" name="Image 3" descr="connector"/>
          <p:cNvPicPr>
            <a:picLocks noChangeAspect="1"/>
          </p:cNvPicPr>
          <p:nvPr/>
        </p:nvPicPr>
        <p:blipFill>
          <a:blip r:embed="rId4"/>
          <a:srcRect l="-22" r="-22"/>
          <a:stretch/>
        </p:blipFill>
        <p:spPr>
          <a:xfrm>
            <a:off x="2369196" y="4232228"/>
            <a:ext cx="253897" cy="101515"/>
          </a:xfrm>
          <a:prstGeom prst="rect">
            <a:avLst/>
          </a:prstGeom>
        </p:spPr>
      </p:pic>
      <p:sp>
        <p:nvSpPr>
          <p:cNvPr id="25" name="Shape 19"/>
          <p:cNvSpPr/>
          <p:nvPr/>
        </p:nvSpPr>
        <p:spPr>
          <a:xfrm>
            <a:off x="2626268" y="3729568"/>
            <a:ext cx="1550181" cy="1106948"/>
          </a:xfrm>
          <a:prstGeom prst="roundRect">
            <a:avLst>
              <a:gd name="adj" fmla="val 6597"/>
            </a:avLst>
          </a:prstGeom>
          <a:solidFill>
            <a:srgbClr val="FDFDFE"/>
          </a:solidFill>
          <a:ln w="6350">
            <a:solidFill>
              <a:srgbClr val="DCE2EA"/>
            </a:solidFill>
            <a:prstDash val="solid"/>
          </a:ln>
        </p:spPr>
      </p:sp>
      <p:sp>
        <p:nvSpPr>
          <p:cNvPr id="26" name="Text 20"/>
          <p:cNvSpPr/>
          <p:nvPr/>
        </p:nvSpPr>
        <p:spPr>
          <a:xfrm>
            <a:off x="2756998" y="3911054"/>
            <a:ext cx="1339522"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A"/>
                </a:solidFill>
                <a:latin typeface="IBM Plex Sans KR" pitchFamily="34" charset="0"/>
                <a:ea typeface="IBM Plex Sans KR" pitchFamily="34" charset="-122"/>
                <a:cs typeface="IBM Plex Sans KR" pitchFamily="34" charset="-120"/>
              </a:rPr>
              <a:t>후보 검색</a:t>
            </a:r>
            <a:endParaRPr lang="en-US" sz="1500" dirty="0"/>
          </a:p>
        </p:txBody>
      </p:sp>
      <p:sp>
        <p:nvSpPr>
          <p:cNvPr id="27" name="Text 21"/>
          <p:cNvSpPr/>
          <p:nvPr/>
        </p:nvSpPr>
        <p:spPr>
          <a:xfrm>
            <a:off x="2756998" y="4228536"/>
            <a:ext cx="1339522" cy="4518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Dense+BM25</a:t>
            </a:r>
            <a:endParaRPr lang="en-US" sz="1200" dirty="0"/>
          </a:p>
          <a:p>
            <a:pPr marL="0" indent="0" algn="l">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RRF 융합</a:t>
            </a:r>
            <a:endParaRPr lang="en-US" sz="1200" dirty="0"/>
          </a:p>
        </p:txBody>
      </p:sp>
      <p:pic>
        <p:nvPicPr>
          <p:cNvPr id="28" name="Image 4" descr="connector"/>
          <p:cNvPicPr>
            <a:picLocks noChangeAspect="1"/>
          </p:cNvPicPr>
          <p:nvPr/>
        </p:nvPicPr>
        <p:blipFill>
          <a:blip r:embed="rId4"/>
          <a:srcRect l="-22" r="-22"/>
          <a:stretch/>
        </p:blipFill>
        <p:spPr>
          <a:xfrm>
            <a:off x="4179624" y="4232228"/>
            <a:ext cx="253897" cy="101515"/>
          </a:xfrm>
          <a:prstGeom prst="rect">
            <a:avLst/>
          </a:prstGeom>
        </p:spPr>
      </p:pic>
      <p:sp>
        <p:nvSpPr>
          <p:cNvPr id="29" name="Shape 22"/>
          <p:cNvSpPr/>
          <p:nvPr/>
        </p:nvSpPr>
        <p:spPr>
          <a:xfrm>
            <a:off x="4433521" y="3726393"/>
            <a:ext cx="1542510" cy="1113298"/>
          </a:xfrm>
          <a:prstGeom prst="roundRect">
            <a:avLst>
              <a:gd name="adj" fmla="val 6845"/>
            </a:avLst>
          </a:prstGeom>
          <a:solidFill>
            <a:srgbClr val="0B6BCB"/>
          </a:solidFill>
          <a:ln/>
        </p:spPr>
      </p:sp>
      <p:sp>
        <p:nvSpPr>
          <p:cNvPr id="30" name="Text 23"/>
          <p:cNvSpPr/>
          <p:nvPr/>
        </p:nvSpPr>
        <p:spPr>
          <a:xfrm>
            <a:off x="4560469" y="4017677"/>
            <a:ext cx="1339413"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DFDFE"/>
                </a:solidFill>
                <a:latin typeface="IBM Plex Sans KR" pitchFamily="34" charset="0"/>
                <a:ea typeface="IBM Plex Sans KR" pitchFamily="34" charset="-122"/>
                <a:cs typeface="IBM Plex Sans KR" pitchFamily="34" charset="-120"/>
              </a:rPr>
              <a:t>Rerank</a:t>
            </a:r>
            <a:endParaRPr lang="en-US" sz="1500" dirty="0"/>
          </a:p>
        </p:txBody>
      </p:sp>
      <p:sp>
        <p:nvSpPr>
          <p:cNvPr id="31" name="Text 24"/>
          <p:cNvSpPr/>
          <p:nvPr/>
        </p:nvSpPr>
        <p:spPr>
          <a:xfrm>
            <a:off x="4560469" y="4335159"/>
            <a:ext cx="1339413"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BFA"/>
                </a:solidFill>
                <a:latin typeface="IBM Plex Sans KR" pitchFamily="34" charset="0"/>
                <a:ea typeface="IBM Plex Sans KR" pitchFamily="34" charset="-122"/>
                <a:cs typeface="IBM Plex Sans KR" pitchFamily="34" charset="-120"/>
              </a:rPr>
              <a:t>CrossEncoder</a:t>
            </a:r>
            <a:endParaRPr lang="en-US" sz="1200" dirty="0"/>
          </a:p>
        </p:txBody>
      </p:sp>
      <p:pic>
        <p:nvPicPr>
          <p:cNvPr id="32" name="Image 5" descr="connector"/>
          <p:cNvPicPr>
            <a:picLocks noChangeAspect="1"/>
          </p:cNvPicPr>
          <p:nvPr/>
        </p:nvPicPr>
        <p:blipFill>
          <a:blip r:embed="rId4"/>
          <a:srcRect l="-22" r="-22"/>
          <a:stretch/>
        </p:blipFill>
        <p:spPr>
          <a:xfrm>
            <a:off x="5976031" y="4232228"/>
            <a:ext cx="253897" cy="101515"/>
          </a:xfrm>
          <a:prstGeom prst="rect">
            <a:avLst/>
          </a:prstGeom>
        </p:spPr>
      </p:pic>
      <p:sp>
        <p:nvSpPr>
          <p:cNvPr id="33" name="Shape 25"/>
          <p:cNvSpPr/>
          <p:nvPr/>
        </p:nvSpPr>
        <p:spPr>
          <a:xfrm>
            <a:off x="6229927" y="3726393"/>
            <a:ext cx="1542510" cy="1113298"/>
          </a:xfrm>
          <a:prstGeom prst="roundRect">
            <a:avLst>
              <a:gd name="adj" fmla="val 6845"/>
            </a:avLst>
          </a:prstGeom>
          <a:solidFill>
            <a:srgbClr val="0B6BCB"/>
          </a:solidFill>
          <a:ln/>
        </p:spPr>
      </p:sp>
      <p:sp>
        <p:nvSpPr>
          <p:cNvPr id="34" name="Text 26"/>
          <p:cNvSpPr/>
          <p:nvPr/>
        </p:nvSpPr>
        <p:spPr>
          <a:xfrm>
            <a:off x="6356876" y="4017677"/>
            <a:ext cx="1339413"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DFDFE"/>
                </a:solidFill>
                <a:latin typeface="IBM Plex Sans KR" pitchFamily="34" charset="0"/>
                <a:ea typeface="IBM Plex Sans KR" pitchFamily="34" charset="-122"/>
                <a:cs typeface="IBM Plex Sans KR" pitchFamily="34" charset="-120"/>
              </a:rPr>
              <a:t>근거 확장</a:t>
            </a:r>
            <a:endParaRPr lang="en-US" sz="1500" dirty="0"/>
          </a:p>
        </p:txBody>
      </p:sp>
      <p:sp>
        <p:nvSpPr>
          <p:cNvPr id="35" name="Text 27"/>
          <p:cNvSpPr/>
          <p:nvPr/>
        </p:nvSpPr>
        <p:spPr>
          <a:xfrm>
            <a:off x="6356876" y="4335159"/>
            <a:ext cx="1339413"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BFA"/>
                </a:solidFill>
                <a:latin typeface="IBM Plex Sans KR" pitchFamily="34" charset="0"/>
                <a:ea typeface="IBM Plex Sans KR" pitchFamily="34" charset="-122"/>
                <a:cs typeface="IBM Plex Sans KR" pitchFamily="34" charset="-120"/>
              </a:rPr>
              <a:t>Router · 위임</a:t>
            </a:r>
            <a:endParaRPr lang="en-US" sz="1200" dirty="0"/>
          </a:p>
        </p:txBody>
      </p:sp>
      <p:pic>
        <p:nvPicPr>
          <p:cNvPr id="36" name="Image 6" descr="connector"/>
          <p:cNvPicPr>
            <a:picLocks noChangeAspect="1"/>
          </p:cNvPicPr>
          <p:nvPr/>
        </p:nvPicPr>
        <p:blipFill>
          <a:blip r:embed="rId4"/>
          <a:srcRect l="-22" r="-22"/>
          <a:stretch/>
        </p:blipFill>
        <p:spPr>
          <a:xfrm>
            <a:off x="7772437" y="4232228"/>
            <a:ext cx="253897" cy="101515"/>
          </a:xfrm>
          <a:prstGeom prst="rect">
            <a:avLst/>
          </a:prstGeom>
        </p:spPr>
      </p:pic>
      <p:sp>
        <p:nvSpPr>
          <p:cNvPr id="37" name="Shape 28"/>
          <p:cNvSpPr/>
          <p:nvPr/>
        </p:nvSpPr>
        <p:spPr>
          <a:xfrm>
            <a:off x="8029509" y="3729568"/>
            <a:ext cx="1550072" cy="1106948"/>
          </a:xfrm>
          <a:prstGeom prst="roundRect">
            <a:avLst>
              <a:gd name="adj" fmla="val 6597"/>
            </a:avLst>
          </a:prstGeom>
          <a:solidFill>
            <a:srgbClr val="FDFDFE"/>
          </a:solidFill>
          <a:ln w="6350">
            <a:solidFill>
              <a:srgbClr val="DCE2EA"/>
            </a:solidFill>
            <a:prstDash val="solid"/>
          </a:ln>
        </p:spPr>
      </p:sp>
      <p:sp>
        <p:nvSpPr>
          <p:cNvPr id="38" name="Text 29"/>
          <p:cNvSpPr/>
          <p:nvPr/>
        </p:nvSpPr>
        <p:spPr>
          <a:xfrm>
            <a:off x="8160239" y="4017677"/>
            <a:ext cx="1339413"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A"/>
                </a:solidFill>
                <a:latin typeface="IBM Plex Sans KR" pitchFamily="34" charset="0"/>
                <a:ea typeface="IBM Plex Sans KR" pitchFamily="34" charset="-122"/>
                <a:cs typeface="IBM Plex Sans KR" pitchFamily="34" charset="-120"/>
              </a:rPr>
              <a:t>답변 생성</a:t>
            </a:r>
            <a:endParaRPr lang="en-US" sz="1500" dirty="0"/>
          </a:p>
        </p:txBody>
      </p:sp>
      <p:sp>
        <p:nvSpPr>
          <p:cNvPr id="39" name="Text 30"/>
          <p:cNvSpPr/>
          <p:nvPr/>
        </p:nvSpPr>
        <p:spPr>
          <a:xfrm>
            <a:off x="8160239" y="4335159"/>
            <a:ext cx="1339413"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LLM · 6k 토큰</a:t>
            </a:r>
            <a:endParaRPr lang="en-US" sz="1200" dirty="0"/>
          </a:p>
        </p:txBody>
      </p:sp>
      <p:pic>
        <p:nvPicPr>
          <p:cNvPr id="40" name="Image 7" descr="connector"/>
          <p:cNvPicPr>
            <a:picLocks noChangeAspect="1"/>
          </p:cNvPicPr>
          <p:nvPr/>
        </p:nvPicPr>
        <p:blipFill>
          <a:blip r:embed="rId4"/>
          <a:srcRect l="-22" r="-22"/>
          <a:stretch/>
        </p:blipFill>
        <p:spPr>
          <a:xfrm>
            <a:off x="9582756" y="4232228"/>
            <a:ext cx="253897" cy="101515"/>
          </a:xfrm>
          <a:prstGeom prst="rect">
            <a:avLst/>
          </a:prstGeom>
        </p:spPr>
      </p:pic>
      <p:sp>
        <p:nvSpPr>
          <p:cNvPr id="41" name="Shape 31"/>
          <p:cNvSpPr/>
          <p:nvPr/>
        </p:nvSpPr>
        <p:spPr>
          <a:xfrm>
            <a:off x="9836653" y="3726393"/>
            <a:ext cx="1542510" cy="1113298"/>
          </a:xfrm>
          <a:prstGeom prst="roundRect">
            <a:avLst>
              <a:gd name="adj" fmla="val 6845"/>
            </a:avLst>
          </a:prstGeom>
          <a:solidFill>
            <a:srgbClr val="0F1B2A"/>
          </a:solidFill>
          <a:ln/>
        </p:spPr>
      </p:sp>
      <p:sp>
        <p:nvSpPr>
          <p:cNvPr id="42" name="Text 32"/>
          <p:cNvSpPr/>
          <p:nvPr/>
        </p:nvSpPr>
        <p:spPr>
          <a:xfrm>
            <a:off x="9963602" y="4017677"/>
            <a:ext cx="1339413" cy="29212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4F6F9"/>
                </a:solidFill>
                <a:latin typeface="IBM Plex Sans KR" pitchFamily="34" charset="0"/>
                <a:ea typeface="IBM Plex Sans KR" pitchFamily="34" charset="-122"/>
                <a:cs typeface="IBM Plex Sans KR" pitchFamily="34" charset="-120"/>
              </a:rPr>
              <a:t>후검증</a:t>
            </a:r>
            <a:endParaRPr lang="en-US" sz="1500" dirty="0"/>
          </a:p>
        </p:txBody>
      </p:sp>
      <p:sp>
        <p:nvSpPr>
          <p:cNvPr id="43" name="Text 33"/>
          <p:cNvSpPr/>
          <p:nvPr/>
        </p:nvSpPr>
        <p:spPr>
          <a:xfrm>
            <a:off x="9963602" y="4335159"/>
            <a:ext cx="1339413"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E3"/>
                </a:solidFill>
                <a:latin typeface="IBM Plex Sans KR" pitchFamily="34" charset="0"/>
                <a:ea typeface="IBM Plex Sans KR" pitchFamily="34" charset="-122"/>
                <a:cs typeface="IBM Plex Sans KR" pitchFamily="34" charset="-120"/>
              </a:rPr>
              <a:t>인용 · 숫자</a:t>
            </a:r>
            <a:endParaRPr lang="en-US" sz="1200" dirty="0"/>
          </a:p>
        </p:txBody>
      </p:sp>
      <p:pic>
        <p:nvPicPr>
          <p:cNvPr id="44" name="Image 8" descr="Settings"/>
          <p:cNvPicPr>
            <a:picLocks noChangeAspect="1"/>
          </p:cNvPicPr>
          <p:nvPr/>
        </p:nvPicPr>
        <p:blipFill>
          <a:blip r:embed="rId5"/>
          <a:srcRect/>
          <a:stretch/>
        </p:blipFill>
        <p:spPr>
          <a:xfrm>
            <a:off x="812774" y="5144455"/>
            <a:ext cx="253897" cy="253897"/>
          </a:xfrm>
          <a:prstGeom prst="rect">
            <a:avLst/>
          </a:prstGeom>
        </p:spPr>
      </p:pic>
      <p:sp>
        <p:nvSpPr>
          <p:cNvPr id="45" name="Text 34"/>
          <p:cNvSpPr/>
          <p:nvPr/>
        </p:nvSpPr>
        <p:spPr>
          <a:xfrm>
            <a:off x="1168186" y="5146954"/>
            <a:ext cx="5796412"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모든 기법은 </a:t>
            </a:r>
            <a:r>
              <a:rPr lang="en-US" sz="1400" dirty="0">
                <a:solidFill>
                  <a:srgbClr val="0B6BCB"/>
                </a:solidFill>
                <a:latin typeface="IBM Plex Sans KR" pitchFamily="34" charset="0"/>
                <a:ea typeface="IBM Plex Sans KR" pitchFamily="34" charset="-122"/>
                <a:cs typeface="IBM Plex Sans KR" pitchFamily="34" charset="-120"/>
              </a:rPr>
              <a:t>RetrievalConfig</a:t>
            </a:r>
            <a:r>
              <a:rPr lang="en-US" sz="1400" dirty="0">
                <a:solidFill>
                  <a:srgbClr val="4A5568"/>
                </a:solidFill>
                <a:latin typeface="IBM Plex Sans KR" pitchFamily="34" charset="0"/>
                <a:ea typeface="IBM Plex Sans KR" pitchFamily="34" charset="-122"/>
                <a:cs typeface="IBM Plex Sans KR" pitchFamily="34" charset="-120"/>
              </a:rPr>
              <a:t> 플래그로 ON/OFF → 프리셋 E0~E10</a:t>
            </a:r>
            <a:endParaRPr lang="en-US" sz="1400" dirty="0"/>
          </a:p>
        </p:txBody>
      </p:sp>
      <p:sp>
        <p:nvSpPr>
          <p:cNvPr id="46" name="Text 35"/>
          <p:cNvSpPr/>
          <p:nvPr/>
        </p:nvSpPr>
        <p:spPr>
          <a:xfrm>
            <a:off x="812774" y="6238298"/>
            <a:ext cx="588640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Law-bot · AI 기본법 RAG QA</a:t>
            </a:r>
            <a:endParaRPr lang="en-US" sz="1200" dirty="0"/>
          </a:p>
        </p:txBody>
      </p:sp>
      <p:sp>
        <p:nvSpPr>
          <p:cNvPr id="47" name="Text 36"/>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02 · 데이터 · 아키텍처</a:t>
            </a:r>
            <a:endParaRPr lang="en-US" sz="1200" dirty="0"/>
          </a:p>
        </p:txBody>
      </p:sp>
      <p:sp>
        <p:nvSpPr>
          <p:cNvPr id="3" name="Text 1"/>
          <p:cNvSpPr>
            <a:spLocks noGrp="1"/>
          </p:cNvSpPr>
          <p:nvPr>
            <p:ph type="title"/>
          </p:nvPr>
        </p:nvSpPr>
        <p:spPr>
          <a:xfrm>
            <a:off x="812774" y="1102212"/>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위임 그래프</a:t>
            </a:r>
            <a:endParaRPr lang="en-US" sz="3200" dirty="0"/>
          </a:p>
        </p:txBody>
      </p:sp>
      <p:sp>
        <p:nvSpPr>
          <p:cNvPr id="4" name="Shape 2"/>
          <p:cNvSpPr/>
          <p:nvPr/>
        </p:nvSpPr>
        <p:spPr>
          <a:xfrm>
            <a:off x="815948" y="1877402"/>
            <a:ext cx="5105881" cy="528181"/>
          </a:xfrm>
          <a:prstGeom prst="roundRect">
            <a:avLst>
              <a:gd name="adj" fmla="val 50000"/>
            </a:avLst>
          </a:prstGeom>
          <a:solidFill>
            <a:srgbClr val="FDFDFE"/>
          </a:solidFill>
          <a:ln w="6350">
            <a:solidFill>
              <a:srgbClr val="DCE2EA"/>
            </a:solidFill>
            <a:prstDash val="solid"/>
          </a:ln>
        </p:spPr>
      </p:sp>
      <p:sp>
        <p:nvSpPr>
          <p:cNvPr id="5" name="Text 3"/>
          <p:cNvSpPr/>
          <p:nvPr/>
        </p:nvSpPr>
        <p:spPr>
          <a:xfrm>
            <a:off x="1073627" y="2017046"/>
            <a:ext cx="157532"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CB"/>
                </a:solidFill>
                <a:latin typeface="JetBrains Mono" pitchFamily="49" charset="0"/>
                <a:ea typeface="JetBrains Mono" pitchFamily="49" charset="-122"/>
                <a:cs typeface="JetBrains Mono" pitchFamily="49" charset="-120"/>
              </a:rPr>
              <a:t>Q</a:t>
            </a:r>
            <a:endParaRPr lang="en-US" sz="1400" dirty="0"/>
          </a:p>
        </p:txBody>
      </p:sp>
      <p:sp>
        <p:nvSpPr>
          <p:cNvPr id="6" name="Text 4"/>
          <p:cNvSpPr/>
          <p:nvPr/>
        </p:nvSpPr>
        <p:spPr>
          <a:xfrm>
            <a:off x="1307308" y="2008132"/>
            <a:ext cx="4523577" cy="29212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국내대리인을 지정하지 않으면 과태료가 얼마인가요?</a:t>
            </a:r>
            <a:endParaRPr lang="en-US" sz="1500" dirty="0"/>
          </a:p>
        </p:txBody>
      </p:sp>
      <p:sp>
        <p:nvSpPr>
          <p:cNvPr id="7" name="Shape 5"/>
          <p:cNvSpPr/>
          <p:nvPr/>
        </p:nvSpPr>
        <p:spPr>
          <a:xfrm>
            <a:off x="812774" y="2713521"/>
            <a:ext cx="3111105" cy="1441104"/>
          </a:xfrm>
          <a:prstGeom prst="roundRect">
            <a:avLst>
              <a:gd name="adj" fmla="val 7050"/>
            </a:avLst>
          </a:prstGeom>
          <a:solidFill>
            <a:srgbClr val="0F1B2A"/>
          </a:solidFill>
          <a:ln/>
        </p:spPr>
      </p:sp>
      <p:sp>
        <p:nvSpPr>
          <p:cNvPr id="8" name="Text 6"/>
          <p:cNvSpPr/>
          <p:nvPr/>
        </p:nvSpPr>
        <p:spPr>
          <a:xfrm>
            <a:off x="1066671" y="2942093"/>
            <a:ext cx="268141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38BDF8"/>
                </a:solidFill>
                <a:latin typeface="JetBrains Mono" pitchFamily="49" charset="0"/>
                <a:ea typeface="JetBrains Mono" pitchFamily="49" charset="-122"/>
                <a:cs typeface="JetBrains Mono" pitchFamily="49" charset="-120"/>
              </a:rPr>
              <a:t>법률</a:t>
            </a:r>
            <a:endParaRPr lang="en-US" sz="1200" dirty="0"/>
          </a:p>
        </p:txBody>
      </p:sp>
      <p:sp>
        <p:nvSpPr>
          <p:cNvPr id="9" name="Text 7"/>
          <p:cNvSpPr/>
          <p:nvPr/>
        </p:nvSpPr>
        <p:spPr>
          <a:xfrm>
            <a:off x="1066671" y="3231533"/>
            <a:ext cx="2681411" cy="38092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4F6F9"/>
                </a:solidFill>
                <a:latin typeface="IBM Plex Sans KR" pitchFamily="34" charset="0"/>
                <a:ea typeface="IBM Plex Sans KR" pitchFamily="34" charset="-122"/>
                <a:cs typeface="IBM Plex Sans KR" pitchFamily="34" charset="-120"/>
              </a:rPr>
              <a:t>법 제43조</a:t>
            </a:r>
            <a:endParaRPr lang="en-US" sz="2000" dirty="0"/>
          </a:p>
        </p:txBody>
      </p:sp>
      <p:sp>
        <p:nvSpPr>
          <p:cNvPr id="10" name="Text 8"/>
          <p:cNvSpPr/>
          <p:nvPr/>
        </p:nvSpPr>
        <p:spPr>
          <a:xfrm>
            <a:off x="1066671" y="3663243"/>
            <a:ext cx="2681411"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6E3"/>
                </a:solidFill>
                <a:latin typeface="IBM Plex Sans KR" pitchFamily="34" charset="0"/>
                <a:ea typeface="IBM Plex Sans KR" pitchFamily="34" charset="-122"/>
                <a:cs typeface="IBM Plex Sans KR" pitchFamily="34" charset="-120"/>
              </a:rPr>
              <a:t>과태료</a:t>
            </a:r>
            <a:endParaRPr lang="en-US" sz="1400" dirty="0"/>
          </a:p>
        </p:txBody>
      </p:sp>
      <p:pic>
        <p:nvPicPr>
          <p:cNvPr id="11" name="Image 0" descr="connector"/>
          <p:cNvPicPr>
            <a:picLocks noChangeAspect="1"/>
          </p:cNvPicPr>
          <p:nvPr/>
        </p:nvPicPr>
        <p:blipFill>
          <a:blip r:embed="rId3"/>
          <a:srcRect l="-15" r="-15"/>
          <a:stretch/>
        </p:blipFill>
        <p:spPr>
          <a:xfrm>
            <a:off x="3923879" y="3370545"/>
            <a:ext cx="609526" cy="126948"/>
          </a:xfrm>
          <a:prstGeom prst="rect">
            <a:avLst/>
          </a:prstGeom>
        </p:spPr>
      </p:pic>
      <p:sp>
        <p:nvSpPr>
          <p:cNvPr id="12" name="Shape 9"/>
          <p:cNvSpPr/>
          <p:nvPr/>
        </p:nvSpPr>
        <p:spPr>
          <a:xfrm>
            <a:off x="4533405" y="2713521"/>
            <a:ext cx="3111214" cy="1441104"/>
          </a:xfrm>
          <a:prstGeom prst="roundRect">
            <a:avLst>
              <a:gd name="adj" fmla="val 7050"/>
            </a:avLst>
          </a:prstGeom>
          <a:solidFill>
            <a:srgbClr val="0B6BCB"/>
          </a:solidFill>
          <a:ln/>
        </p:spPr>
      </p:sp>
      <p:sp>
        <p:nvSpPr>
          <p:cNvPr id="13" name="Text 10"/>
          <p:cNvSpPr/>
          <p:nvPr/>
        </p:nvSpPr>
        <p:spPr>
          <a:xfrm>
            <a:off x="4787302" y="2942093"/>
            <a:ext cx="2681523"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DCEBFA"/>
                </a:solidFill>
                <a:latin typeface="JetBrains Mono" pitchFamily="49" charset="0"/>
                <a:ea typeface="JetBrains Mono" pitchFamily="49" charset="-122"/>
                <a:cs typeface="JetBrains Mono" pitchFamily="49" charset="-120"/>
              </a:rPr>
              <a:t>시행령</a:t>
            </a:r>
            <a:endParaRPr lang="en-US" sz="1200" dirty="0"/>
          </a:p>
        </p:txBody>
      </p:sp>
      <p:sp>
        <p:nvSpPr>
          <p:cNvPr id="14" name="Text 11"/>
          <p:cNvSpPr/>
          <p:nvPr/>
        </p:nvSpPr>
        <p:spPr>
          <a:xfrm>
            <a:off x="4787302" y="3231533"/>
            <a:ext cx="2681523" cy="38092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DFDFE"/>
                </a:solidFill>
                <a:latin typeface="IBM Plex Sans KR" pitchFamily="34" charset="0"/>
                <a:ea typeface="IBM Plex Sans KR" pitchFamily="34" charset="-122"/>
                <a:cs typeface="IBM Plex Sans KR" pitchFamily="34" charset="-120"/>
              </a:rPr>
              <a:t>영 제32조</a:t>
            </a:r>
            <a:endParaRPr lang="en-US" sz="2000" dirty="0"/>
          </a:p>
        </p:txBody>
      </p:sp>
      <p:sp>
        <p:nvSpPr>
          <p:cNvPr id="15" name="Text 12"/>
          <p:cNvSpPr/>
          <p:nvPr/>
        </p:nvSpPr>
        <p:spPr>
          <a:xfrm>
            <a:off x="4787302" y="3663243"/>
            <a:ext cx="2681523"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BFA"/>
                </a:solidFill>
                <a:latin typeface="IBM Plex Sans KR" pitchFamily="34" charset="0"/>
                <a:ea typeface="IBM Plex Sans KR" pitchFamily="34" charset="-122"/>
                <a:cs typeface="IBM Plex Sans KR" pitchFamily="34" charset="-120"/>
              </a:rPr>
              <a:t>과태료의 부과기준</a:t>
            </a:r>
            <a:endParaRPr lang="en-US" sz="1400" dirty="0"/>
          </a:p>
        </p:txBody>
      </p:sp>
      <p:pic>
        <p:nvPicPr>
          <p:cNvPr id="16" name="Image 1" descr="connector"/>
          <p:cNvPicPr>
            <a:picLocks noChangeAspect="1"/>
          </p:cNvPicPr>
          <p:nvPr/>
        </p:nvPicPr>
        <p:blipFill>
          <a:blip r:embed="rId3"/>
          <a:srcRect l="-15" r="-15"/>
          <a:stretch/>
        </p:blipFill>
        <p:spPr>
          <a:xfrm>
            <a:off x="7644619" y="3370545"/>
            <a:ext cx="609526" cy="126948"/>
          </a:xfrm>
          <a:prstGeom prst="rect">
            <a:avLst/>
          </a:prstGeom>
        </p:spPr>
      </p:pic>
      <p:sp>
        <p:nvSpPr>
          <p:cNvPr id="17" name="Shape 13"/>
          <p:cNvSpPr/>
          <p:nvPr/>
        </p:nvSpPr>
        <p:spPr>
          <a:xfrm>
            <a:off x="8260496" y="2719871"/>
            <a:ext cx="3112317" cy="1428404"/>
          </a:xfrm>
          <a:prstGeom prst="roundRect">
            <a:avLst>
              <a:gd name="adj" fmla="val 6668"/>
            </a:avLst>
          </a:prstGeom>
          <a:solidFill>
            <a:srgbClr val="DCEBFA"/>
          </a:solidFill>
          <a:ln w="12700">
            <a:solidFill>
              <a:srgbClr val="0B6BCB"/>
            </a:solidFill>
            <a:prstDash val="solid"/>
          </a:ln>
        </p:spPr>
      </p:sp>
      <p:sp>
        <p:nvSpPr>
          <p:cNvPr id="18" name="Text 14"/>
          <p:cNvSpPr/>
          <p:nvPr/>
        </p:nvSpPr>
        <p:spPr>
          <a:xfrm>
            <a:off x="8514999" y="2949051"/>
            <a:ext cx="268141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별표</a:t>
            </a:r>
            <a:endParaRPr lang="en-US" sz="1200" dirty="0"/>
          </a:p>
        </p:txBody>
      </p:sp>
      <p:sp>
        <p:nvSpPr>
          <p:cNvPr id="19" name="Text 15"/>
          <p:cNvSpPr/>
          <p:nvPr/>
        </p:nvSpPr>
        <p:spPr>
          <a:xfrm>
            <a:off x="8514999" y="3238488"/>
            <a:ext cx="2681411" cy="38092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1B2A"/>
                </a:solidFill>
                <a:latin typeface="IBM Plex Sans KR" pitchFamily="34" charset="0"/>
                <a:ea typeface="IBM Plex Sans KR" pitchFamily="34" charset="-122"/>
                <a:cs typeface="IBM Plex Sans KR" pitchFamily="34" charset="-120"/>
              </a:rPr>
              <a:t>영 별표 2</a:t>
            </a:r>
            <a:endParaRPr lang="en-US" sz="2000" dirty="0"/>
          </a:p>
        </p:txBody>
      </p:sp>
      <p:sp>
        <p:nvSpPr>
          <p:cNvPr id="20" name="Text 16"/>
          <p:cNvSpPr/>
          <p:nvPr/>
        </p:nvSpPr>
        <p:spPr>
          <a:xfrm>
            <a:off x="8514999" y="3670201"/>
            <a:ext cx="2681411"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금액표</a:t>
            </a:r>
            <a:endParaRPr lang="en-US" sz="1400" dirty="0"/>
          </a:p>
        </p:txBody>
      </p:sp>
      <p:sp>
        <p:nvSpPr>
          <p:cNvPr id="21" name="Shape 17"/>
          <p:cNvSpPr/>
          <p:nvPr/>
        </p:nvSpPr>
        <p:spPr>
          <a:xfrm>
            <a:off x="812774" y="4472087"/>
            <a:ext cx="3386631" cy="0"/>
          </a:xfrm>
          <a:prstGeom prst="line">
            <a:avLst/>
          </a:prstGeom>
          <a:noFill/>
          <a:ln w="25400">
            <a:solidFill>
              <a:srgbClr val="0B6BCB"/>
            </a:solidFill>
            <a:prstDash val="solid"/>
          </a:ln>
        </p:spPr>
      </p:sp>
      <p:sp>
        <p:nvSpPr>
          <p:cNvPr id="22" name="Text 18"/>
          <p:cNvSpPr/>
          <p:nvPr/>
        </p:nvSpPr>
        <p:spPr>
          <a:xfrm>
            <a:off x="812774" y="4632635"/>
            <a:ext cx="3488230" cy="416571"/>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B6BCB"/>
                </a:solidFill>
                <a:latin typeface="JetBrains Mono" pitchFamily="49" charset="0"/>
                <a:ea typeface="JetBrains Mono" pitchFamily="49" charset="-122"/>
                <a:cs typeface="JetBrains Mono" pitchFamily="49" charset="-120"/>
              </a:rPr>
              <a:t>57</a:t>
            </a:r>
            <a:endParaRPr lang="en-US" sz="2800" dirty="0"/>
          </a:p>
        </p:txBody>
      </p:sp>
      <p:sp>
        <p:nvSpPr>
          <p:cNvPr id="23" name="Text 19"/>
          <p:cNvSpPr/>
          <p:nvPr/>
        </p:nvSpPr>
        <p:spPr>
          <a:xfrm>
            <a:off x="812774" y="5074568"/>
            <a:ext cx="3488230"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위임 간선</a:t>
            </a:r>
            <a:endParaRPr lang="en-US" sz="1400" dirty="0"/>
          </a:p>
        </p:txBody>
      </p:sp>
      <p:sp>
        <p:nvSpPr>
          <p:cNvPr id="24" name="Shape 20"/>
          <p:cNvSpPr/>
          <p:nvPr/>
        </p:nvSpPr>
        <p:spPr>
          <a:xfrm>
            <a:off x="4402544" y="4472087"/>
            <a:ext cx="3386740" cy="0"/>
          </a:xfrm>
          <a:prstGeom prst="line">
            <a:avLst/>
          </a:prstGeom>
          <a:noFill/>
          <a:ln w="25400">
            <a:solidFill>
              <a:srgbClr val="0B6BCB"/>
            </a:solidFill>
            <a:prstDash val="solid"/>
          </a:ln>
        </p:spPr>
      </p:sp>
      <p:sp>
        <p:nvSpPr>
          <p:cNvPr id="25" name="Text 21"/>
          <p:cNvSpPr/>
          <p:nvPr/>
        </p:nvSpPr>
        <p:spPr>
          <a:xfrm>
            <a:off x="4402544" y="4632635"/>
            <a:ext cx="3488342" cy="413962"/>
          </a:xfrm>
          <a:prstGeom prst="rect">
            <a:avLst/>
          </a:prstGeom>
          <a:noFill/>
          <a:ln/>
        </p:spPr>
        <p:txBody>
          <a:bodyPr wrap="square" lIns="0" tIns="0" rIns="0" bIns="0" rtlCol="0" anchor="t">
            <a:normAutofit/>
          </a:bodyPr>
          <a:lstStyle/>
          <a:p>
            <a:pPr marL="0" indent="0" algn="l">
              <a:lnSpc>
                <a:spcPts val="3060"/>
              </a:lnSpc>
              <a:buNone/>
            </a:pPr>
            <a:r>
              <a:rPr lang="en-US" sz="1800" b="1" dirty="0">
                <a:solidFill>
                  <a:srgbClr val="0F1B2A"/>
                </a:solidFill>
                <a:latin typeface="IBM Plex Sans KR" pitchFamily="34" charset="0"/>
                <a:ea typeface="IBM Plex Sans KR" pitchFamily="34" charset="-122"/>
                <a:cs typeface="IBM Plex Sans KR" pitchFamily="34" charset="-120"/>
              </a:rPr>
              <a:t>법 → 영 → 별표·고시</a:t>
            </a:r>
            <a:endParaRPr lang="en-US" sz="1800" dirty="0"/>
          </a:p>
        </p:txBody>
      </p:sp>
      <p:sp>
        <p:nvSpPr>
          <p:cNvPr id="26" name="Text 22"/>
          <p:cNvSpPr/>
          <p:nvPr/>
        </p:nvSpPr>
        <p:spPr>
          <a:xfrm>
            <a:off x="4402544" y="5071957"/>
            <a:ext cx="3488342"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따라가는 방향</a:t>
            </a:r>
            <a:endParaRPr lang="en-US" sz="1400" dirty="0"/>
          </a:p>
        </p:txBody>
      </p:sp>
      <p:sp>
        <p:nvSpPr>
          <p:cNvPr id="27" name="Shape 23"/>
          <p:cNvSpPr/>
          <p:nvPr/>
        </p:nvSpPr>
        <p:spPr>
          <a:xfrm>
            <a:off x="7992424" y="4472087"/>
            <a:ext cx="3386740" cy="0"/>
          </a:xfrm>
          <a:prstGeom prst="line">
            <a:avLst/>
          </a:prstGeom>
          <a:noFill/>
          <a:ln w="25400">
            <a:solidFill>
              <a:srgbClr val="0B6BCB"/>
            </a:solidFill>
            <a:prstDash val="solid"/>
          </a:ln>
        </p:spPr>
      </p:sp>
      <p:sp>
        <p:nvSpPr>
          <p:cNvPr id="28" name="Text 24"/>
          <p:cNvSpPr/>
          <p:nvPr/>
        </p:nvSpPr>
        <p:spPr>
          <a:xfrm>
            <a:off x="7992424" y="4632635"/>
            <a:ext cx="3488342" cy="413962"/>
          </a:xfrm>
          <a:prstGeom prst="rect">
            <a:avLst/>
          </a:prstGeom>
          <a:noFill/>
          <a:ln/>
        </p:spPr>
        <p:txBody>
          <a:bodyPr wrap="square" lIns="0" tIns="0" rIns="0" bIns="0" rtlCol="0" anchor="t">
            <a:normAutofit/>
          </a:bodyPr>
          <a:lstStyle/>
          <a:p>
            <a:pPr marL="0" indent="0" algn="l">
              <a:lnSpc>
                <a:spcPts val="3060"/>
              </a:lnSpc>
              <a:buNone/>
            </a:pPr>
            <a:r>
              <a:rPr lang="en-US" sz="1800" b="1" dirty="0">
                <a:solidFill>
                  <a:srgbClr val="0F1B2A"/>
                </a:solidFill>
                <a:latin typeface="IBM Plex Sans KR" pitchFamily="34" charset="0"/>
                <a:ea typeface="IBM Plex Sans KR" pitchFamily="34" charset="-122"/>
                <a:cs typeface="IBM Plex Sans KR" pitchFamily="34" charset="-120"/>
              </a:rPr>
              <a:t>“대통령령으로”</a:t>
            </a:r>
            <a:endParaRPr lang="en-US" sz="1800" dirty="0"/>
          </a:p>
        </p:txBody>
      </p:sp>
      <p:sp>
        <p:nvSpPr>
          <p:cNvPr id="29" name="Text 25"/>
          <p:cNvSpPr/>
          <p:nvPr/>
        </p:nvSpPr>
        <p:spPr>
          <a:xfrm>
            <a:off x="7992424" y="5071957"/>
            <a:ext cx="3488342"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간선 추출 단서</a:t>
            </a:r>
            <a:endParaRPr lang="en-US" sz="1400" dirty="0"/>
          </a:p>
        </p:txBody>
      </p:sp>
      <p:sp>
        <p:nvSpPr>
          <p:cNvPr id="30" name="Text 26"/>
          <p:cNvSpPr/>
          <p:nvPr/>
        </p:nvSpPr>
        <p:spPr>
          <a:xfrm>
            <a:off x="812774" y="6238298"/>
            <a:ext cx="588640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Law-bot · AI 기본법 RAG QA</a:t>
            </a:r>
            <a:endParaRPr lang="en-US" sz="1200" dirty="0"/>
          </a:p>
        </p:txBody>
      </p:sp>
      <p:sp>
        <p:nvSpPr>
          <p:cNvPr id="31" name="Text 27"/>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A"/>
        </a:solidFill>
        <a:effectLst/>
      </p:bgPr>
    </p:bg>
    <p:spTree>
      <p:nvGrpSpPr>
        <p:cNvPr id="1" name=""/>
        <p:cNvGrpSpPr/>
        <p:nvPr/>
      </p:nvGrpSpPr>
      <p:grpSpPr>
        <a:xfrm>
          <a:off x="0" y="0"/>
          <a:ext cx="0" cy="0"/>
          <a:chOff x="0" y="0"/>
          <a:chExt cx="0" cy="0"/>
        </a:xfrm>
      </p:grpSpPr>
      <p:sp>
        <p:nvSpPr>
          <p:cNvPr id="2" name="Shape 0"/>
          <p:cNvSpPr/>
          <p:nvPr/>
        </p:nvSpPr>
        <p:spPr>
          <a:xfrm>
            <a:off x="0" y="0"/>
            <a:ext cx="152382" cy="6857931"/>
          </a:xfrm>
          <a:prstGeom prst="rect">
            <a:avLst/>
          </a:prstGeom>
          <a:solidFill>
            <a:srgbClr val="38BDF8"/>
          </a:solidFill>
          <a:ln/>
        </p:spPr>
      </p:sp>
      <p:sp>
        <p:nvSpPr>
          <p:cNvPr id="3" name="Text 1"/>
          <p:cNvSpPr/>
          <p:nvPr/>
        </p:nvSpPr>
        <p:spPr>
          <a:xfrm>
            <a:off x="812774" y="2029433"/>
            <a:ext cx="10883381" cy="1295427"/>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38BDF8"/>
                </a:solidFill>
                <a:latin typeface="JetBrains Mono" pitchFamily="49" charset="0"/>
                <a:ea typeface="JetBrains Mono" pitchFamily="49" charset="-122"/>
                <a:cs typeface="JetBrains Mono" pitchFamily="49" charset="-120"/>
              </a:rPr>
              <a:t>03</a:t>
            </a:r>
            <a:endParaRPr lang="en-US" sz="10000" dirty="0"/>
          </a:p>
        </p:txBody>
      </p:sp>
      <p:sp>
        <p:nvSpPr>
          <p:cNvPr id="4" name="Text 2"/>
          <p:cNvSpPr>
            <a:spLocks noGrp="1"/>
          </p:cNvSpPr>
          <p:nvPr>
            <p:ph type="title"/>
          </p:nvPr>
        </p:nvSpPr>
        <p:spPr>
          <a:xfrm>
            <a:off x="812774" y="3451845"/>
            <a:ext cx="10883381" cy="726442"/>
          </a:xfrm>
          <a:prstGeom prst="rect">
            <a:avLst/>
          </a:prstGeom>
          <a:noFill/>
          <a:ln/>
        </p:spPr>
        <p:txBody>
          <a:bodyPr wrap="square" lIns="0" tIns="0" rIns="0" bIns="0" rtlCol="0" anchor="t">
            <a:normAutofit/>
          </a:bodyPr>
          <a:lstStyle/>
          <a:p>
            <a:pPr marL="0" indent="0" algn="l">
              <a:lnSpc>
                <a:spcPts val="5520"/>
              </a:lnSpc>
              <a:buNone/>
            </a:pPr>
            <a:r>
              <a:rPr lang="en-US" sz="4800" b="1" i="0" dirty="0">
                <a:solidFill>
                  <a:srgbClr val="F4F6F9"/>
                </a:solidFill>
                <a:latin typeface="IBM Plex Sans KR" pitchFamily="34" charset="0"/>
                <a:ea typeface="IBM Plex Sans KR" pitchFamily="34" charset="-122"/>
                <a:cs typeface="IBM Plex Sans KR" pitchFamily="34" charset="-120"/>
              </a:rPr>
              <a:t>실험 결과</a:t>
            </a:r>
            <a:endParaRPr lang="en-US" sz="4800" dirty="0"/>
          </a:p>
        </p:txBody>
      </p:sp>
      <p:sp>
        <p:nvSpPr>
          <p:cNvPr id="5" name="Text 3"/>
          <p:cNvSpPr/>
          <p:nvPr/>
        </p:nvSpPr>
        <p:spPr>
          <a:xfrm>
            <a:off x="812774" y="4305269"/>
            <a:ext cx="10883381"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E3"/>
                </a:solidFill>
                <a:latin typeface="IBM Plex Sans KR" pitchFamily="34" charset="0"/>
                <a:ea typeface="IBM Plex Sans KR" pitchFamily="34" charset="-122"/>
                <a:cs typeface="IBM Plex Sans KR" pitchFamily="34" charset="-120"/>
              </a:rPr>
              <a:t>Ablation · 데모 · 시행착오 · 최종 성능</a:t>
            </a:r>
            <a:endParaRPr lang="en-US" sz="1800" dirty="0"/>
          </a:p>
        </p:txBody>
      </p:sp>
      <p:sp>
        <p:nvSpPr>
          <p:cNvPr id="6" name="Text 4"/>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69"/>
            <a:ext cx="3603874"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03 · 실험 결과 · dev 29문항</a:t>
            </a:r>
            <a:endParaRPr lang="en-US" sz="1200" dirty="0"/>
          </a:p>
        </p:txBody>
      </p:sp>
      <p:sp>
        <p:nvSpPr>
          <p:cNvPr id="3" name="Text 1"/>
          <p:cNvSpPr>
            <a:spLocks noGrp="1"/>
          </p:cNvSpPr>
          <p:nvPr>
            <p:ph type="title"/>
          </p:nvPr>
        </p:nvSpPr>
        <p:spPr>
          <a:xfrm>
            <a:off x="812774" y="1102209"/>
            <a:ext cx="4198688"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Ablation E0 → E10</a:t>
            </a:r>
            <a:endParaRPr lang="en-US" sz="3200" dirty="0"/>
          </a:p>
        </p:txBody>
      </p:sp>
      <p:sp>
        <p:nvSpPr>
          <p:cNvPr id="4" name="Shape 2"/>
          <p:cNvSpPr/>
          <p:nvPr/>
        </p:nvSpPr>
        <p:spPr>
          <a:xfrm>
            <a:off x="9046160" y="1365021"/>
            <a:ext cx="177706" cy="177706"/>
          </a:xfrm>
          <a:prstGeom prst="roundRect">
            <a:avLst>
              <a:gd name="adj" fmla="val 14293"/>
            </a:avLst>
          </a:prstGeom>
          <a:solidFill>
            <a:srgbClr val="0B6BCB"/>
          </a:solidFill>
          <a:ln/>
        </p:spPr>
      </p:sp>
      <p:sp>
        <p:nvSpPr>
          <p:cNvPr id="5" name="Text 3"/>
          <p:cNvSpPr/>
          <p:nvPr/>
        </p:nvSpPr>
        <p:spPr>
          <a:xfrm>
            <a:off x="9300057" y="1338393"/>
            <a:ext cx="553530"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A"/>
                </a:solidFill>
                <a:latin typeface="IBM Plex Sans KR" pitchFamily="34" charset="0"/>
                <a:ea typeface="IBM Plex Sans KR" pitchFamily="34" charset="-122"/>
                <a:cs typeface="IBM Plex Sans KR" pitchFamily="34" charset="-120"/>
              </a:rPr>
              <a:t>Hit@1</a:t>
            </a:r>
            <a:endParaRPr lang="en-US" sz="1300" dirty="0"/>
          </a:p>
        </p:txBody>
      </p:sp>
      <p:sp>
        <p:nvSpPr>
          <p:cNvPr id="6" name="Shape 4"/>
          <p:cNvSpPr/>
          <p:nvPr/>
        </p:nvSpPr>
        <p:spPr>
          <a:xfrm>
            <a:off x="9964472" y="1365021"/>
            <a:ext cx="177706" cy="177706"/>
          </a:xfrm>
          <a:prstGeom prst="roundRect">
            <a:avLst>
              <a:gd name="adj" fmla="val 14293"/>
            </a:avLst>
          </a:prstGeom>
          <a:solidFill>
            <a:srgbClr val="E8892B"/>
          </a:solidFill>
          <a:ln/>
        </p:spPr>
      </p:sp>
      <p:sp>
        <p:nvSpPr>
          <p:cNvPr id="7" name="Text 5"/>
          <p:cNvSpPr/>
          <p:nvPr/>
        </p:nvSpPr>
        <p:spPr>
          <a:xfrm>
            <a:off x="10218368" y="1338393"/>
            <a:ext cx="1392954"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A"/>
                </a:solidFill>
                <a:latin typeface="IBM Plex Sans KR" pitchFamily="34" charset="0"/>
                <a:ea typeface="IBM Plex Sans KR" pitchFamily="34" charset="-122"/>
                <a:cs typeface="IBM Plex Sans KR" pitchFamily="34" charset="-120"/>
              </a:rPr>
              <a:t>Full-Recall@ctx</a:t>
            </a:r>
            <a:endParaRPr lang="en-US" sz="1300" dirty="0"/>
          </a:p>
        </p:txBody>
      </p:sp>
      <p:sp>
        <p:nvSpPr>
          <p:cNvPr id="8" name="Shape 6"/>
          <p:cNvSpPr/>
          <p:nvPr/>
        </p:nvSpPr>
        <p:spPr>
          <a:xfrm>
            <a:off x="812774" y="4674438"/>
            <a:ext cx="10566389" cy="0"/>
          </a:xfrm>
          <a:prstGeom prst="line">
            <a:avLst/>
          </a:prstGeom>
          <a:noFill/>
          <a:ln w="12700">
            <a:solidFill>
              <a:srgbClr val="8FA3B8"/>
            </a:solidFill>
            <a:prstDash val="solid"/>
          </a:ln>
        </p:spPr>
      </p:sp>
      <p:sp>
        <p:nvSpPr>
          <p:cNvPr id="9" name="Text 7"/>
          <p:cNvSpPr/>
          <p:nvPr/>
        </p:nvSpPr>
        <p:spPr>
          <a:xfrm>
            <a:off x="951743" y="3108170"/>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BCB"/>
                </a:solidFill>
                <a:latin typeface="JetBrains Mono" pitchFamily="49" charset="0"/>
                <a:ea typeface="JetBrains Mono" pitchFamily="49" charset="-122"/>
                <a:cs typeface="JetBrains Mono" pitchFamily="49" charset="-120"/>
              </a:rPr>
              <a:t>.517</a:t>
            </a:r>
            <a:endParaRPr lang="en-US" sz="1200" dirty="0"/>
          </a:p>
        </p:txBody>
      </p:sp>
      <p:sp>
        <p:nvSpPr>
          <p:cNvPr id="10" name="Shape 8"/>
          <p:cNvSpPr/>
          <p:nvPr/>
        </p:nvSpPr>
        <p:spPr>
          <a:xfrm>
            <a:off x="967982" y="3359454"/>
            <a:ext cx="406387" cy="1314372"/>
          </a:xfrm>
          <a:custGeom>
            <a:avLst/>
            <a:gdLst/>
            <a:ahLst/>
            <a:cxnLst/>
            <a:rect l="l" t="t" r="r" b="b"/>
            <a:pathLst>
              <a:path w="406387" h="1314372">
                <a:moveTo>
                  <a:pt x="38100" y="0"/>
                </a:moveTo>
                <a:lnTo>
                  <a:pt x="368287" y="0"/>
                </a:lnTo>
                <a:arcTo wR="38100" hR="38100" stAng="16200000" swAng="5400000"/>
                <a:lnTo>
                  <a:pt x="406387" y="1314372"/>
                </a:lnTo>
                <a:lnTo>
                  <a:pt x="0" y="1314372"/>
                </a:lnTo>
                <a:lnTo>
                  <a:pt x="0" y="38100"/>
                </a:lnTo>
                <a:arcTo wR="38100" hR="38100" stAng="10800000" swAng="5400000"/>
                <a:close/>
              </a:path>
            </a:pathLst>
          </a:custGeom>
          <a:solidFill>
            <a:srgbClr val="0B6BCB"/>
          </a:solidFill>
          <a:ln/>
        </p:spPr>
      </p:sp>
      <p:sp>
        <p:nvSpPr>
          <p:cNvPr id="11" name="Text 9"/>
          <p:cNvSpPr/>
          <p:nvPr/>
        </p:nvSpPr>
        <p:spPr>
          <a:xfrm>
            <a:off x="1408888" y="4301896"/>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5F0E"/>
                </a:solidFill>
                <a:latin typeface="JetBrains Mono" pitchFamily="49" charset="0"/>
                <a:ea typeface="JetBrains Mono" pitchFamily="49" charset="-122"/>
                <a:cs typeface="JetBrains Mono" pitchFamily="49" charset="-120"/>
              </a:rPr>
              <a:t>.048</a:t>
            </a:r>
            <a:endParaRPr lang="en-US" sz="1200" dirty="0"/>
          </a:p>
        </p:txBody>
      </p:sp>
      <p:sp>
        <p:nvSpPr>
          <p:cNvPr id="12" name="Shape 10"/>
          <p:cNvSpPr/>
          <p:nvPr/>
        </p:nvSpPr>
        <p:spPr>
          <a:xfrm>
            <a:off x="1425126" y="4553186"/>
            <a:ext cx="406387" cy="120644"/>
          </a:xfrm>
          <a:custGeom>
            <a:avLst/>
            <a:gdLst/>
            <a:ahLst/>
            <a:cxnLst/>
            <a:rect l="l" t="t" r="r" b="b"/>
            <a:pathLst>
              <a:path w="406387" h="120644">
                <a:moveTo>
                  <a:pt x="38100" y="0"/>
                </a:moveTo>
                <a:lnTo>
                  <a:pt x="368287" y="0"/>
                </a:lnTo>
                <a:arcTo wR="38100" hR="38100" stAng="16200000" swAng="5400000"/>
                <a:lnTo>
                  <a:pt x="406387" y="120644"/>
                </a:lnTo>
                <a:lnTo>
                  <a:pt x="0" y="120644"/>
                </a:lnTo>
                <a:lnTo>
                  <a:pt x="0" y="38100"/>
                </a:lnTo>
                <a:arcTo wR="38100" hR="38100" stAng="10800000" swAng="5400000"/>
                <a:close/>
              </a:path>
            </a:pathLst>
          </a:custGeom>
          <a:solidFill>
            <a:srgbClr val="E8892B"/>
          </a:solidFill>
          <a:ln/>
        </p:spPr>
      </p:sp>
      <p:sp>
        <p:nvSpPr>
          <p:cNvPr id="13" name="Text 11"/>
          <p:cNvSpPr/>
          <p:nvPr/>
        </p:nvSpPr>
        <p:spPr>
          <a:xfrm>
            <a:off x="2125690" y="2936658"/>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BCB"/>
                </a:solidFill>
                <a:latin typeface="JetBrains Mono" pitchFamily="49" charset="0"/>
                <a:ea typeface="JetBrains Mono" pitchFamily="49" charset="-122"/>
                <a:cs typeface="JetBrains Mono" pitchFamily="49" charset="-120"/>
              </a:rPr>
              <a:t>.586</a:t>
            </a:r>
            <a:endParaRPr lang="en-US" sz="1200" dirty="0"/>
          </a:p>
        </p:txBody>
      </p:sp>
      <p:sp>
        <p:nvSpPr>
          <p:cNvPr id="14" name="Shape 12"/>
          <p:cNvSpPr/>
          <p:nvPr/>
        </p:nvSpPr>
        <p:spPr>
          <a:xfrm>
            <a:off x="2141928" y="3187948"/>
            <a:ext cx="406387" cy="1485883"/>
          </a:xfrm>
          <a:custGeom>
            <a:avLst/>
            <a:gdLst/>
            <a:ahLst/>
            <a:cxnLst/>
            <a:rect l="l" t="t" r="r" b="b"/>
            <a:pathLst>
              <a:path w="406387" h="1485883">
                <a:moveTo>
                  <a:pt x="38100" y="0"/>
                </a:moveTo>
                <a:lnTo>
                  <a:pt x="368287" y="0"/>
                </a:lnTo>
                <a:arcTo wR="38100" hR="38100" stAng="16200000" swAng="5400000"/>
                <a:lnTo>
                  <a:pt x="406387" y="1485883"/>
                </a:lnTo>
                <a:lnTo>
                  <a:pt x="0" y="1485883"/>
                </a:lnTo>
                <a:lnTo>
                  <a:pt x="0" y="38100"/>
                </a:lnTo>
                <a:arcTo wR="38100" hR="38100" stAng="10800000" swAng="5400000"/>
                <a:close/>
              </a:path>
            </a:pathLst>
          </a:custGeom>
          <a:solidFill>
            <a:srgbClr val="0B6BCB"/>
          </a:solidFill>
          <a:ln/>
        </p:spPr>
      </p:sp>
      <p:sp>
        <p:nvSpPr>
          <p:cNvPr id="15" name="Text 13"/>
          <p:cNvSpPr/>
          <p:nvPr/>
        </p:nvSpPr>
        <p:spPr>
          <a:xfrm>
            <a:off x="2582835" y="4301896"/>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5F0E"/>
                </a:solidFill>
                <a:latin typeface="JetBrains Mono" pitchFamily="49" charset="0"/>
                <a:ea typeface="JetBrains Mono" pitchFamily="49" charset="-122"/>
                <a:cs typeface="JetBrains Mono" pitchFamily="49" charset="-120"/>
              </a:rPr>
              <a:t>.048</a:t>
            </a:r>
            <a:endParaRPr lang="en-US" sz="1200" dirty="0"/>
          </a:p>
        </p:txBody>
      </p:sp>
      <p:sp>
        <p:nvSpPr>
          <p:cNvPr id="16" name="Shape 14"/>
          <p:cNvSpPr/>
          <p:nvPr/>
        </p:nvSpPr>
        <p:spPr>
          <a:xfrm>
            <a:off x="2599073" y="4553186"/>
            <a:ext cx="406387" cy="120644"/>
          </a:xfrm>
          <a:custGeom>
            <a:avLst/>
            <a:gdLst/>
            <a:ahLst/>
            <a:cxnLst/>
            <a:rect l="l" t="t" r="r" b="b"/>
            <a:pathLst>
              <a:path w="406387" h="120644">
                <a:moveTo>
                  <a:pt x="38100" y="0"/>
                </a:moveTo>
                <a:lnTo>
                  <a:pt x="368287" y="0"/>
                </a:lnTo>
                <a:arcTo wR="38100" hR="38100" stAng="16200000" swAng="5400000"/>
                <a:lnTo>
                  <a:pt x="406387" y="120644"/>
                </a:lnTo>
                <a:lnTo>
                  <a:pt x="0" y="120644"/>
                </a:lnTo>
                <a:lnTo>
                  <a:pt x="0" y="38100"/>
                </a:lnTo>
                <a:arcTo wR="38100" hR="38100" stAng="10800000" swAng="5400000"/>
                <a:close/>
              </a:path>
            </a:pathLst>
          </a:custGeom>
          <a:solidFill>
            <a:srgbClr val="E8892B"/>
          </a:solidFill>
          <a:ln/>
        </p:spPr>
      </p:sp>
      <p:sp>
        <p:nvSpPr>
          <p:cNvPr id="17" name="Text 15"/>
          <p:cNvSpPr/>
          <p:nvPr/>
        </p:nvSpPr>
        <p:spPr>
          <a:xfrm>
            <a:off x="3299745" y="3019264"/>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BCB"/>
                </a:solidFill>
                <a:latin typeface="JetBrains Mono" pitchFamily="49" charset="0"/>
                <a:ea typeface="JetBrains Mono" pitchFamily="49" charset="-122"/>
                <a:cs typeface="JetBrains Mono" pitchFamily="49" charset="-120"/>
              </a:rPr>
              <a:t>.552</a:t>
            </a:r>
            <a:endParaRPr lang="en-US" sz="1200" dirty="0"/>
          </a:p>
        </p:txBody>
      </p:sp>
      <p:sp>
        <p:nvSpPr>
          <p:cNvPr id="18" name="Shape 16"/>
          <p:cNvSpPr/>
          <p:nvPr/>
        </p:nvSpPr>
        <p:spPr>
          <a:xfrm>
            <a:off x="3315984" y="3270548"/>
            <a:ext cx="406387" cy="1403280"/>
          </a:xfrm>
          <a:custGeom>
            <a:avLst/>
            <a:gdLst/>
            <a:ahLst/>
            <a:cxnLst/>
            <a:rect l="l" t="t" r="r" b="b"/>
            <a:pathLst>
              <a:path w="406387" h="1403280">
                <a:moveTo>
                  <a:pt x="38100" y="0"/>
                </a:moveTo>
                <a:lnTo>
                  <a:pt x="368287" y="0"/>
                </a:lnTo>
                <a:arcTo wR="38100" hR="38100" stAng="16200000" swAng="5400000"/>
                <a:lnTo>
                  <a:pt x="406387" y="1403280"/>
                </a:lnTo>
                <a:lnTo>
                  <a:pt x="0" y="1403280"/>
                </a:lnTo>
                <a:lnTo>
                  <a:pt x="0" y="38100"/>
                </a:lnTo>
                <a:arcTo wR="38100" hR="38100" stAng="10800000" swAng="5400000"/>
                <a:close/>
              </a:path>
            </a:pathLst>
          </a:custGeom>
          <a:solidFill>
            <a:srgbClr val="0B6BCB"/>
          </a:solidFill>
          <a:ln/>
        </p:spPr>
      </p:sp>
      <p:sp>
        <p:nvSpPr>
          <p:cNvPr id="19" name="Text 17"/>
          <p:cNvSpPr/>
          <p:nvPr/>
        </p:nvSpPr>
        <p:spPr>
          <a:xfrm>
            <a:off x="3756890" y="4181252"/>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5F0E"/>
                </a:solidFill>
                <a:latin typeface="JetBrains Mono" pitchFamily="49" charset="0"/>
                <a:ea typeface="JetBrains Mono" pitchFamily="49" charset="-122"/>
                <a:cs typeface="JetBrains Mono" pitchFamily="49" charset="-120"/>
              </a:rPr>
              <a:t>.095</a:t>
            </a:r>
            <a:endParaRPr lang="en-US" sz="1200" dirty="0"/>
          </a:p>
        </p:txBody>
      </p:sp>
      <p:sp>
        <p:nvSpPr>
          <p:cNvPr id="20" name="Shape 18"/>
          <p:cNvSpPr/>
          <p:nvPr/>
        </p:nvSpPr>
        <p:spPr>
          <a:xfrm>
            <a:off x="3773128" y="4432542"/>
            <a:ext cx="406387" cy="241289"/>
          </a:xfrm>
          <a:custGeom>
            <a:avLst/>
            <a:gdLst/>
            <a:ahLst/>
            <a:cxnLst/>
            <a:rect l="l" t="t" r="r" b="b"/>
            <a:pathLst>
              <a:path w="406387" h="241289">
                <a:moveTo>
                  <a:pt x="38100" y="0"/>
                </a:moveTo>
                <a:lnTo>
                  <a:pt x="368287" y="0"/>
                </a:lnTo>
                <a:arcTo wR="38100" hR="38100" stAng="16200000" swAng="5400000"/>
                <a:lnTo>
                  <a:pt x="406387" y="241289"/>
                </a:lnTo>
                <a:lnTo>
                  <a:pt x="0" y="241289"/>
                </a:lnTo>
                <a:lnTo>
                  <a:pt x="0" y="38100"/>
                </a:lnTo>
                <a:arcTo wR="38100" hR="38100" stAng="10800000" swAng="5400000"/>
                <a:close/>
              </a:path>
            </a:pathLst>
          </a:custGeom>
          <a:solidFill>
            <a:srgbClr val="E8892B"/>
          </a:solidFill>
          <a:ln/>
        </p:spPr>
      </p:sp>
      <p:sp>
        <p:nvSpPr>
          <p:cNvPr id="21" name="Text 19"/>
          <p:cNvSpPr/>
          <p:nvPr/>
        </p:nvSpPr>
        <p:spPr>
          <a:xfrm>
            <a:off x="4473801" y="3197076"/>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BCB"/>
                </a:solidFill>
                <a:latin typeface="JetBrains Mono" pitchFamily="49" charset="0"/>
                <a:ea typeface="JetBrains Mono" pitchFamily="49" charset="-122"/>
                <a:cs typeface="JetBrains Mono" pitchFamily="49" charset="-120"/>
              </a:rPr>
              <a:t>.483</a:t>
            </a:r>
            <a:endParaRPr lang="en-US" sz="1200" dirty="0"/>
          </a:p>
        </p:txBody>
      </p:sp>
      <p:sp>
        <p:nvSpPr>
          <p:cNvPr id="22" name="Shape 20"/>
          <p:cNvSpPr/>
          <p:nvPr/>
        </p:nvSpPr>
        <p:spPr>
          <a:xfrm>
            <a:off x="4490039" y="3448366"/>
            <a:ext cx="406387" cy="1225465"/>
          </a:xfrm>
          <a:custGeom>
            <a:avLst/>
            <a:gdLst/>
            <a:ahLst/>
            <a:cxnLst/>
            <a:rect l="l" t="t" r="r" b="b"/>
            <a:pathLst>
              <a:path w="406387" h="1225465">
                <a:moveTo>
                  <a:pt x="38100" y="0"/>
                </a:moveTo>
                <a:lnTo>
                  <a:pt x="368287" y="0"/>
                </a:lnTo>
                <a:arcTo wR="38100" hR="38100" stAng="16200000" swAng="5400000"/>
                <a:lnTo>
                  <a:pt x="406387" y="1225465"/>
                </a:lnTo>
                <a:lnTo>
                  <a:pt x="0" y="1225465"/>
                </a:lnTo>
                <a:lnTo>
                  <a:pt x="0" y="38100"/>
                </a:lnTo>
                <a:arcTo wR="38100" hR="38100" stAng="10800000" swAng="5400000"/>
                <a:close/>
              </a:path>
            </a:pathLst>
          </a:custGeom>
          <a:solidFill>
            <a:srgbClr val="0B6BCB"/>
          </a:solidFill>
          <a:ln/>
        </p:spPr>
      </p:sp>
      <p:sp>
        <p:nvSpPr>
          <p:cNvPr id="23" name="Text 21"/>
          <p:cNvSpPr/>
          <p:nvPr/>
        </p:nvSpPr>
        <p:spPr>
          <a:xfrm>
            <a:off x="4930946" y="4060608"/>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5F0E"/>
                </a:solidFill>
                <a:latin typeface="JetBrains Mono" pitchFamily="49" charset="0"/>
                <a:ea typeface="JetBrains Mono" pitchFamily="49" charset="-122"/>
                <a:cs typeface="JetBrains Mono" pitchFamily="49" charset="-120"/>
              </a:rPr>
              <a:t>.143</a:t>
            </a:r>
            <a:endParaRPr lang="en-US" sz="1200" dirty="0"/>
          </a:p>
        </p:txBody>
      </p:sp>
      <p:sp>
        <p:nvSpPr>
          <p:cNvPr id="24" name="Shape 22"/>
          <p:cNvSpPr/>
          <p:nvPr/>
        </p:nvSpPr>
        <p:spPr>
          <a:xfrm>
            <a:off x="4947184" y="4311898"/>
            <a:ext cx="406387" cy="361933"/>
          </a:xfrm>
          <a:custGeom>
            <a:avLst/>
            <a:gdLst/>
            <a:ahLst/>
            <a:cxnLst/>
            <a:rect l="l" t="t" r="r" b="b"/>
            <a:pathLst>
              <a:path w="406387" h="361933">
                <a:moveTo>
                  <a:pt x="38100" y="0"/>
                </a:moveTo>
                <a:lnTo>
                  <a:pt x="368287" y="0"/>
                </a:lnTo>
                <a:arcTo wR="38100" hR="38100" stAng="16200000" swAng="5400000"/>
                <a:lnTo>
                  <a:pt x="406387" y="361933"/>
                </a:lnTo>
                <a:lnTo>
                  <a:pt x="0" y="361933"/>
                </a:lnTo>
                <a:lnTo>
                  <a:pt x="0" y="38100"/>
                </a:lnTo>
                <a:arcTo wR="38100" hR="38100" stAng="10800000" swAng="5400000"/>
                <a:close/>
              </a:path>
            </a:pathLst>
          </a:custGeom>
          <a:solidFill>
            <a:srgbClr val="E8892B"/>
          </a:solidFill>
          <a:ln/>
        </p:spPr>
      </p:sp>
      <p:sp>
        <p:nvSpPr>
          <p:cNvPr id="25" name="Text 23"/>
          <p:cNvSpPr/>
          <p:nvPr/>
        </p:nvSpPr>
        <p:spPr>
          <a:xfrm>
            <a:off x="5647856" y="2492232"/>
            <a:ext cx="438755" cy="23864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B6BCB"/>
                </a:solidFill>
                <a:latin typeface="JetBrains Mono" pitchFamily="49" charset="0"/>
                <a:ea typeface="JetBrains Mono" pitchFamily="49" charset="-122"/>
                <a:cs typeface="JetBrains Mono" pitchFamily="49" charset="-120"/>
              </a:rPr>
              <a:t>.759</a:t>
            </a:r>
            <a:endParaRPr lang="en-US" sz="1200" dirty="0"/>
          </a:p>
        </p:txBody>
      </p:sp>
      <p:sp>
        <p:nvSpPr>
          <p:cNvPr id="26" name="Shape 24"/>
          <p:cNvSpPr/>
          <p:nvPr/>
        </p:nvSpPr>
        <p:spPr>
          <a:xfrm>
            <a:off x="5664094" y="2743516"/>
            <a:ext cx="406387" cy="1930311"/>
          </a:xfrm>
          <a:custGeom>
            <a:avLst/>
            <a:gdLst/>
            <a:ahLst/>
            <a:cxnLst/>
            <a:rect l="l" t="t" r="r" b="b"/>
            <a:pathLst>
              <a:path w="406387" h="1930311">
                <a:moveTo>
                  <a:pt x="38100" y="0"/>
                </a:moveTo>
                <a:lnTo>
                  <a:pt x="368287" y="0"/>
                </a:lnTo>
                <a:arcTo wR="38100" hR="38100" stAng="16200000" swAng="5400000"/>
                <a:lnTo>
                  <a:pt x="406387" y="1930311"/>
                </a:lnTo>
                <a:lnTo>
                  <a:pt x="0" y="1930311"/>
                </a:lnTo>
                <a:lnTo>
                  <a:pt x="0" y="38100"/>
                </a:lnTo>
                <a:arcTo wR="38100" hR="38100" stAng="10800000" swAng="5400000"/>
                <a:close/>
              </a:path>
            </a:pathLst>
          </a:custGeom>
          <a:solidFill>
            <a:srgbClr val="0B6BCB"/>
          </a:solidFill>
          <a:ln/>
        </p:spPr>
      </p:sp>
      <p:sp>
        <p:nvSpPr>
          <p:cNvPr id="27" name="Text 25"/>
          <p:cNvSpPr/>
          <p:nvPr/>
        </p:nvSpPr>
        <p:spPr>
          <a:xfrm>
            <a:off x="6105001" y="4060608"/>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5F0E"/>
                </a:solidFill>
                <a:latin typeface="JetBrains Mono" pitchFamily="49" charset="0"/>
                <a:ea typeface="JetBrains Mono" pitchFamily="49" charset="-122"/>
                <a:cs typeface="JetBrains Mono" pitchFamily="49" charset="-120"/>
              </a:rPr>
              <a:t>.143</a:t>
            </a:r>
            <a:endParaRPr lang="en-US" sz="1200" dirty="0"/>
          </a:p>
        </p:txBody>
      </p:sp>
      <p:sp>
        <p:nvSpPr>
          <p:cNvPr id="28" name="Shape 26"/>
          <p:cNvSpPr/>
          <p:nvPr/>
        </p:nvSpPr>
        <p:spPr>
          <a:xfrm>
            <a:off x="6121239" y="4311898"/>
            <a:ext cx="406387" cy="361933"/>
          </a:xfrm>
          <a:custGeom>
            <a:avLst/>
            <a:gdLst/>
            <a:ahLst/>
            <a:cxnLst/>
            <a:rect l="l" t="t" r="r" b="b"/>
            <a:pathLst>
              <a:path w="406387" h="361933">
                <a:moveTo>
                  <a:pt x="38100" y="0"/>
                </a:moveTo>
                <a:lnTo>
                  <a:pt x="368287" y="0"/>
                </a:lnTo>
                <a:arcTo wR="38100" hR="38100" stAng="16200000" swAng="5400000"/>
                <a:lnTo>
                  <a:pt x="406387" y="361933"/>
                </a:lnTo>
                <a:lnTo>
                  <a:pt x="0" y="361933"/>
                </a:lnTo>
                <a:lnTo>
                  <a:pt x="0" y="38100"/>
                </a:lnTo>
                <a:arcTo wR="38100" hR="38100" stAng="10800000" swAng="5400000"/>
                <a:close/>
              </a:path>
            </a:pathLst>
          </a:custGeom>
          <a:solidFill>
            <a:srgbClr val="E8892B"/>
          </a:solidFill>
          <a:ln/>
        </p:spPr>
      </p:sp>
      <p:sp>
        <p:nvSpPr>
          <p:cNvPr id="29" name="Text 27"/>
          <p:cNvSpPr/>
          <p:nvPr/>
        </p:nvSpPr>
        <p:spPr>
          <a:xfrm>
            <a:off x="6821912" y="2409627"/>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BCB"/>
                </a:solidFill>
                <a:latin typeface="JetBrains Mono" pitchFamily="49" charset="0"/>
                <a:ea typeface="JetBrains Mono" pitchFamily="49" charset="-122"/>
                <a:cs typeface="JetBrains Mono" pitchFamily="49" charset="-120"/>
              </a:rPr>
              <a:t>.793</a:t>
            </a:r>
            <a:endParaRPr lang="en-US" sz="1200" dirty="0"/>
          </a:p>
        </p:txBody>
      </p:sp>
      <p:sp>
        <p:nvSpPr>
          <p:cNvPr id="30" name="Shape 28"/>
          <p:cNvSpPr/>
          <p:nvPr/>
        </p:nvSpPr>
        <p:spPr>
          <a:xfrm>
            <a:off x="6838149" y="2660917"/>
            <a:ext cx="406387" cy="2012915"/>
          </a:xfrm>
          <a:custGeom>
            <a:avLst/>
            <a:gdLst/>
            <a:ahLst/>
            <a:cxnLst/>
            <a:rect l="l" t="t" r="r" b="b"/>
            <a:pathLst>
              <a:path w="406387" h="2012915">
                <a:moveTo>
                  <a:pt x="38100" y="0"/>
                </a:moveTo>
                <a:lnTo>
                  <a:pt x="368287" y="0"/>
                </a:lnTo>
                <a:arcTo wR="38100" hR="38100" stAng="16200000" swAng="5400000"/>
                <a:lnTo>
                  <a:pt x="406387" y="2012915"/>
                </a:lnTo>
                <a:lnTo>
                  <a:pt x="0" y="2012915"/>
                </a:lnTo>
                <a:lnTo>
                  <a:pt x="0" y="38100"/>
                </a:lnTo>
                <a:arcTo wR="38100" hR="38100" stAng="10800000" swAng="5400000"/>
                <a:close/>
              </a:path>
            </a:pathLst>
          </a:custGeom>
          <a:solidFill>
            <a:srgbClr val="0B6BCB"/>
          </a:solidFill>
          <a:ln/>
        </p:spPr>
      </p:sp>
      <p:sp>
        <p:nvSpPr>
          <p:cNvPr id="31" name="Text 29"/>
          <p:cNvSpPr/>
          <p:nvPr/>
        </p:nvSpPr>
        <p:spPr>
          <a:xfrm>
            <a:off x="7279056" y="4060608"/>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5F0E"/>
                </a:solidFill>
                <a:latin typeface="JetBrains Mono" pitchFamily="49" charset="0"/>
                <a:ea typeface="JetBrains Mono" pitchFamily="49" charset="-122"/>
                <a:cs typeface="JetBrains Mono" pitchFamily="49" charset="-120"/>
              </a:rPr>
              <a:t>.143</a:t>
            </a:r>
            <a:endParaRPr lang="en-US" sz="1200" dirty="0"/>
          </a:p>
        </p:txBody>
      </p:sp>
      <p:sp>
        <p:nvSpPr>
          <p:cNvPr id="32" name="Shape 30"/>
          <p:cNvSpPr/>
          <p:nvPr/>
        </p:nvSpPr>
        <p:spPr>
          <a:xfrm>
            <a:off x="7295294" y="4311898"/>
            <a:ext cx="406387" cy="361933"/>
          </a:xfrm>
          <a:custGeom>
            <a:avLst/>
            <a:gdLst/>
            <a:ahLst/>
            <a:cxnLst/>
            <a:rect l="l" t="t" r="r" b="b"/>
            <a:pathLst>
              <a:path w="406387" h="361933">
                <a:moveTo>
                  <a:pt x="38100" y="0"/>
                </a:moveTo>
                <a:lnTo>
                  <a:pt x="368287" y="0"/>
                </a:lnTo>
                <a:arcTo wR="38100" hR="38100" stAng="16200000" swAng="5400000"/>
                <a:lnTo>
                  <a:pt x="406387" y="361933"/>
                </a:lnTo>
                <a:lnTo>
                  <a:pt x="0" y="361933"/>
                </a:lnTo>
                <a:lnTo>
                  <a:pt x="0" y="38100"/>
                </a:lnTo>
                <a:arcTo wR="38100" hR="38100" stAng="10800000" swAng="5400000"/>
                <a:close/>
              </a:path>
            </a:pathLst>
          </a:custGeom>
          <a:solidFill>
            <a:srgbClr val="E8892B"/>
          </a:solidFill>
          <a:ln/>
        </p:spPr>
      </p:sp>
      <p:sp>
        <p:nvSpPr>
          <p:cNvPr id="33" name="Text 31"/>
          <p:cNvSpPr/>
          <p:nvPr/>
        </p:nvSpPr>
        <p:spPr>
          <a:xfrm>
            <a:off x="7995967" y="2231814"/>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BCB"/>
                </a:solidFill>
                <a:latin typeface="JetBrains Mono" pitchFamily="49" charset="0"/>
                <a:ea typeface="JetBrains Mono" pitchFamily="49" charset="-122"/>
                <a:cs typeface="JetBrains Mono" pitchFamily="49" charset="-120"/>
              </a:rPr>
              <a:t>.862</a:t>
            </a:r>
            <a:endParaRPr lang="en-US" sz="1200" dirty="0"/>
          </a:p>
        </p:txBody>
      </p:sp>
      <p:sp>
        <p:nvSpPr>
          <p:cNvPr id="34" name="Shape 32"/>
          <p:cNvSpPr/>
          <p:nvPr/>
        </p:nvSpPr>
        <p:spPr>
          <a:xfrm>
            <a:off x="8012205" y="2483098"/>
            <a:ext cx="406387" cy="2190729"/>
          </a:xfrm>
          <a:custGeom>
            <a:avLst/>
            <a:gdLst/>
            <a:ahLst/>
            <a:cxnLst/>
            <a:rect l="l" t="t" r="r" b="b"/>
            <a:pathLst>
              <a:path w="406387" h="2190729">
                <a:moveTo>
                  <a:pt x="38100" y="0"/>
                </a:moveTo>
                <a:lnTo>
                  <a:pt x="368287" y="0"/>
                </a:lnTo>
                <a:arcTo wR="38100" hR="38100" stAng="16200000" swAng="5400000"/>
                <a:lnTo>
                  <a:pt x="406387" y="2190729"/>
                </a:lnTo>
                <a:lnTo>
                  <a:pt x="0" y="2190729"/>
                </a:lnTo>
                <a:lnTo>
                  <a:pt x="0" y="38100"/>
                </a:lnTo>
                <a:arcTo wR="38100" hR="38100" stAng="10800000" swAng="5400000"/>
                <a:close/>
              </a:path>
            </a:pathLst>
          </a:custGeom>
          <a:solidFill>
            <a:srgbClr val="0B6BCB"/>
          </a:solidFill>
          <a:ln/>
        </p:spPr>
      </p:sp>
      <p:sp>
        <p:nvSpPr>
          <p:cNvPr id="35" name="Text 33"/>
          <p:cNvSpPr/>
          <p:nvPr/>
        </p:nvSpPr>
        <p:spPr>
          <a:xfrm>
            <a:off x="8453111" y="2606464"/>
            <a:ext cx="438755" cy="23864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5F0E"/>
                </a:solidFill>
                <a:latin typeface="JetBrains Mono" pitchFamily="49" charset="0"/>
                <a:ea typeface="JetBrains Mono" pitchFamily="49" charset="-122"/>
                <a:cs typeface="JetBrains Mono" pitchFamily="49" charset="-120"/>
              </a:rPr>
              <a:t>.714</a:t>
            </a:r>
            <a:endParaRPr lang="en-US" sz="1200" dirty="0"/>
          </a:p>
        </p:txBody>
      </p:sp>
      <p:sp>
        <p:nvSpPr>
          <p:cNvPr id="36" name="Shape 34"/>
          <p:cNvSpPr/>
          <p:nvPr/>
        </p:nvSpPr>
        <p:spPr>
          <a:xfrm>
            <a:off x="8469350" y="2857748"/>
            <a:ext cx="406387" cy="1816079"/>
          </a:xfrm>
          <a:custGeom>
            <a:avLst/>
            <a:gdLst/>
            <a:ahLst/>
            <a:cxnLst/>
            <a:rect l="l" t="t" r="r" b="b"/>
            <a:pathLst>
              <a:path w="406387" h="1816079">
                <a:moveTo>
                  <a:pt x="38100" y="0"/>
                </a:moveTo>
                <a:lnTo>
                  <a:pt x="368287" y="0"/>
                </a:lnTo>
                <a:arcTo wR="38100" hR="38100" stAng="16200000" swAng="5400000"/>
                <a:lnTo>
                  <a:pt x="406387" y="1816079"/>
                </a:lnTo>
                <a:lnTo>
                  <a:pt x="0" y="1816079"/>
                </a:lnTo>
                <a:lnTo>
                  <a:pt x="0" y="38100"/>
                </a:lnTo>
                <a:arcTo wR="38100" hR="38100" stAng="10800000" swAng="5400000"/>
                <a:close/>
              </a:path>
            </a:pathLst>
          </a:custGeom>
          <a:solidFill>
            <a:srgbClr val="E8892B"/>
          </a:solidFill>
          <a:ln/>
        </p:spPr>
      </p:sp>
      <p:sp>
        <p:nvSpPr>
          <p:cNvPr id="37" name="Text 35"/>
          <p:cNvSpPr/>
          <p:nvPr/>
        </p:nvSpPr>
        <p:spPr>
          <a:xfrm>
            <a:off x="9170022" y="2231814"/>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BCB"/>
                </a:solidFill>
                <a:latin typeface="JetBrains Mono" pitchFamily="49" charset="0"/>
                <a:ea typeface="JetBrains Mono" pitchFamily="49" charset="-122"/>
                <a:cs typeface="JetBrains Mono" pitchFamily="49" charset="-120"/>
              </a:rPr>
              <a:t>.862</a:t>
            </a:r>
            <a:endParaRPr lang="en-US" sz="1200" dirty="0"/>
          </a:p>
        </p:txBody>
      </p:sp>
      <p:sp>
        <p:nvSpPr>
          <p:cNvPr id="38" name="Shape 36"/>
          <p:cNvSpPr/>
          <p:nvPr/>
        </p:nvSpPr>
        <p:spPr>
          <a:xfrm>
            <a:off x="9186260" y="2483098"/>
            <a:ext cx="406387" cy="2190729"/>
          </a:xfrm>
          <a:custGeom>
            <a:avLst/>
            <a:gdLst/>
            <a:ahLst/>
            <a:cxnLst/>
            <a:rect l="l" t="t" r="r" b="b"/>
            <a:pathLst>
              <a:path w="406387" h="2190729">
                <a:moveTo>
                  <a:pt x="38100" y="0"/>
                </a:moveTo>
                <a:lnTo>
                  <a:pt x="368287" y="0"/>
                </a:lnTo>
                <a:arcTo wR="38100" hR="38100" stAng="16200000" swAng="5400000"/>
                <a:lnTo>
                  <a:pt x="406387" y="2190729"/>
                </a:lnTo>
                <a:lnTo>
                  <a:pt x="0" y="2190729"/>
                </a:lnTo>
                <a:lnTo>
                  <a:pt x="0" y="38100"/>
                </a:lnTo>
                <a:arcTo wR="38100" hR="38100" stAng="10800000" swAng="5400000"/>
                <a:close/>
              </a:path>
            </a:pathLst>
          </a:custGeom>
          <a:solidFill>
            <a:srgbClr val="0B6BCB"/>
          </a:solidFill>
          <a:ln/>
        </p:spPr>
      </p:sp>
      <p:sp>
        <p:nvSpPr>
          <p:cNvPr id="39" name="Text 37"/>
          <p:cNvSpPr/>
          <p:nvPr/>
        </p:nvSpPr>
        <p:spPr>
          <a:xfrm>
            <a:off x="9627167" y="2365170"/>
            <a:ext cx="438755" cy="23864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5F0E"/>
                </a:solidFill>
                <a:latin typeface="JetBrains Mono" pitchFamily="49" charset="0"/>
                <a:ea typeface="JetBrains Mono" pitchFamily="49" charset="-122"/>
                <a:cs typeface="JetBrains Mono" pitchFamily="49" charset="-120"/>
              </a:rPr>
              <a:t>.809</a:t>
            </a:r>
            <a:endParaRPr lang="en-US" sz="1200" dirty="0"/>
          </a:p>
        </p:txBody>
      </p:sp>
      <p:sp>
        <p:nvSpPr>
          <p:cNvPr id="40" name="Shape 38"/>
          <p:cNvSpPr/>
          <p:nvPr/>
        </p:nvSpPr>
        <p:spPr>
          <a:xfrm>
            <a:off x="9643405" y="2616460"/>
            <a:ext cx="406387" cy="2057368"/>
          </a:xfrm>
          <a:custGeom>
            <a:avLst/>
            <a:gdLst/>
            <a:ahLst/>
            <a:cxnLst/>
            <a:rect l="l" t="t" r="r" b="b"/>
            <a:pathLst>
              <a:path w="406387" h="2057368">
                <a:moveTo>
                  <a:pt x="38100" y="0"/>
                </a:moveTo>
                <a:lnTo>
                  <a:pt x="368287" y="0"/>
                </a:lnTo>
                <a:arcTo wR="38100" hR="38100" stAng="16200000" swAng="5400000"/>
                <a:lnTo>
                  <a:pt x="406387" y="2057368"/>
                </a:lnTo>
                <a:lnTo>
                  <a:pt x="0" y="2057368"/>
                </a:lnTo>
                <a:lnTo>
                  <a:pt x="0" y="38100"/>
                </a:lnTo>
                <a:arcTo wR="38100" hR="38100" stAng="10800000" swAng="5400000"/>
                <a:close/>
              </a:path>
            </a:pathLst>
          </a:custGeom>
          <a:solidFill>
            <a:srgbClr val="E8892B"/>
          </a:solidFill>
          <a:ln/>
        </p:spPr>
      </p:sp>
      <p:sp>
        <p:nvSpPr>
          <p:cNvPr id="41" name="Text 39"/>
          <p:cNvSpPr/>
          <p:nvPr/>
        </p:nvSpPr>
        <p:spPr>
          <a:xfrm>
            <a:off x="10344077" y="2231814"/>
            <a:ext cx="438755"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BCB"/>
                </a:solidFill>
                <a:latin typeface="JetBrains Mono" pitchFamily="49" charset="0"/>
                <a:ea typeface="JetBrains Mono" pitchFamily="49" charset="-122"/>
                <a:cs typeface="JetBrains Mono" pitchFamily="49" charset="-120"/>
              </a:rPr>
              <a:t>.862</a:t>
            </a:r>
            <a:endParaRPr lang="en-US" sz="1200" dirty="0"/>
          </a:p>
        </p:txBody>
      </p:sp>
      <p:sp>
        <p:nvSpPr>
          <p:cNvPr id="42" name="Shape 40"/>
          <p:cNvSpPr/>
          <p:nvPr/>
        </p:nvSpPr>
        <p:spPr>
          <a:xfrm>
            <a:off x="10360316" y="2483098"/>
            <a:ext cx="406387" cy="2190729"/>
          </a:xfrm>
          <a:custGeom>
            <a:avLst/>
            <a:gdLst/>
            <a:ahLst/>
            <a:cxnLst/>
            <a:rect l="l" t="t" r="r" b="b"/>
            <a:pathLst>
              <a:path w="406387" h="2190729">
                <a:moveTo>
                  <a:pt x="38100" y="0"/>
                </a:moveTo>
                <a:lnTo>
                  <a:pt x="368287" y="0"/>
                </a:lnTo>
                <a:arcTo wR="38100" hR="38100" stAng="16200000" swAng="5400000"/>
                <a:lnTo>
                  <a:pt x="406387" y="2190729"/>
                </a:lnTo>
                <a:lnTo>
                  <a:pt x="0" y="2190729"/>
                </a:lnTo>
                <a:lnTo>
                  <a:pt x="0" y="38100"/>
                </a:lnTo>
                <a:arcTo wR="38100" hR="38100" stAng="10800000" swAng="5400000"/>
                <a:close/>
              </a:path>
            </a:pathLst>
          </a:custGeom>
          <a:solidFill>
            <a:srgbClr val="0B6BCB"/>
          </a:solidFill>
          <a:ln/>
        </p:spPr>
      </p:sp>
      <p:sp>
        <p:nvSpPr>
          <p:cNvPr id="43" name="Text 41"/>
          <p:cNvSpPr/>
          <p:nvPr/>
        </p:nvSpPr>
        <p:spPr>
          <a:xfrm>
            <a:off x="10801222" y="2123883"/>
            <a:ext cx="438755" cy="23864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5F0E"/>
                </a:solidFill>
                <a:latin typeface="JetBrains Mono" pitchFamily="49" charset="0"/>
                <a:ea typeface="JetBrains Mono" pitchFamily="49" charset="-122"/>
                <a:cs typeface="JetBrains Mono" pitchFamily="49" charset="-120"/>
              </a:rPr>
              <a:t>.905</a:t>
            </a:r>
            <a:endParaRPr lang="en-US" sz="1200" dirty="0"/>
          </a:p>
        </p:txBody>
      </p:sp>
      <p:sp>
        <p:nvSpPr>
          <p:cNvPr id="44" name="Shape 42"/>
          <p:cNvSpPr/>
          <p:nvPr/>
        </p:nvSpPr>
        <p:spPr>
          <a:xfrm>
            <a:off x="10817460" y="2375173"/>
            <a:ext cx="406387" cy="2298657"/>
          </a:xfrm>
          <a:custGeom>
            <a:avLst/>
            <a:gdLst/>
            <a:ahLst/>
            <a:cxnLst/>
            <a:rect l="l" t="t" r="r" b="b"/>
            <a:pathLst>
              <a:path w="406387" h="2298657">
                <a:moveTo>
                  <a:pt x="38100" y="0"/>
                </a:moveTo>
                <a:lnTo>
                  <a:pt x="368287" y="0"/>
                </a:lnTo>
                <a:arcTo wR="38100" hR="38100" stAng="16200000" swAng="5400000"/>
                <a:lnTo>
                  <a:pt x="406387" y="2298657"/>
                </a:lnTo>
                <a:lnTo>
                  <a:pt x="0" y="2298657"/>
                </a:lnTo>
                <a:lnTo>
                  <a:pt x="0" y="38100"/>
                </a:lnTo>
                <a:arcTo wR="38100" hR="38100" stAng="10800000" swAng="5400000"/>
                <a:close/>
              </a:path>
            </a:pathLst>
          </a:custGeom>
          <a:solidFill>
            <a:srgbClr val="E8892B"/>
          </a:solidFill>
          <a:ln/>
        </p:spPr>
      </p:sp>
      <p:sp>
        <p:nvSpPr>
          <p:cNvPr id="45" name="Text 43"/>
          <p:cNvSpPr/>
          <p:nvPr/>
        </p:nvSpPr>
        <p:spPr>
          <a:xfrm>
            <a:off x="1275278" y="4782300"/>
            <a:ext cx="248939" cy="25647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F1B2A"/>
                </a:solidFill>
                <a:latin typeface="JetBrains Mono" pitchFamily="49" charset="0"/>
                <a:ea typeface="JetBrains Mono" pitchFamily="49" charset="-122"/>
                <a:cs typeface="JetBrains Mono" pitchFamily="49" charset="-120"/>
              </a:rPr>
              <a:t>E0</a:t>
            </a:r>
            <a:endParaRPr lang="en-US" sz="1300" dirty="0"/>
          </a:p>
        </p:txBody>
      </p:sp>
      <p:sp>
        <p:nvSpPr>
          <p:cNvPr id="46" name="Text 44"/>
          <p:cNvSpPr/>
          <p:nvPr/>
        </p:nvSpPr>
        <p:spPr>
          <a:xfrm>
            <a:off x="1181740" y="5038700"/>
            <a:ext cx="436016"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naive</a:t>
            </a:r>
            <a:endParaRPr lang="en-US" sz="1200" dirty="0"/>
          </a:p>
        </p:txBody>
      </p:sp>
      <p:sp>
        <p:nvSpPr>
          <p:cNvPr id="47" name="Text 45"/>
          <p:cNvSpPr/>
          <p:nvPr/>
        </p:nvSpPr>
        <p:spPr>
          <a:xfrm>
            <a:off x="2449224" y="4782300"/>
            <a:ext cx="248939" cy="25647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F1B2A"/>
                </a:solidFill>
                <a:latin typeface="JetBrains Mono" pitchFamily="49" charset="0"/>
                <a:ea typeface="JetBrains Mono" pitchFamily="49" charset="-122"/>
                <a:cs typeface="JetBrains Mono" pitchFamily="49" charset="-120"/>
              </a:rPr>
              <a:t>E1</a:t>
            </a:r>
            <a:endParaRPr lang="en-US" sz="1300" dirty="0"/>
          </a:p>
        </p:txBody>
      </p:sp>
      <p:sp>
        <p:nvSpPr>
          <p:cNvPr id="48" name="Text 46"/>
          <p:cNvSpPr/>
          <p:nvPr/>
        </p:nvSpPr>
        <p:spPr>
          <a:xfrm>
            <a:off x="2226031" y="5038700"/>
            <a:ext cx="695434"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구조 청킹</a:t>
            </a:r>
            <a:endParaRPr lang="en-US" sz="1200" dirty="0"/>
          </a:p>
        </p:txBody>
      </p:sp>
      <p:sp>
        <p:nvSpPr>
          <p:cNvPr id="49" name="Text 47"/>
          <p:cNvSpPr/>
          <p:nvPr/>
        </p:nvSpPr>
        <p:spPr>
          <a:xfrm>
            <a:off x="3623280" y="4782300"/>
            <a:ext cx="248939" cy="25647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F1B2A"/>
                </a:solidFill>
                <a:latin typeface="JetBrains Mono" pitchFamily="49" charset="0"/>
                <a:ea typeface="JetBrains Mono" pitchFamily="49" charset="-122"/>
                <a:cs typeface="JetBrains Mono" pitchFamily="49" charset="-120"/>
              </a:rPr>
              <a:t>E2</a:t>
            </a:r>
            <a:endParaRPr lang="en-US" sz="1300" dirty="0"/>
          </a:p>
        </p:txBody>
      </p:sp>
      <p:sp>
        <p:nvSpPr>
          <p:cNvPr id="50" name="Text 48"/>
          <p:cNvSpPr/>
          <p:nvPr/>
        </p:nvSpPr>
        <p:spPr>
          <a:xfrm>
            <a:off x="3584651" y="5038700"/>
            <a:ext cx="326197"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헤더</a:t>
            </a:r>
            <a:endParaRPr lang="en-US" sz="1200" dirty="0"/>
          </a:p>
        </p:txBody>
      </p:sp>
      <p:sp>
        <p:nvSpPr>
          <p:cNvPr id="51" name="Text 49"/>
          <p:cNvSpPr/>
          <p:nvPr/>
        </p:nvSpPr>
        <p:spPr>
          <a:xfrm>
            <a:off x="4797335" y="4782300"/>
            <a:ext cx="248939" cy="25647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F1B2A"/>
                </a:solidFill>
                <a:latin typeface="JetBrains Mono" pitchFamily="49" charset="0"/>
                <a:ea typeface="JetBrains Mono" pitchFamily="49" charset="-122"/>
                <a:cs typeface="JetBrains Mono" pitchFamily="49" charset="-120"/>
              </a:rPr>
              <a:t>E3</a:t>
            </a:r>
            <a:endParaRPr lang="en-US" sz="1300" dirty="0"/>
          </a:p>
        </p:txBody>
      </p:sp>
      <p:sp>
        <p:nvSpPr>
          <p:cNvPr id="52" name="Text 50"/>
          <p:cNvSpPr/>
          <p:nvPr/>
        </p:nvSpPr>
        <p:spPr>
          <a:xfrm>
            <a:off x="4678223" y="5038700"/>
            <a:ext cx="487273"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BM25</a:t>
            </a:r>
            <a:endParaRPr lang="en-US" sz="1200" dirty="0"/>
          </a:p>
        </p:txBody>
      </p:sp>
      <p:sp>
        <p:nvSpPr>
          <p:cNvPr id="53" name="Text 51"/>
          <p:cNvSpPr/>
          <p:nvPr/>
        </p:nvSpPr>
        <p:spPr>
          <a:xfrm>
            <a:off x="5971390" y="4782300"/>
            <a:ext cx="248939" cy="25647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B6BCB"/>
                </a:solidFill>
                <a:latin typeface="JetBrains Mono" pitchFamily="49" charset="0"/>
                <a:ea typeface="JetBrains Mono" pitchFamily="49" charset="-122"/>
                <a:cs typeface="JetBrains Mono" pitchFamily="49" charset="-120"/>
              </a:rPr>
              <a:t>E4</a:t>
            </a:r>
            <a:endParaRPr lang="en-US" sz="1300" dirty="0"/>
          </a:p>
        </p:txBody>
      </p:sp>
      <p:sp>
        <p:nvSpPr>
          <p:cNvPr id="54" name="Text 52"/>
          <p:cNvSpPr/>
          <p:nvPr/>
        </p:nvSpPr>
        <p:spPr>
          <a:xfrm>
            <a:off x="5789412" y="5038700"/>
            <a:ext cx="613004" cy="23864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B6BCB"/>
                </a:solidFill>
                <a:latin typeface="IBM Plex Sans KR" pitchFamily="34" charset="0"/>
                <a:ea typeface="IBM Plex Sans KR" pitchFamily="34" charset="-122"/>
                <a:cs typeface="IBM Plex Sans KR" pitchFamily="34" charset="-120"/>
              </a:rPr>
              <a:t>Rerank</a:t>
            </a:r>
            <a:endParaRPr lang="en-US" sz="1200" dirty="0"/>
          </a:p>
        </p:txBody>
      </p:sp>
      <p:sp>
        <p:nvSpPr>
          <p:cNvPr id="55" name="Text 53"/>
          <p:cNvSpPr/>
          <p:nvPr/>
        </p:nvSpPr>
        <p:spPr>
          <a:xfrm>
            <a:off x="7145445" y="4782300"/>
            <a:ext cx="248939" cy="25647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F1B2A"/>
                </a:solidFill>
                <a:latin typeface="JetBrains Mono" pitchFamily="49" charset="0"/>
                <a:ea typeface="JetBrains Mono" pitchFamily="49" charset="-122"/>
                <a:cs typeface="JetBrains Mono" pitchFamily="49" charset="-120"/>
              </a:rPr>
              <a:t>E6</a:t>
            </a:r>
            <a:endParaRPr lang="en-US" sz="1300" dirty="0"/>
          </a:p>
        </p:txBody>
      </p:sp>
      <p:sp>
        <p:nvSpPr>
          <p:cNvPr id="56" name="Text 54"/>
          <p:cNvSpPr/>
          <p:nvPr/>
        </p:nvSpPr>
        <p:spPr>
          <a:xfrm>
            <a:off x="7059994" y="5038700"/>
            <a:ext cx="419843"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Term</a:t>
            </a:r>
            <a:endParaRPr lang="en-US" sz="1200" dirty="0"/>
          </a:p>
        </p:txBody>
      </p:sp>
      <p:sp>
        <p:nvSpPr>
          <p:cNvPr id="57" name="Text 55"/>
          <p:cNvSpPr/>
          <p:nvPr/>
        </p:nvSpPr>
        <p:spPr>
          <a:xfrm>
            <a:off x="8319501" y="4782300"/>
            <a:ext cx="248939" cy="25647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B85F0E"/>
                </a:solidFill>
                <a:latin typeface="JetBrains Mono" pitchFamily="49" charset="0"/>
                <a:ea typeface="JetBrains Mono" pitchFamily="49" charset="-122"/>
                <a:cs typeface="JetBrains Mono" pitchFamily="49" charset="-120"/>
              </a:rPr>
              <a:t>E8</a:t>
            </a:r>
            <a:endParaRPr lang="en-US" sz="1300" dirty="0"/>
          </a:p>
        </p:txBody>
      </p:sp>
      <p:sp>
        <p:nvSpPr>
          <p:cNvPr id="58" name="Text 56"/>
          <p:cNvSpPr/>
          <p:nvPr/>
        </p:nvSpPr>
        <p:spPr>
          <a:xfrm>
            <a:off x="8096308" y="5038700"/>
            <a:ext cx="695434" cy="23864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5F0E"/>
                </a:solidFill>
                <a:latin typeface="IBM Plex Sans KR" pitchFamily="34" charset="0"/>
                <a:ea typeface="IBM Plex Sans KR" pitchFamily="34" charset="-122"/>
                <a:cs typeface="IBM Plex Sans KR" pitchFamily="34" charset="-120"/>
              </a:rPr>
              <a:t>원천 추가</a:t>
            </a:r>
            <a:endParaRPr lang="en-US" sz="1200" dirty="0"/>
          </a:p>
        </p:txBody>
      </p:sp>
      <p:sp>
        <p:nvSpPr>
          <p:cNvPr id="59" name="Text 57"/>
          <p:cNvSpPr/>
          <p:nvPr/>
        </p:nvSpPr>
        <p:spPr>
          <a:xfrm>
            <a:off x="9493556" y="4782300"/>
            <a:ext cx="248939" cy="25647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F1B2A"/>
                </a:solidFill>
                <a:latin typeface="JetBrains Mono" pitchFamily="49" charset="0"/>
                <a:ea typeface="JetBrains Mono" pitchFamily="49" charset="-122"/>
                <a:cs typeface="JetBrains Mono" pitchFamily="49" charset="-120"/>
              </a:rPr>
              <a:t>E9</a:t>
            </a:r>
            <a:endParaRPr lang="en-US" sz="1300" dirty="0"/>
          </a:p>
        </p:txBody>
      </p:sp>
      <p:sp>
        <p:nvSpPr>
          <p:cNvPr id="60" name="Text 58"/>
          <p:cNvSpPr/>
          <p:nvPr/>
        </p:nvSpPr>
        <p:spPr>
          <a:xfrm>
            <a:off x="9270364" y="5038700"/>
            <a:ext cx="695434"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위임 확장</a:t>
            </a:r>
            <a:endParaRPr lang="en-US" sz="1200" dirty="0"/>
          </a:p>
        </p:txBody>
      </p:sp>
      <p:sp>
        <p:nvSpPr>
          <p:cNvPr id="61" name="Text 59"/>
          <p:cNvSpPr/>
          <p:nvPr/>
        </p:nvSpPr>
        <p:spPr>
          <a:xfrm>
            <a:off x="10613843" y="4782300"/>
            <a:ext cx="356586" cy="25647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F1B2A"/>
                </a:solidFill>
                <a:latin typeface="JetBrains Mono" pitchFamily="49" charset="0"/>
                <a:ea typeface="JetBrains Mono" pitchFamily="49" charset="-122"/>
                <a:cs typeface="JetBrains Mono" pitchFamily="49" charset="-120"/>
              </a:rPr>
              <a:t>E10</a:t>
            </a:r>
            <a:endParaRPr lang="en-US" sz="1300" dirty="0"/>
          </a:p>
        </p:txBody>
      </p:sp>
      <p:sp>
        <p:nvSpPr>
          <p:cNvPr id="62" name="Text 60"/>
          <p:cNvSpPr/>
          <p:nvPr/>
        </p:nvSpPr>
        <p:spPr>
          <a:xfrm>
            <a:off x="10444419" y="5038700"/>
            <a:ext cx="695434"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보조 원천</a:t>
            </a:r>
            <a:endParaRPr lang="en-US" sz="1200" dirty="0"/>
          </a:p>
        </p:txBody>
      </p:sp>
      <p:sp>
        <p:nvSpPr>
          <p:cNvPr id="63" name="Text 61"/>
          <p:cNvSpPr/>
          <p:nvPr/>
        </p:nvSpPr>
        <p:spPr>
          <a:xfrm>
            <a:off x="812774" y="6238292"/>
            <a:ext cx="7194537"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E0~E3 주황 막대는 Full-Recall@5 · 1문항 = 0.034</a:t>
            </a:r>
            <a:endParaRPr lang="en-US" sz="1200" dirty="0"/>
          </a:p>
        </p:txBody>
      </p:sp>
      <p:sp>
        <p:nvSpPr>
          <p:cNvPr id="64" name="Text 62"/>
          <p:cNvSpPr/>
          <p:nvPr/>
        </p:nvSpPr>
        <p:spPr>
          <a:xfrm>
            <a:off x="10058445" y="6238292"/>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03 · 실험 결과 · dev 29문항</a:t>
            </a:r>
            <a:endParaRPr lang="en-US" sz="1200" dirty="0"/>
          </a:p>
        </p:txBody>
      </p:sp>
      <p:sp>
        <p:nvSpPr>
          <p:cNvPr id="3" name="Text 1"/>
          <p:cNvSpPr>
            <a:spLocks noGrp="1"/>
          </p:cNvSpPr>
          <p:nvPr>
            <p:ph type="title"/>
          </p:nvPr>
        </p:nvSpPr>
        <p:spPr>
          <a:xfrm>
            <a:off x="812774" y="1102215"/>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핵심 기법 3가지</a:t>
            </a:r>
            <a:endParaRPr lang="en-US" sz="3200" dirty="0"/>
          </a:p>
        </p:txBody>
      </p:sp>
      <p:sp>
        <p:nvSpPr>
          <p:cNvPr id="4" name="Shape 2"/>
          <p:cNvSpPr/>
          <p:nvPr/>
        </p:nvSpPr>
        <p:spPr>
          <a:xfrm>
            <a:off x="815949" y="1928161"/>
            <a:ext cx="3380281" cy="2933897"/>
          </a:xfrm>
          <a:prstGeom prst="roundRect">
            <a:avLst>
              <a:gd name="adj" fmla="val 3355"/>
            </a:avLst>
          </a:prstGeom>
          <a:solidFill>
            <a:srgbClr val="FDFDFE"/>
          </a:solidFill>
          <a:ln w="6350">
            <a:solidFill>
              <a:srgbClr val="DCE2EA"/>
            </a:solidFill>
            <a:prstDash val="solid"/>
          </a:ln>
        </p:spPr>
      </p:sp>
      <p:sp>
        <p:nvSpPr>
          <p:cNvPr id="5" name="Text 3"/>
          <p:cNvSpPr/>
          <p:nvPr/>
        </p:nvSpPr>
        <p:spPr>
          <a:xfrm>
            <a:off x="1073627" y="2211276"/>
            <a:ext cx="2950873"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E3 → E4</a:t>
            </a:r>
            <a:endParaRPr lang="en-US" sz="1200" dirty="0"/>
          </a:p>
        </p:txBody>
      </p:sp>
      <p:sp>
        <p:nvSpPr>
          <p:cNvPr id="6" name="Text 4"/>
          <p:cNvSpPr/>
          <p:nvPr/>
        </p:nvSpPr>
        <p:spPr>
          <a:xfrm>
            <a:off x="1073627" y="2526035"/>
            <a:ext cx="2950873" cy="29962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BM Plex Sans KR" pitchFamily="34" charset="0"/>
                <a:ea typeface="IBM Plex Sans KR" pitchFamily="34" charset="-122"/>
                <a:cs typeface="IBM Plex Sans KR" pitchFamily="34" charset="-120"/>
              </a:rPr>
              <a:t>Rerank</a:t>
            </a:r>
            <a:endParaRPr lang="en-US" sz="1800" dirty="0"/>
          </a:p>
        </p:txBody>
      </p:sp>
      <p:sp>
        <p:nvSpPr>
          <p:cNvPr id="7" name="Text 5"/>
          <p:cNvSpPr/>
          <p:nvPr/>
        </p:nvSpPr>
        <p:spPr>
          <a:xfrm>
            <a:off x="1073627" y="2901776"/>
            <a:ext cx="2950873" cy="695901"/>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0B6BCB"/>
                </a:solidFill>
                <a:latin typeface="JetBrains Mono" pitchFamily="49" charset="0"/>
                <a:ea typeface="JetBrains Mono" pitchFamily="49" charset="-122"/>
                <a:cs typeface="JetBrains Mono" pitchFamily="49" charset="-120"/>
              </a:rPr>
              <a:t>+0.276</a:t>
            </a:r>
            <a:endParaRPr lang="en-US" sz="4800" dirty="0"/>
          </a:p>
        </p:txBody>
      </p:sp>
      <p:sp>
        <p:nvSpPr>
          <p:cNvPr id="8" name="Text 6"/>
          <p:cNvSpPr/>
          <p:nvPr/>
        </p:nvSpPr>
        <p:spPr>
          <a:xfrm>
            <a:off x="1073627" y="3673791"/>
            <a:ext cx="2950873"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A"/>
                </a:solidFill>
                <a:latin typeface="JetBrains Mono" pitchFamily="49" charset="0"/>
                <a:ea typeface="JetBrains Mono" pitchFamily="49" charset="-122"/>
                <a:cs typeface="JetBrains Mono" pitchFamily="49" charset="-120"/>
              </a:rPr>
              <a:t>Hit@1 0.483 → 0.759</a:t>
            </a:r>
            <a:endParaRPr lang="en-US" sz="1300" dirty="0"/>
          </a:p>
        </p:txBody>
      </p:sp>
      <p:pic>
        <p:nvPicPr>
          <p:cNvPr id="9" name="Image 0" descr="line"/>
          <p:cNvPicPr>
            <a:picLocks noChangeAspect="1"/>
          </p:cNvPicPr>
          <p:nvPr/>
        </p:nvPicPr>
        <p:blipFill>
          <a:blip r:embed="rId3"/>
          <a:srcRect t="-4750" b="-4750"/>
          <a:stretch/>
        </p:blipFill>
        <p:spPr>
          <a:xfrm>
            <a:off x="1073627" y="4006379"/>
            <a:ext cx="2864926" cy="13912"/>
          </a:xfrm>
          <a:prstGeom prst="rect">
            <a:avLst/>
          </a:prstGeom>
        </p:spPr>
      </p:pic>
      <p:sp>
        <p:nvSpPr>
          <p:cNvPr id="10" name="Text 7"/>
          <p:cNvSpPr/>
          <p:nvPr/>
        </p:nvSpPr>
        <p:spPr>
          <a:xfrm>
            <a:off x="1073627" y="4121807"/>
            <a:ext cx="2950873" cy="482545"/>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후보 20개 안의 정답을</a:t>
            </a:r>
            <a:endParaRPr lang="en-US" sz="1200" dirty="0"/>
          </a:p>
          <a:p>
            <a:pPr marL="0" indent="0" algn="l">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상위로 복원 · 악화 0건</a:t>
            </a:r>
            <a:endParaRPr lang="en-US" sz="1200" dirty="0"/>
          </a:p>
        </p:txBody>
      </p:sp>
      <p:sp>
        <p:nvSpPr>
          <p:cNvPr id="11" name="Shape 8"/>
          <p:cNvSpPr/>
          <p:nvPr/>
        </p:nvSpPr>
        <p:spPr>
          <a:xfrm>
            <a:off x="4405719" y="1928161"/>
            <a:ext cx="3380390" cy="2933897"/>
          </a:xfrm>
          <a:prstGeom prst="roundRect">
            <a:avLst>
              <a:gd name="adj" fmla="val 3355"/>
            </a:avLst>
          </a:prstGeom>
          <a:solidFill>
            <a:srgbClr val="FDFDFE"/>
          </a:solidFill>
          <a:ln w="6350">
            <a:solidFill>
              <a:srgbClr val="DCE2EA"/>
            </a:solidFill>
            <a:prstDash val="solid"/>
          </a:ln>
        </p:spPr>
      </p:sp>
      <p:sp>
        <p:nvSpPr>
          <p:cNvPr id="12" name="Text 9"/>
          <p:cNvSpPr/>
          <p:nvPr/>
        </p:nvSpPr>
        <p:spPr>
          <a:xfrm>
            <a:off x="4663397" y="2211276"/>
            <a:ext cx="2950985"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E6 → E8</a:t>
            </a:r>
            <a:endParaRPr lang="en-US" sz="1200" dirty="0"/>
          </a:p>
        </p:txBody>
      </p:sp>
      <p:sp>
        <p:nvSpPr>
          <p:cNvPr id="13" name="Text 10"/>
          <p:cNvSpPr/>
          <p:nvPr/>
        </p:nvSpPr>
        <p:spPr>
          <a:xfrm>
            <a:off x="4663397" y="2526035"/>
            <a:ext cx="2950985" cy="29962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BM Plex Sans KR" pitchFamily="34" charset="0"/>
                <a:ea typeface="IBM Plex Sans KR" pitchFamily="34" charset="-122"/>
                <a:cs typeface="IBM Plex Sans KR" pitchFamily="34" charset="-120"/>
              </a:rPr>
              <a:t>시행령 · 별표 추가</a:t>
            </a:r>
            <a:endParaRPr lang="en-US" sz="1800" dirty="0"/>
          </a:p>
        </p:txBody>
      </p:sp>
      <p:sp>
        <p:nvSpPr>
          <p:cNvPr id="14" name="Text 11"/>
          <p:cNvSpPr/>
          <p:nvPr/>
        </p:nvSpPr>
        <p:spPr>
          <a:xfrm>
            <a:off x="4663397" y="2901776"/>
            <a:ext cx="2950985" cy="695901"/>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85F0E"/>
                </a:solidFill>
                <a:latin typeface="JetBrains Mono" pitchFamily="49" charset="0"/>
                <a:ea typeface="JetBrains Mono" pitchFamily="49" charset="-122"/>
                <a:cs typeface="JetBrains Mono" pitchFamily="49" charset="-120"/>
              </a:rPr>
              <a:t>+0.571</a:t>
            </a:r>
            <a:endParaRPr lang="en-US" sz="4800" dirty="0"/>
          </a:p>
        </p:txBody>
      </p:sp>
      <p:sp>
        <p:nvSpPr>
          <p:cNvPr id="15" name="Text 12"/>
          <p:cNvSpPr/>
          <p:nvPr/>
        </p:nvSpPr>
        <p:spPr>
          <a:xfrm>
            <a:off x="4663397" y="3673791"/>
            <a:ext cx="2950985"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A"/>
                </a:solidFill>
                <a:latin typeface="JetBrains Mono" pitchFamily="49" charset="0"/>
                <a:ea typeface="JetBrains Mono" pitchFamily="49" charset="-122"/>
                <a:cs typeface="JetBrains Mono" pitchFamily="49" charset="-120"/>
              </a:rPr>
              <a:t>Full-R 0.143 → 0.714</a:t>
            </a:r>
            <a:endParaRPr lang="en-US" sz="1300" dirty="0"/>
          </a:p>
        </p:txBody>
      </p:sp>
      <p:pic>
        <p:nvPicPr>
          <p:cNvPr id="16" name="Image 1" descr="line"/>
          <p:cNvPicPr>
            <a:picLocks noChangeAspect="1"/>
          </p:cNvPicPr>
          <p:nvPr/>
        </p:nvPicPr>
        <p:blipFill>
          <a:blip r:embed="rId3"/>
          <a:srcRect t="-4750" b="-4750"/>
          <a:stretch/>
        </p:blipFill>
        <p:spPr>
          <a:xfrm>
            <a:off x="4663397" y="4006379"/>
            <a:ext cx="2865034" cy="13912"/>
          </a:xfrm>
          <a:prstGeom prst="rect">
            <a:avLst/>
          </a:prstGeom>
        </p:spPr>
      </p:pic>
      <p:sp>
        <p:nvSpPr>
          <p:cNvPr id="17" name="Text 13"/>
          <p:cNvSpPr/>
          <p:nvPr/>
        </p:nvSpPr>
        <p:spPr>
          <a:xfrm>
            <a:off x="4663397" y="4121807"/>
            <a:ext cx="2950985" cy="482545"/>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법률만으로는 닿을 수 없던</a:t>
            </a:r>
            <a:endParaRPr lang="en-US" sz="1200" dirty="0"/>
          </a:p>
          <a:p>
            <a:pPr marL="0" indent="0" algn="l">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하위 법령 정답을 확보</a:t>
            </a:r>
            <a:endParaRPr lang="en-US" sz="1200" dirty="0"/>
          </a:p>
        </p:txBody>
      </p:sp>
      <p:sp>
        <p:nvSpPr>
          <p:cNvPr id="18" name="Shape 14"/>
          <p:cNvSpPr/>
          <p:nvPr/>
        </p:nvSpPr>
        <p:spPr>
          <a:xfrm>
            <a:off x="7995599" y="1928161"/>
            <a:ext cx="3380390" cy="2933897"/>
          </a:xfrm>
          <a:prstGeom prst="roundRect">
            <a:avLst>
              <a:gd name="adj" fmla="val 3355"/>
            </a:avLst>
          </a:prstGeom>
          <a:solidFill>
            <a:srgbClr val="FDFDFE"/>
          </a:solidFill>
          <a:ln w="6350">
            <a:solidFill>
              <a:srgbClr val="DCE2EA"/>
            </a:solidFill>
            <a:prstDash val="solid"/>
          </a:ln>
        </p:spPr>
      </p:sp>
      <p:sp>
        <p:nvSpPr>
          <p:cNvPr id="19" name="Text 15"/>
          <p:cNvSpPr/>
          <p:nvPr/>
        </p:nvSpPr>
        <p:spPr>
          <a:xfrm>
            <a:off x="8253276" y="2211276"/>
            <a:ext cx="2950985"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E8 → E9</a:t>
            </a:r>
            <a:endParaRPr lang="en-US" sz="1200" dirty="0"/>
          </a:p>
        </p:txBody>
      </p:sp>
      <p:sp>
        <p:nvSpPr>
          <p:cNvPr id="20" name="Text 16"/>
          <p:cNvSpPr/>
          <p:nvPr/>
        </p:nvSpPr>
        <p:spPr>
          <a:xfrm>
            <a:off x="8253276" y="2526035"/>
            <a:ext cx="2950985" cy="29962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BM Plex Sans KR" pitchFamily="34" charset="0"/>
                <a:ea typeface="IBM Plex Sans KR" pitchFamily="34" charset="-122"/>
                <a:cs typeface="IBM Plex Sans KR" pitchFamily="34" charset="-120"/>
              </a:rPr>
              <a:t>위임 확장</a:t>
            </a:r>
            <a:endParaRPr lang="en-US" sz="1800" dirty="0"/>
          </a:p>
        </p:txBody>
      </p:sp>
      <p:sp>
        <p:nvSpPr>
          <p:cNvPr id="21" name="Text 17"/>
          <p:cNvSpPr/>
          <p:nvPr/>
        </p:nvSpPr>
        <p:spPr>
          <a:xfrm>
            <a:off x="8253276" y="2901776"/>
            <a:ext cx="2950985" cy="695901"/>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0F1B2A"/>
                </a:solidFill>
                <a:latin typeface="JetBrains Mono" pitchFamily="49" charset="0"/>
                <a:ea typeface="JetBrains Mono" pitchFamily="49" charset="-122"/>
                <a:cs typeface="JetBrains Mono" pitchFamily="49" charset="-120"/>
              </a:rPr>
              <a:t>+0.095</a:t>
            </a:r>
            <a:endParaRPr lang="en-US" sz="4800" dirty="0"/>
          </a:p>
        </p:txBody>
      </p:sp>
      <p:sp>
        <p:nvSpPr>
          <p:cNvPr id="22" name="Text 18"/>
          <p:cNvSpPr/>
          <p:nvPr/>
        </p:nvSpPr>
        <p:spPr>
          <a:xfrm>
            <a:off x="8253276" y="3673791"/>
            <a:ext cx="2950985"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A"/>
                </a:solidFill>
                <a:latin typeface="JetBrains Mono" pitchFamily="49" charset="0"/>
                <a:ea typeface="JetBrains Mono" pitchFamily="49" charset="-122"/>
                <a:cs typeface="JetBrains Mono" pitchFamily="49" charset="-120"/>
              </a:rPr>
              <a:t>Full-R@ctx 0.714 → 0.809</a:t>
            </a:r>
            <a:endParaRPr lang="en-US" sz="1300" dirty="0"/>
          </a:p>
        </p:txBody>
      </p:sp>
      <p:pic>
        <p:nvPicPr>
          <p:cNvPr id="23" name="Image 2" descr="line"/>
          <p:cNvPicPr>
            <a:picLocks noChangeAspect="1"/>
          </p:cNvPicPr>
          <p:nvPr/>
        </p:nvPicPr>
        <p:blipFill>
          <a:blip r:embed="rId3"/>
          <a:srcRect t="-4750" b="-4750"/>
          <a:stretch/>
        </p:blipFill>
        <p:spPr>
          <a:xfrm>
            <a:off x="8253276" y="4006379"/>
            <a:ext cx="2865034" cy="13912"/>
          </a:xfrm>
          <a:prstGeom prst="rect">
            <a:avLst/>
          </a:prstGeom>
        </p:spPr>
      </p:pic>
      <p:sp>
        <p:nvSpPr>
          <p:cNvPr id="24" name="Text 19"/>
          <p:cNvSpPr/>
          <p:nvPr/>
        </p:nvSpPr>
        <p:spPr>
          <a:xfrm>
            <a:off x="8253276" y="4121807"/>
            <a:ext cx="2950985" cy="482545"/>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개수만 늘린 대조군(k=8)은</a:t>
            </a:r>
            <a:endParaRPr lang="en-US" sz="1200" dirty="0"/>
          </a:p>
          <a:p>
            <a:pPr marL="0" indent="0" algn="l">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0.714 그대로</a:t>
            </a:r>
            <a:endParaRPr lang="en-US" sz="1200" dirty="0"/>
          </a:p>
        </p:txBody>
      </p:sp>
      <p:sp>
        <p:nvSpPr>
          <p:cNvPr id="25" name="Text 20"/>
          <p:cNvSpPr/>
          <p:nvPr/>
        </p:nvSpPr>
        <p:spPr>
          <a:xfrm>
            <a:off x="812774" y="6238298"/>
            <a:ext cx="588640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Law-bot · AI 기본법 RAG QA</a:t>
            </a:r>
            <a:endParaRPr lang="en-US" sz="1200" dirty="0"/>
          </a:p>
        </p:txBody>
      </p:sp>
      <p:sp>
        <p:nvSpPr>
          <p:cNvPr id="26" name="Text 21"/>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03 · 실험 결과 · 실제 검색 출력</a:t>
            </a:r>
            <a:endParaRPr lang="en-US" sz="1200" dirty="0"/>
          </a:p>
        </p:txBody>
      </p:sp>
      <p:sp>
        <p:nvSpPr>
          <p:cNvPr id="3" name="Text 1"/>
          <p:cNvSpPr>
            <a:spLocks noGrp="1"/>
          </p:cNvSpPr>
          <p:nvPr>
            <p:ph type="title"/>
          </p:nvPr>
        </p:nvSpPr>
        <p:spPr>
          <a:xfrm>
            <a:off x="812774" y="1102215"/>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Before / After</a:t>
            </a:r>
            <a:endParaRPr lang="en-US" sz="3200" dirty="0"/>
          </a:p>
        </p:txBody>
      </p:sp>
      <p:sp>
        <p:nvSpPr>
          <p:cNvPr id="4" name="Text 2"/>
          <p:cNvSpPr/>
          <p:nvPr/>
        </p:nvSpPr>
        <p:spPr>
          <a:xfrm>
            <a:off x="1066671" y="1823362"/>
            <a:ext cx="4447524"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질문</a:t>
            </a:r>
            <a:endParaRPr lang="en-US" sz="1200" dirty="0"/>
          </a:p>
        </p:txBody>
      </p:sp>
      <p:sp>
        <p:nvSpPr>
          <p:cNvPr id="5" name="Text 3"/>
          <p:cNvSpPr/>
          <p:nvPr/>
        </p:nvSpPr>
        <p:spPr>
          <a:xfrm>
            <a:off x="5561126" y="1823362"/>
            <a:ext cx="1831268"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기법</a:t>
            </a:r>
            <a:endParaRPr lang="en-US" sz="1200" dirty="0"/>
          </a:p>
        </p:txBody>
      </p:sp>
      <p:sp>
        <p:nvSpPr>
          <p:cNvPr id="6" name="Text 4"/>
          <p:cNvSpPr/>
          <p:nvPr/>
        </p:nvSpPr>
        <p:spPr>
          <a:xfrm>
            <a:off x="7568864" y="1823362"/>
            <a:ext cx="3663095"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정답 순위 Before → After</a:t>
            </a:r>
            <a:endParaRPr lang="en-US" sz="1200" dirty="0"/>
          </a:p>
        </p:txBody>
      </p:sp>
      <p:sp>
        <p:nvSpPr>
          <p:cNvPr id="7" name="Shape 5"/>
          <p:cNvSpPr/>
          <p:nvPr/>
        </p:nvSpPr>
        <p:spPr>
          <a:xfrm>
            <a:off x="815949" y="2166733"/>
            <a:ext cx="10560039" cy="944567"/>
          </a:xfrm>
          <a:prstGeom prst="roundRect">
            <a:avLst>
              <a:gd name="adj" fmla="val 10420"/>
            </a:avLst>
          </a:prstGeom>
          <a:solidFill>
            <a:srgbClr val="FDFDFE"/>
          </a:solidFill>
          <a:ln w="6350">
            <a:solidFill>
              <a:srgbClr val="DCE2EA"/>
            </a:solidFill>
            <a:prstDash val="solid"/>
          </a:ln>
        </p:spPr>
      </p:sp>
      <p:sp>
        <p:nvSpPr>
          <p:cNvPr id="8" name="Text 6"/>
          <p:cNvSpPr/>
          <p:nvPr/>
        </p:nvSpPr>
        <p:spPr>
          <a:xfrm>
            <a:off x="1073627" y="2373654"/>
            <a:ext cx="4447524"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q009 · E0 → E1</a:t>
            </a:r>
            <a:endParaRPr lang="en-US" sz="1200" dirty="0"/>
          </a:p>
        </p:txBody>
      </p:sp>
      <p:sp>
        <p:nvSpPr>
          <p:cNvPr id="9" name="Text 7"/>
          <p:cNvSpPr/>
          <p:nvPr/>
        </p:nvSpPr>
        <p:spPr>
          <a:xfrm>
            <a:off x="1073627" y="2637662"/>
            <a:ext cx="4447524" cy="29212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“인공지능기본법 31조를 요약해 주세요.”</a:t>
            </a:r>
            <a:endParaRPr lang="en-US" sz="1500" dirty="0"/>
          </a:p>
        </p:txBody>
      </p:sp>
      <p:sp>
        <p:nvSpPr>
          <p:cNvPr id="10" name="Text 8"/>
          <p:cNvSpPr/>
          <p:nvPr/>
        </p:nvSpPr>
        <p:spPr>
          <a:xfrm>
            <a:off x="5594751" y="2438326"/>
            <a:ext cx="1777930" cy="401279"/>
          </a:xfrm>
          <a:prstGeom prst="roundRect">
            <a:avLst>
              <a:gd name="adj" fmla="val 50000"/>
            </a:avLst>
          </a:prstGeom>
          <a:solidFill>
            <a:srgbClr val="DCEBFA"/>
          </a:solidFill>
          <a:ln/>
        </p:spPr>
        <p:txBody>
          <a:bodyPr wrap="square" lIns="68235" tIns="17435" rIns="68235" bIns="0" rtlCol="0" anchor="t">
            <a:normAutofit/>
          </a:bodyPr>
          <a:lstStyle/>
          <a:p>
            <a:pPr marL="0" indent="0" algn="ctr">
              <a:lnSpc>
                <a:spcPts val="1960"/>
              </a:lnSpc>
              <a:buNone/>
            </a:pPr>
            <a:r>
              <a:rPr lang="en-US" sz="1400" b="1" dirty="0">
                <a:solidFill>
                  <a:srgbClr val="0B6BCB"/>
                </a:solidFill>
                <a:latin typeface="IBM Plex Sans KR" pitchFamily="34" charset="0"/>
                <a:ea typeface="IBM Plex Sans KR" pitchFamily="34" charset="-122"/>
                <a:cs typeface="IBM Plex Sans KR" pitchFamily="34" charset="-120"/>
              </a:rPr>
              <a:t>구조 청킹</a:t>
            </a:r>
            <a:endParaRPr lang="en-US" sz="1400" dirty="0"/>
          </a:p>
        </p:txBody>
      </p:sp>
      <p:sp>
        <p:nvSpPr>
          <p:cNvPr id="11" name="Text 9"/>
          <p:cNvSpPr/>
          <p:nvPr/>
        </p:nvSpPr>
        <p:spPr>
          <a:xfrm>
            <a:off x="7575820" y="2459955"/>
            <a:ext cx="709194" cy="358021"/>
          </a:xfrm>
          <a:prstGeom prst="roundRect">
            <a:avLst>
              <a:gd name="adj" fmla="val 17736"/>
            </a:avLst>
          </a:prstGeom>
          <a:solidFill>
            <a:srgbClr val="FBEBDC"/>
          </a:solidFill>
          <a:ln/>
        </p:spPr>
        <p:txBody>
          <a:bodyPr wrap="none" lIns="0" tIns="0" rIns="0" bIns="0" rtlCol="0" anchor="ctr">
            <a:normAutofit/>
          </a:bodyPr>
          <a:lstStyle/>
          <a:p>
            <a:pPr marL="0" indent="0" algn="ctr">
              <a:lnSpc>
                <a:spcPts val="1820"/>
              </a:lnSpc>
              <a:buNone/>
            </a:pPr>
            <a:r>
              <a:rPr lang="en-US" sz="1300" b="1" dirty="0">
                <a:solidFill>
                  <a:srgbClr val="B85F0E"/>
                </a:solidFill>
                <a:latin typeface="IBM Plex Sans KR" pitchFamily="34" charset="0"/>
                <a:ea typeface="IBM Plex Sans KR" pitchFamily="34" charset="-122"/>
                <a:cs typeface="IBM Plex Sans KR" pitchFamily="34" charset="-120"/>
              </a:rPr>
              <a:t>순위 밖</a:t>
            </a:r>
            <a:endParaRPr lang="en-US" sz="1300" dirty="0"/>
          </a:p>
        </p:txBody>
      </p:sp>
      <p:pic>
        <p:nvPicPr>
          <p:cNvPr id="12" name="Image 0" descr="connector"/>
          <p:cNvPicPr>
            <a:picLocks noChangeAspect="1"/>
          </p:cNvPicPr>
          <p:nvPr/>
        </p:nvPicPr>
        <p:blipFill>
          <a:blip r:embed="rId3"/>
          <a:srcRect l="-31" r="-31"/>
          <a:stretch/>
        </p:blipFill>
        <p:spPr>
          <a:xfrm>
            <a:off x="8411962" y="2588208"/>
            <a:ext cx="355521" cy="101515"/>
          </a:xfrm>
          <a:prstGeom prst="rect">
            <a:avLst/>
          </a:prstGeom>
        </p:spPr>
      </p:pic>
      <p:sp>
        <p:nvSpPr>
          <p:cNvPr id="13" name="Text 10"/>
          <p:cNvSpPr/>
          <p:nvPr/>
        </p:nvSpPr>
        <p:spPr>
          <a:xfrm>
            <a:off x="8894431" y="2459955"/>
            <a:ext cx="1192532" cy="358021"/>
          </a:xfrm>
          <a:prstGeom prst="roundRect">
            <a:avLst>
              <a:gd name="adj" fmla="val 17736"/>
            </a:avLst>
          </a:prstGeom>
          <a:solidFill>
            <a:srgbClr val="0B6BCB"/>
          </a:solidFill>
          <a:ln/>
        </p:spPr>
        <p:txBody>
          <a:bodyPr wrap="none" lIns="0" tIns="0" rIns="0" bIns="0" rtlCol="0" anchor="ctr">
            <a:normAutofit/>
          </a:bodyPr>
          <a:lstStyle/>
          <a:p>
            <a:pPr marL="0" indent="0" algn="ctr">
              <a:lnSpc>
                <a:spcPts val="1820"/>
              </a:lnSpc>
              <a:buNone/>
            </a:pPr>
            <a:r>
              <a:rPr lang="en-US" sz="1300" b="1" dirty="0">
                <a:solidFill>
                  <a:srgbClr val="FDFDFE"/>
                </a:solidFill>
                <a:latin typeface="IBM Plex Sans KR" pitchFamily="34" charset="0"/>
                <a:ea typeface="IBM Plex Sans KR" pitchFamily="34" charset="-122"/>
                <a:cs typeface="IBM Plex Sans KR" pitchFamily="34" charset="-120"/>
              </a:rPr>
              <a:t>법 제31조 1위</a:t>
            </a:r>
            <a:endParaRPr lang="en-US" sz="1300" dirty="0"/>
          </a:p>
        </p:txBody>
      </p:sp>
      <p:sp>
        <p:nvSpPr>
          <p:cNvPr id="14" name="Shape 11"/>
          <p:cNvSpPr/>
          <p:nvPr/>
        </p:nvSpPr>
        <p:spPr>
          <a:xfrm>
            <a:off x="815949" y="3244602"/>
            <a:ext cx="10560039" cy="944567"/>
          </a:xfrm>
          <a:prstGeom prst="roundRect">
            <a:avLst>
              <a:gd name="adj" fmla="val 10420"/>
            </a:avLst>
          </a:prstGeom>
          <a:solidFill>
            <a:srgbClr val="FDFDFE"/>
          </a:solidFill>
          <a:ln w="6350">
            <a:solidFill>
              <a:srgbClr val="DCE2EA"/>
            </a:solidFill>
            <a:prstDash val="solid"/>
          </a:ln>
        </p:spPr>
      </p:sp>
      <p:sp>
        <p:nvSpPr>
          <p:cNvPr id="15" name="Text 12"/>
          <p:cNvSpPr/>
          <p:nvPr/>
        </p:nvSpPr>
        <p:spPr>
          <a:xfrm>
            <a:off x="1073627" y="3451523"/>
            <a:ext cx="4447524"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q013 · E2 → E3</a:t>
            </a:r>
            <a:endParaRPr lang="en-US" sz="1200" dirty="0"/>
          </a:p>
        </p:txBody>
      </p:sp>
      <p:sp>
        <p:nvSpPr>
          <p:cNvPr id="16" name="Text 13"/>
          <p:cNvSpPr/>
          <p:nvPr/>
        </p:nvSpPr>
        <p:spPr>
          <a:xfrm>
            <a:off x="1073627" y="3715525"/>
            <a:ext cx="4447524" cy="29212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“AI로 만든 이미지에 뭘 표시해야 하나요?”</a:t>
            </a:r>
            <a:endParaRPr lang="en-US" sz="1500" dirty="0"/>
          </a:p>
        </p:txBody>
      </p:sp>
      <p:sp>
        <p:nvSpPr>
          <p:cNvPr id="17" name="Text 14"/>
          <p:cNvSpPr/>
          <p:nvPr/>
        </p:nvSpPr>
        <p:spPr>
          <a:xfrm>
            <a:off x="5594751" y="3516188"/>
            <a:ext cx="1777930" cy="401279"/>
          </a:xfrm>
          <a:prstGeom prst="roundRect">
            <a:avLst>
              <a:gd name="adj" fmla="val 50000"/>
            </a:avLst>
          </a:prstGeom>
          <a:solidFill>
            <a:srgbClr val="DCEBFA"/>
          </a:solidFill>
          <a:ln/>
        </p:spPr>
        <p:txBody>
          <a:bodyPr wrap="square" lIns="68235" tIns="17435" rIns="68235" bIns="0" rtlCol="0" anchor="t">
            <a:normAutofit/>
          </a:bodyPr>
          <a:lstStyle/>
          <a:p>
            <a:pPr marL="0" indent="0" algn="ctr">
              <a:lnSpc>
                <a:spcPts val="1960"/>
              </a:lnSpc>
              <a:buNone/>
            </a:pPr>
            <a:r>
              <a:rPr lang="en-US" sz="1400" b="1" dirty="0">
                <a:solidFill>
                  <a:srgbClr val="0B6BCB"/>
                </a:solidFill>
                <a:latin typeface="IBM Plex Sans KR" pitchFamily="34" charset="0"/>
                <a:ea typeface="IBM Plex Sans KR" pitchFamily="34" charset="-122"/>
                <a:cs typeface="IBM Plex Sans KR" pitchFamily="34" charset="-120"/>
              </a:rPr>
              <a:t>BM25 + RRF</a:t>
            </a:r>
            <a:endParaRPr lang="en-US" sz="1400" dirty="0"/>
          </a:p>
        </p:txBody>
      </p:sp>
      <p:sp>
        <p:nvSpPr>
          <p:cNvPr id="18" name="Text 15"/>
          <p:cNvSpPr/>
          <p:nvPr/>
        </p:nvSpPr>
        <p:spPr>
          <a:xfrm>
            <a:off x="7575820" y="3537818"/>
            <a:ext cx="709194" cy="358021"/>
          </a:xfrm>
          <a:prstGeom prst="roundRect">
            <a:avLst>
              <a:gd name="adj" fmla="val 17736"/>
            </a:avLst>
          </a:prstGeom>
          <a:solidFill>
            <a:srgbClr val="FBEBDC"/>
          </a:solidFill>
          <a:ln/>
        </p:spPr>
        <p:txBody>
          <a:bodyPr wrap="none" lIns="0" tIns="0" rIns="0" bIns="0" rtlCol="0" anchor="ctr">
            <a:normAutofit/>
          </a:bodyPr>
          <a:lstStyle/>
          <a:p>
            <a:pPr marL="0" indent="0" algn="ctr">
              <a:lnSpc>
                <a:spcPts val="1820"/>
              </a:lnSpc>
              <a:buNone/>
            </a:pPr>
            <a:r>
              <a:rPr lang="en-US" sz="1300" b="1" dirty="0">
                <a:solidFill>
                  <a:srgbClr val="B85F0E"/>
                </a:solidFill>
                <a:latin typeface="IBM Plex Sans KR" pitchFamily="34" charset="0"/>
                <a:ea typeface="IBM Plex Sans KR" pitchFamily="34" charset="-122"/>
                <a:cs typeface="IBM Plex Sans KR" pitchFamily="34" charset="-120"/>
              </a:rPr>
              <a:t>순위 밖</a:t>
            </a:r>
            <a:endParaRPr lang="en-US" sz="1300" dirty="0"/>
          </a:p>
        </p:txBody>
      </p:sp>
      <p:pic>
        <p:nvPicPr>
          <p:cNvPr id="19" name="Image 1" descr="connector"/>
          <p:cNvPicPr>
            <a:picLocks noChangeAspect="1"/>
          </p:cNvPicPr>
          <p:nvPr/>
        </p:nvPicPr>
        <p:blipFill>
          <a:blip r:embed="rId3"/>
          <a:srcRect l="-31" r="-31"/>
          <a:stretch/>
        </p:blipFill>
        <p:spPr>
          <a:xfrm>
            <a:off x="8411962" y="3666071"/>
            <a:ext cx="355521" cy="101515"/>
          </a:xfrm>
          <a:prstGeom prst="rect">
            <a:avLst/>
          </a:prstGeom>
        </p:spPr>
      </p:pic>
      <p:sp>
        <p:nvSpPr>
          <p:cNvPr id="20" name="Text 16"/>
          <p:cNvSpPr/>
          <p:nvPr/>
        </p:nvSpPr>
        <p:spPr>
          <a:xfrm>
            <a:off x="8894431" y="3537818"/>
            <a:ext cx="1192532" cy="358021"/>
          </a:xfrm>
          <a:prstGeom prst="roundRect">
            <a:avLst>
              <a:gd name="adj" fmla="val 17736"/>
            </a:avLst>
          </a:prstGeom>
          <a:solidFill>
            <a:srgbClr val="0B6BCB"/>
          </a:solidFill>
          <a:ln/>
        </p:spPr>
        <p:txBody>
          <a:bodyPr wrap="none" lIns="0" tIns="0" rIns="0" bIns="0" rtlCol="0" anchor="ctr">
            <a:normAutofit/>
          </a:bodyPr>
          <a:lstStyle/>
          <a:p>
            <a:pPr marL="0" indent="0" algn="ctr">
              <a:lnSpc>
                <a:spcPts val="1820"/>
              </a:lnSpc>
              <a:buNone/>
            </a:pPr>
            <a:r>
              <a:rPr lang="en-US" sz="1300" b="1" dirty="0">
                <a:solidFill>
                  <a:srgbClr val="FDFDFE"/>
                </a:solidFill>
                <a:latin typeface="IBM Plex Sans KR" pitchFamily="34" charset="0"/>
                <a:ea typeface="IBM Plex Sans KR" pitchFamily="34" charset="-122"/>
                <a:cs typeface="IBM Plex Sans KR" pitchFamily="34" charset="-120"/>
              </a:rPr>
              <a:t>법 제31조 2위</a:t>
            </a:r>
            <a:endParaRPr lang="en-US" sz="1300" dirty="0"/>
          </a:p>
        </p:txBody>
      </p:sp>
      <p:sp>
        <p:nvSpPr>
          <p:cNvPr id="21" name="Shape 17"/>
          <p:cNvSpPr/>
          <p:nvPr/>
        </p:nvSpPr>
        <p:spPr>
          <a:xfrm>
            <a:off x="815949" y="4322465"/>
            <a:ext cx="10560039" cy="944567"/>
          </a:xfrm>
          <a:prstGeom prst="roundRect">
            <a:avLst>
              <a:gd name="adj" fmla="val 10420"/>
            </a:avLst>
          </a:prstGeom>
          <a:solidFill>
            <a:srgbClr val="FDFDFE"/>
          </a:solidFill>
          <a:ln w="6350">
            <a:solidFill>
              <a:srgbClr val="DCE2EA"/>
            </a:solidFill>
            <a:prstDash val="solid"/>
          </a:ln>
        </p:spPr>
      </p:sp>
      <p:sp>
        <p:nvSpPr>
          <p:cNvPr id="22" name="Text 18"/>
          <p:cNvSpPr/>
          <p:nvPr/>
        </p:nvSpPr>
        <p:spPr>
          <a:xfrm>
            <a:off x="1073627" y="4529386"/>
            <a:ext cx="4447524"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q014 · E8 → E9</a:t>
            </a:r>
            <a:endParaRPr lang="en-US" sz="1200" dirty="0"/>
          </a:p>
        </p:txBody>
      </p:sp>
      <p:sp>
        <p:nvSpPr>
          <p:cNvPr id="23" name="Text 19"/>
          <p:cNvSpPr/>
          <p:nvPr/>
        </p:nvSpPr>
        <p:spPr>
          <a:xfrm>
            <a:off x="1073627" y="4793388"/>
            <a:ext cx="4447524" cy="29212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“해외 AI 회사, 한국 서비스에 필요한 것은?”</a:t>
            </a:r>
            <a:endParaRPr lang="en-US" sz="1500" dirty="0"/>
          </a:p>
        </p:txBody>
      </p:sp>
      <p:sp>
        <p:nvSpPr>
          <p:cNvPr id="24" name="Text 20"/>
          <p:cNvSpPr/>
          <p:nvPr/>
        </p:nvSpPr>
        <p:spPr>
          <a:xfrm>
            <a:off x="5594751" y="4594058"/>
            <a:ext cx="1777930" cy="401279"/>
          </a:xfrm>
          <a:prstGeom prst="roundRect">
            <a:avLst>
              <a:gd name="adj" fmla="val 50000"/>
            </a:avLst>
          </a:prstGeom>
          <a:solidFill>
            <a:srgbClr val="DCEBFA"/>
          </a:solidFill>
          <a:ln/>
        </p:spPr>
        <p:txBody>
          <a:bodyPr wrap="square" lIns="68235" tIns="17435" rIns="68235" bIns="0" rtlCol="0" anchor="t">
            <a:normAutofit/>
          </a:bodyPr>
          <a:lstStyle/>
          <a:p>
            <a:pPr marL="0" indent="0" algn="ctr">
              <a:lnSpc>
                <a:spcPts val="1960"/>
              </a:lnSpc>
              <a:buNone/>
            </a:pPr>
            <a:r>
              <a:rPr lang="en-US" sz="1400" b="1" dirty="0">
                <a:solidFill>
                  <a:srgbClr val="0B6BCB"/>
                </a:solidFill>
                <a:latin typeface="IBM Plex Sans KR" pitchFamily="34" charset="0"/>
                <a:ea typeface="IBM Plex Sans KR" pitchFamily="34" charset="-122"/>
                <a:cs typeface="IBM Plex Sans KR" pitchFamily="34" charset="-120"/>
              </a:rPr>
              <a:t>위임 확장</a:t>
            </a:r>
            <a:endParaRPr lang="en-US" sz="1400" dirty="0"/>
          </a:p>
        </p:txBody>
      </p:sp>
      <p:sp>
        <p:nvSpPr>
          <p:cNvPr id="25" name="Text 21"/>
          <p:cNvSpPr/>
          <p:nvPr/>
        </p:nvSpPr>
        <p:spPr>
          <a:xfrm>
            <a:off x="7575820" y="4615687"/>
            <a:ext cx="1240682" cy="358021"/>
          </a:xfrm>
          <a:prstGeom prst="roundRect">
            <a:avLst>
              <a:gd name="adj" fmla="val 17736"/>
            </a:avLst>
          </a:prstGeom>
          <a:solidFill>
            <a:srgbClr val="FBEBDC"/>
          </a:solidFill>
          <a:ln/>
        </p:spPr>
        <p:txBody>
          <a:bodyPr wrap="none" lIns="0" tIns="0" rIns="0" bIns="0" rtlCol="0" anchor="ctr">
            <a:normAutofit/>
          </a:bodyPr>
          <a:lstStyle/>
          <a:p>
            <a:pPr marL="0" indent="0" algn="ctr">
              <a:lnSpc>
                <a:spcPts val="1820"/>
              </a:lnSpc>
              <a:buNone/>
            </a:pPr>
            <a:r>
              <a:rPr lang="en-US" sz="1300" b="1" dirty="0">
                <a:solidFill>
                  <a:srgbClr val="B85F0E"/>
                </a:solidFill>
                <a:latin typeface="IBM Plex Sans KR" pitchFamily="34" charset="0"/>
                <a:ea typeface="IBM Plex Sans KR" pitchFamily="34" charset="-122"/>
                <a:cs typeface="IBM Plex Sans KR" pitchFamily="34" charset="-120"/>
              </a:rPr>
              <a:t>영 제29조 누락</a:t>
            </a:r>
            <a:endParaRPr lang="en-US" sz="1300" dirty="0"/>
          </a:p>
        </p:txBody>
      </p:sp>
      <p:pic>
        <p:nvPicPr>
          <p:cNvPr id="26" name="Image 2" descr="connector"/>
          <p:cNvPicPr>
            <a:picLocks noChangeAspect="1"/>
          </p:cNvPicPr>
          <p:nvPr/>
        </p:nvPicPr>
        <p:blipFill>
          <a:blip r:embed="rId3"/>
          <a:srcRect l="-31" r="-31"/>
          <a:stretch/>
        </p:blipFill>
        <p:spPr>
          <a:xfrm>
            <a:off x="8943449" y="4743940"/>
            <a:ext cx="355521" cy="101515"/>
          </a:xfrm>
          <a:prstGeom prst="rect">
            <a:avLst/>
          </a:prstGeom>
        </p:spPr>
      </p:pic>
      <p:sp>
        <p:nvSpPr>
          <p:cNvPr id="27" name="Text 22"/>
          <p:cNvSpPr/>
          <p:nvPr/>
        </p:nvSpPr>
        <p:spPr>
          <a:xfrm>
            <a:off x="9425918" y="4615687"/>
            <a:ext cx="1045259" cy="358021"/>
          </a:xfrm>
          <a:prstGeom prst="roundRect">
            <a:avLst>
              <a:gd name="adj" fmla="val 17736"/>
            </a:avLst>
          </a:prstGeom>
          <a:solidFill>
            <a:srgbClr val="0B6BCB"/>
          </a:solidFill>
          <a:ln/>
        </p:spPr>
        <p:txBody>
          <a:bodyPr wrap="none" lIns="0" tIns="0" rIns="0" bIns="0" rtlCol="0" anchor="ctr">
            <a:normAutofit/>
          </a:bodyPr>
          <a:lstStyle/>
          <a:p>
            <a:pPr marL="0" indent="0" algn="ctr">
              <a:lnSpc>
                <a:spcPts val="1820"/>
              </a:lnSpc>
              <a:buNone/>
            </a:pPr>
            <a:r>
              <a:rPr lang="en-US" sz="1300" b="1" dirty="0">
                <a:solidFill>
                  <a:srgbClr val="FDFDFE"/>
                </a:solidFill>
                <a:latin typeface="IBM Plex Sans KR" pitchFamily="34" charset="0"/>
                <a:ea typeface="IBM Plex Sans KR" pitchFamily="34" charset="-122"/>
                <a:cs typeface="IBM Plex Sans KR" pitchFamily="34" charset="-120"/>
              </a:rPr>
              <a:t>+ 영 제29조</a:t>
            </a:r>
            <a:endParaRPr lang="en-US" sz="1300" dirty="0"/>
          </a:p>
        </p:txBody>
      </p:sp>
      <p:sp>
        <p:nvSpPr>
          <p:cNvPr id="28" name="Text 23"/>
          <p:cNvSpPr/>
          <p:nvPr/>
        </p:nvSpPr>
        <p:spPr>
          <a:xfrm>
            <a:off x="812774" y="6238298"/>
            <a:ext cx="7194537"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출처: eval/results 저장 결과 · q014 정답 = 법 제36조 + 영 제29조</a:t>
            </a:r>
            <a:endParaRPr lang="en-US" sz="1200" dirty="0"/>
          </a:p>
        </p:txBody>
      </p:sp>
      <p:sp>
        <p:nvSpPr>
          <p:cNvPr id="29" name="Text 24"/>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03 · 실험 결과</a:t>
            </a:r>
            <a:endParaRPr lang="en-US" sz="1200" dirty="0"/>
          </a:p>
        </p:txBody>
      </p:sp>
      <p:sp>
        <p:nvSpPr>
          <p:cNvPr id="3" name="Text 1"/>
          <p:cNvSpPr>
            <a:spLocks noGrp="1"/>
          </p:cNvSpPr>
          <p:nvPr>
            <p:ph type="title"/>
          </p:nvPr>
        </p:nvSpPr>
        <p:spPr>
          <a:xfrm>
            <a:off x="812774" y="1102215"/>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채택 · 기각 판단</a:t>
            </a:r>
            <a:endParaRPr lang="en-US" sz="3200" dirty="0"/>
          </a:p>
        </p:txBody>
      </p:sp>
      <p:sp>
        <p:nvSpPr>
          <p:cNvPr id="4" name="Shape 2"/>
          <p:cNvSpPr/>
          <p:nvPr/>
        </p:nvSpPr>
        <p:spPr>
          <a:xfrm>
            <a:off x="812774" y="1874230"/>
            <a:ext cx="10566389" cy="2455495"/>
          </a:xfrm>
          <a:prstGeom prst="roundRect">
            <a:avLst>
              <a:gd name="adj" fmla="val 4138"/>
            </a:avLst>
          </a:prstGeom>
          <a:solidFill>
            <a:srgbClr val="FDFDFE"/>
          </a:solidFill>
          <a:ln/>
        </p:spPr>
      </p:sp>
      <p:sp>
        <p:nvSpPr>
          <p:cNvPr id="5" name="Shape 3"/>
          <p:cNvSpPr/>
          <p:nvPr/>
        </p:nvSpPr>
        <p:spPr>
          <a:xfrm>
            <a:off x="812774" y="1874230"/>
            <a:ext cx="10566389" cy="2455495"/>
          </a:xfrm>
          <a:custGeom>
            <a:avLst/>
            <a:gdLst/>
            <a:ahLst/>
            <a:cxnLst/>
            <a:rect l="l" t="t" r="r" b="b"/>
            <a:pathLst>
              <a:path w="10566389" h="2455495">
                <a:moveTo>
                  <a:pt x="10464789" y="0"/>
                </a:moveTo>
                <a:lnTo>
                  <a:pt x="10464789" y="0"/>
                </a:lnTo>
                <a:arcTo wR="101600" hR="101600" stAng="16200000" swAng="5400000"/>
                <a:lnTo>
                  <a:pt x="10566389" y="2353895"/>
                </a:lnTo>
                <a:arcTo wR="101600" hR="101600" stAng="0" swAng="5400000"/>
                <a:lnTo>
                  <a:pt x="101600" y="2455495"/>
                </a:lnTo>
                <a:arcTo wR="101600" hR="101600" stAng="5400000" swAng="5400000"/>
                <a:lnTo>
                  <a:pt x="0" y="2353895"/>
                </a:lnTo>
                <a:arcTo wR="101600" hR="95250" stAng="10800000" swAng="-5400000"/>
                <a:lnTo>
                  <a:pt x="10464789" y="2449145"/>
                </a:lnTo>
                <a:arcTo wR="95250" hR="95250" stAng="5400000" swAng="-5400000"/>
                <a:lnTo>
                  <a:pt x="10560039" y="101600"/>
                </a:lnTo>
                <a:arcTo wR="95250" hR="101600" stAng="0" swAng="-5400000"/>
                <a:close/>
              </a:path>
            </a:pathLst>
          </a:custGeom>
          <a:solidFill>
            <a:srgbClr val="DCE2EA"/>
          </a:solidFill>
          <a:ln/>
        </p:spPr>
      </p:sp>
      <p:sp>
        <p:nvSpPr>
          <p:cNvPr id="6" name="Shape 4"/>
          <p:cNvSpPr/>
          <p:nvPr/>
        </p:nvSpPr>
        <p:spPr>
          <a:xfrm>
            <a:off x="812774" y="1874230"/>
            <a:ext cx="10566389" cy="2455495"/>
          </a:xfrm>
          <a:custGeom>
            <a:avLst/>
            <a:gdLst/>
            <a:ahLst/>
            <a:cxnLst/>
            <a:rect l="l" t="t" r="r" b="b"/>
            <a:pathLst>
              <a:path w="10566389" h="2455495">
                <a:moveTo>
                  <a:pt x="101600" y="2455495"/>
                </a:moveTo>
                <a:lnTo>
                  <a:pt x="101600" y="2455495"/>
                </a:lnTo>
                <a:arcTo wR="101600" hR="101600" stAng="5400000" swAng="5400000"/>
                <a:lnTo>
                  <a:pt x="0" y="101600"/>
                </a:lnTo>
                <a:arcTo wR="101600" hR="101600" stAng="10800000" swAng="5400000"/>
                <a:lnTo>
                  <a:pt x="10464789" y="0"/>
                </a:lnTo>
                <a:arcTo wR="101600" hR="101600" stAng="16200000" swAng="5400000"/>
                <a:lnTo>
                  <a:pt x="10566389" y="101600"/>
                </a:lnTo>
                <a:arcTo wR="101600" hR="94644" stAng="0" swAng="-5400000"/>
                <a:lnTo>
                  <a:pt x="101600" y="6956"/>
                </a:lnTo>
                <a:arcTo wR="94644" hR="94644" stAng="16200000" swAng="-5400000"/>
                <a:lnTo>
                  <a:pt x="6956" y="2353895"/>
                </a:lnTo>
                <a:arcTo wR="94644" hR="1016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9730" y="1881186"/>
          <a:ext cx="10552477" cy="2441580"/>
        </p:xfrm>
        <a:graphic>
          <a:graphicData uri="http://schemas.openxmlformats.org/drawingml/2006/table">
            <a:tbl>
              <a:tblPr/>
              <a:tblGrid>
                <a:gridCol w="3165743">
                  <a:extLst>
                    <a:ext uri="{9D8B030D-6E8A-4147-A177-3AD203B41FA5}">
                      <a16:colId xmlns:a16="http://schemas.microsoft.com/office/drawing/2014/main" val="20000"/>
                    </a:ext>
                  </a:extLst>
                </a:gridCol>
                <a:gridCol w="5487288">
                  <a:extLst>
                    <a:ext uri="{9D8B030D-6E8A-4147-A177-3AD203B41FA5}">
                      <a16:colId xmlns:a16="http://schemas.microsoft.com/office/drawing/2014/main" val="20001"/>
                    </a:ext>
                  </a:extLst>
                </a:gridCol>
                <a:gridCol w="1899446">
                  <a:extLst>
                    <a:ext uri="{9D8B030D-6E8A-4147-A177-3AD203B41FA5}">
                      <a16:colId xmlns:a16="http://schemas.microsoft.com/office/drawing/2014/main" val="20002"/>
                    </a:ext>
                  </a:extLst>
                </a:gridCol>
              </a:tblGrid>
              <a:tr h="406930">
                <a:tc>
                  <a:txBody>
                    <a:bodyPr/>
                    <a:lstStyle/>
                    <a:p>
                      <a:pPr marL="0" indent="0">
                        <a:lnSpc>
                          <a:spcPts val="2100"/>
                        </a:lnSpc>
                        <a:buNone/>
                      </a:pPr>
                      <a:r>
                        <a:rPr lang="en-US" sz="1500" b="1" dirty="0">
                          <a:solidFill>
                            <a:srgbClr val="F4F6F9"/>
                          </a:solidFill>
                          <a:latin typeface="IBM Plex Sans KR" pitchFamily="34" charset="0"/>
                          <a:ea typeface="IBM Plex Sans KR" pitchFamily="34" charset="-122"/>
                          <a:cs typeface="IBM Plex Sans KR" pitchFamily="34" charset="-120"/>
                        </a:rPr>
                        <a:t>기법</a:t>
                      </a:r>
                      <a:endParaRPr lang="en-US" sz="1500" dirty="0">
                        <a:latin typeface="IBM Plex Sans KR" charset="0"/>
                        <a:ea typeface="IBM Plex Sans KR" charset="0"/>
                        <a:cs typeface="IBM Plex Sans KR" charset="0"/>
                      </a:endParaRPr>
                    </a:p>
                  </a:txBody>
                  <a:tcPr marL="66675" marR="66675" marT="66675" marB="66675">
                    <a:lnL w="0" cap="flat" cmpd="sng" algn="ctr">
                      <a:noFill/>
                    </a:lnL>
                    <a:lnR w="12700" cap="flat" cmpd="sng" algn="ctr">
                      <a:solidFill>
                        <a:srgbClr val="101925"/>
                      </a:solidFill>
                      <a:prstDash val="solid"/>
                      <a:round/>
                      <a:headEnd type="none" w="med" len="med"/>
                      <a:tailEnd type="none" w="med" len="med"/>
                    </a:lnR>
                    <a:lnT w="0" cap="flat" cmpd="sng" algn="ctr">
                      <a:noFill/>
                    </a:lnT>
                    <a:lnB w="12700" cap="flat" cmpd="sng" algn="ctr">
                      <a:solidFill>
                        <a:srgbClr val="101925"/>
                      </a:solidFill>
                      <a:prstDash val="solid"/>
                      <a:round/>
                      <a:headEnd type="none" w="med" len="med"/>
                      <a:tailEnd type="none" w="med" len="med"/>
                    </a:lnB>
                    <a:solidFill>
                      <a:srgbClr val="0F1B2A"/>
                    </a:solidFill>
                  </a:tcPr>
                </a:tc>
                <a:tc>
                  <a:txBody>
                    <a:bodyPr/>
                    <a:lstStyle/>
                    <a:p>
                      <a:pPr marL="0" indent="0">
                        <a:lnSpc>
                          <a:spcPts val="2100"/>
                        </a:lnSpc>
                        <a:buNone/>
                      </a:pPr>
                      <a:r>
                        <a:rPr lang="en-US" sz="1500" b="1" dirty="0">
                          <a:solidFill>
                            <a:srgbClr val="F4F6F9"/>
                          </a:solidFill>
                          <a:latin typeface="IBM Plex Sans KR" pitchFamily="34" charset="0"/>
                          <a:ea typeface="IBM Plex Sans KR" pitchFamily="34" charset="-122"/>
                          <a:cs typeface="IBM Plex Sans KR" pitchFamily="34" charset="-120"/>
                        </a:rPr>
                        <a:t>근거</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101925"/>
                      </a:solidFill>
                      <a:prstDash val="solid"/>
                      <a:round/>
                      <a:headEnd type="none" w="med" len="med"/>
                      <a:tailEnd type="none" w="med" len="med"/>
                    </a:lnL>
                    <a:lnR w="12700" cap="flat" cmpd="sng" algn="ctr">
                      <a:solidFill>
                        <a:srgbClr val="101925"/>
                      </a:solidFill>
                      <a:prstDash val="solid"/>
                      <a:round/>
                      <a:headEnd type="none" w="med" len="med"/>
                      <a:tailEnd type="none" w="med" len="med"/>
                    </a:lnR>
                    <a:lnT w="0" cap="flat" cmpd="sng" algn="ctr">
                      <a:noFill/>
                    </a:lnT>
                    <a:lnB w="12700" cap="flat" cmpd="sng" algn="ctr">
                      <a:solidFill>
                        <a:srgbClr val="101925"/>
                      </a:solidFill>
                      <a:prstDash val="solid"/>
                      <a:round/>
                      <a:headEnd type="none" w="med" len="med"/>
                      <a:tailEnd type="none" w="med" len="med"/>
                    </a:lnB>
                    <a:solidFill>
                      <a:srgbClr val="0F1B2A"/>
                    </a:solidFill>
                  </a:tcPr>
                </a:tc>
                <a:tc>
                  <a:txBody>
                    <a:bodyPr/>
                    <a:lstStyle/>
                    <a:p>
                      <a:pPr marL="0" indent="0" algn="ctr">
                        <a:lnSpc>
                          <a:spcPts val="2100"/>
                        </a:lnSpc>
                        <a:buNone/>
                      </a:pPr>
                      <a:r>
                        <a:rPr lang="en-US" sz="1500" b="1" dirty="0">
                          <a:solidFill>
                            <a:srgbClr val="F4F6F9"/>
                          </a:solidFill>
                          <a:latin typeface="IBM Plex Sans KR" pitchFamily="34" charset="0"/>
                          <a:ea typeface="IBM Plex Sans KR" pitchFamily="34" charset="-122"/>
                          <a:cs typeface="IBM Plex Sans KR" pitchFamily="34" charset="-120"/>
                        </a:rPr>
                        <a:t>판단</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101925"/>
                      </a:solidFill>
                      <a:prstDash val="solid"/>
                      <a:round/>
                      <a:headEnd type="none" w="med" len="med"/>
                      <a:tailEnd type="none" w="med" len="med"/>
                    </a:lnL>
                    <a:lnR w="12700" cap="flat" cmpd="sng" algn="ctr">
                      <a:solidFill>
                        <a:srgbClr val="101925"/>
                      </a:solidFill>
                      <a:prstDash val="solid"/>
                      <a:round/>
                      <a:headEnd type="none" w="med" len="med"/>
                      <a:tailEnd type="none" w="med" len="med"/>
                    </a:lnR>
                    <a:lnT w="0" cap="flat" cmpd="sng" algn="ctr">
                      <a:noFill/>
                    </a:lnT>
                    <a:lnB w="12700" cap="flat" cmpd="sng" algn="ctr">
                      <a:solidFill>
                        <a:srgbClr val="101925"/>
                      </a:solidFill>
                      <a:prstDash val="solid"/>
                      <a:round/>
                      <a:headEnd type="none" w="med" len="med"/>
                      <a:tailEnd type="none" w="med" len="med"/>
                    </a:lnB>
                    <a:solidFill>
                      <a:srgbClr val="0F1B2A"/>
                    </a:solidFill>
                  </a:tcPr>
                </a:tc>
                <a:extLst>
                  <a:ext uri="{0D108BD9-81ED-4DB2-BD59-A6C34878D82A}">
                    <a16:rowId xmlns:a16="http://schemas.microsoft.com/office/drawing/2014/main" val="10000"/>
                  </a:ext>
                </a:extLst>
              </a:tr>
              <a:tr h="406930">
                <a:tc>
                  <a:txBody>
                    <a:bodyPr/>
                    <a:lstStyle/>
                    <a:p>
                      <a:pPr marL="0" indent="0">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Term expansion</a:t>
                      </a:r>
                      <a:endParaRPr lang="en-US" sz="1500" dirty="0">
                        <a:latin typeface="IBM Plex Sans KR" charset="0"/>
                        <a:ea typeface="IBM Plex Sans KR" charset="0"/>
                        <a:cs typeface="IBM Plex Sans KR" charset="0"/>
                      </a:endParaRPr>
                    </a:p>
                  </a:txBody>
                  <a:tcPr marL="66675" marR="66675" marT="66675" marB="66675">
                    <a:lnL w="0" cap="flat" cmpd="sng" algn="ctr">
                      <a:noFill/>
                    </a:lnL>
                    <a:lnR w="12700" cap="flat" cmpd="sng" algn="ctr">
                      <a:solidFill>
                        <a:srgbClr val="CACACA"/>
                      </a:solidFill>
                      <a:prstDash val="solid"/>
                      <a:round/>
                      <a:headEnd type="none" w="med" len="med"/>
                      <a:tailEnd type="none" w="med" len="med"/>
                    </a:lnR>
                    <a:lnT w="12700" cap="flat" cmpd="sng" algn="ctr">
                      <a:solidFill>
                        <a:srgbClr val="101925"/>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Hit@5 0.828 → 0.897 · 비용 0</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101925"/>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ctr">
                        <a:lnSpc>
                          <a:spcPts val="2100"/>
                        </a:lnSpc>
                        <a:buNone/>
                      </a:pPr>
                      <a:r>
                        <a:rPr lang="en-US" sz="1500" dirty="0">
                          <a:solidFill>
                            <a:srgbClr val="0B6BCB"/>
                          </a:solidFill>
                          <a:latin typeface="IBM Plex Sans KR" pitchFamily="34" charset="0"/>
                          <a:ea typeface="IBM Plex Sans KR" pitchFamily="34" charset="-122"/>
                          <a:cs typeface="IBM Plex Sans KR" pitchFamily="34" charset="-120"/>
                        </a:rPr>
                        <a:t>채택</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101925"/>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1"/>
                  </a:ext>
                </a:extLst>
              </a:tr>
              <a:tr h="406930">
                <a:tc>
                  <a:txBody>
                    <a:bodyPr/>
                    <a:lstStyle/>
                    <a:p>
                      <a:pPr marL="0" indent="0">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Router</a:t>
                      </a:r>
                      <a:endParaRPr lang="en-US" sz="1500" dirty="0">
                        <a:latin typeface="IBM Plex Sans KR" charset="0"/>
                        <a:ea typeface="IBM Plex Sans KR" charset="0"/>
                        <a:cs typeface="IBM Plex Sans KR" charset="0"/>
                      </a:endParaRPr>
                    </a:p>
                  </a:txBody>
                  <a:tcPr marL="66675" marR="66675" marT="66675" marB="66675">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비용 0 · 결정적 (단독 효과 미입증)</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ctr">
                        <a:lnSpc>
                          <a:spcPts val="2100"/>
                        </a:lnSpc>
                        <a:buNone/>
                      </a:pPr>
                      <a:r>
                        <a:rPr lang="en-US" sz="1500" dirty="0">
                          <a:solidFill>
                            <a:srgbClr val="0B6BCB"/>
                          </a:solidFill>
                          <a:latin typeface="IBM Plex Sans KR" pitchFamily="34" charset="0"/>
                          <a:ea typeface="IBM Plex Sans KR" pitchFamily="34" charset="-122"/>
                          <a:cs typeface="IBM Plex Sans KR" pitchFamily="34" charset="-120"/>
                        </a:rPr>
                        <a:t>채택</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2"/>
                  </a:ext>
                </a:extLst>
              </a:tr>
              <a:tr h="406930">
                <a:tc>
                  <a:txBody>
                    <a:bodyPr/>
                    <a:lstStyle/>
                    <a:p>
                      <a:pPr marL="0" indent="0">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Multi-Query</a:t>
                      </a:r>
                      <a:endParaRPr lang="en-US" sz="1500" dirty="0">
                        <a:latin typeface="IBM Plex Sans KR" charset="0"/>
                        <a:ea typeface="IBM Plex Sans KR" charset="0"/>
                        <a:cs typeface="IBM Plex Sans KR" charset="0"/>
                      </a:endParaRPr>
                    </a:p>
                  </a:txBody>
                  <a:tcPr marL="66675" marR="66675" marT="66675" marB="66675">
                    <a:lnL w="0" cap="flat" cmpd="sng" algn="ctr">
                      <a:noFill/>
                    </a:lnL>
                    <a:lnR w="12700" cap="flat" cmpd="sng" algn="ctr">
                      <a:solidFill>
                        <a:srgbClr val="C5C1BC"/>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5C1BC"/>
                      </a:solidFill>
                      <a:prstDash val="solid"/>
                      <a:round/>
                      <a:headEnd type="none" w="med" len="med"/>
                      <a:tailEnd type="none" w="med" len="med"/>
                    </a:lnB>
                    <a:solidFill>
                      <a:srgbClr val="F7F2EC"/>
                    </a:solidFill>
                  </a:tcPr>
                </a:tc>
                <a:tc>
                  <a:txBody>
                    <a:bodyPr/>
                    <a:lstStyle/>
                    <a:p>
                      <a:pPr marL="0" indent="0">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Term과 동등 · LLM 약 184 크레딧</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C5C1BC"/>
                      </a:solidFill>
                      <a:prstDash val="solid"/>
                      <a:round/>
                      <a:headEnd type="none" w="med" len="med"/>
                      <a:tailEnd type="none" w="med" len="med"/>
                    </a:lnL>
                    <a:lnR w="12700" cap="flat" cmpd="sng" algn="ctr">
                      <a:solidFill>
                        <a:srgbClr val="C5C1BC"/>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5C1BC"/>
                      </a:solidFill>
                      <a:prstDash val="solid"/>
                      <a:round/>
                      <a:headEnd type="none" w="med" len="med"/>
                      <a:tailEnd type="none" w="med" len="med"/>
                    </a:lnB>
                    <a:solidFill>
                      <a:srgbClr val="F7F2EC"/>
                    </a:solidFill>
                  </a:tcPr>
                </a:tc>
                <a:tc>
                  <a:txBody>
                    <a:bodyPr/>
                    <a:lstStyle/>
                    <a:p>
                      <a:pPr marL="0" indent="0" algn="ctr">
                        <a:lnSpc>
                          <a:spcPts val="2100"/>
                        </a:lnSpc>
                        <a:buNone/>
                      </a:pPr>
                      <a:r>
                        <a:rPr lang="en-US" sz="1500" dirty="0">
                          <a:solidFill>
                            <a:srgbClr val="B85F0E"/>
                          </a:solidFill>
                          <a:latin typeface="IBM Plex Sans KR" pitchFamily="34" charset="0"/>
                          <a:ea typeface="IBM Plex Sans KR" pitchFamily="34" charset="-122"/>
                          <a:cs typeface="IBM Plex Sans KR" pitchFamily="34" charset="-120"/>
                        </a:rPr>
                        <a:t>기각</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C5C1BC"/>
                      </a:solidFill>
                      <a:prstDash val="solid"/>
                      <a:round/>
                      <a:headEnd type="none" w="med" len="med"/>
                      <a:tailEnd type="none" w="med" len="med"/>
                    </a:lnL>
                    <a:lnR w="12700" cap="flat" cmpd="sng" algn="ctr">
                      <a:solidFill>
                        <a:srgbClr val="C5C1BC"/>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5C1BC"/>
                      </a:solidFill>
                      <a:prstDash val="solid"/>
                      <a:round/>
                      <a:headEnd type="none" w="med" len="med"/>
                      <a:tailEnd type="none" w="med" len="med"/>
                    </a:lnB>
                    <a:solidFill>
                      <a:srgbClr val="F7F2EC"/>
                    </a:solidFill>
                  </a:tcPr>
                </a:tc>
                <a:extLst>
                  <a:ext uri="{0D108BD9-81ED-4DB2-BD59-A6C34878D82A}">
                    <a16:rowId xmlns:a16="http://schemas.microsoft.com/office/drawing/2014/main" val="10003"/>
                  </a:ext>
                </a:extLst>
              </a:tr>
              <a:tr h="406930">
                <a:tc>
                  <a:txBody>
                    <a:bodyPr/>
                    <a:lstStyle/>
                    <a:p>
                      <a:pPr marL="0" indent="0">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Rerank 긴 문맥</a:t>
                      </a:r>
                      <a:endParaRPr lang="en-US" sz="1500" dirty="0">
                        <a:latin typeface="IBM Plex Sans KR" charset="0"/>
                        <a:ea typeface="IBM Plex Sans KR" charset="0"/>
                        <a:cs typeface="IBM Plex Sans KR" charset="0"/>
                      </a:endParaRPr>
                    </a:p>
                  </a:txBody>
                  <a:tcPr marL="66675" marR="66675" marT="66675" marB="66675">
                    <a:lnL w="0" cap="flat" cmpd="sng" algn="ctr">
                      <a:noFill/>
                    </a:lnL>
                    <a:lnR w="12700" cap="flat" cmpd="sng" algn="ctr">
                      <a:solidFill>
                        <a:srgbClr val="C5C1BC"/>
                      </a:solidFill>
                      <a:prstDash val="solid"/>
                      <a:round/>
                      <a:headEnd type="none" w="med" len="med"/>
                      <a:tailEnd type="none" w="med" len="med"/>
                    </a:lnR>
                    <a:lnT w="12700" cap="flat" cmpd="sng" algn="ctr">
                      <a:solidFill>
                        <a:srgbClr val="C5C1BC"/>
                      </a:solidFill>
                      <a:prstDash val="solid"/>
                      <a:round/>
                      <a:headEnd type="none" w="med" len="med"/>
                      <a:tailEnd type="none" w="med" len="med"/>
                    </a:lnT>
                    <a:lnB w="12700" cap="flat" cmpd="sng" algn="ctr">
                      <a:solidFill>
                        <a:srgbClr val="C5C1BC"/>
                      </a:solidFill>
                      <a:prstDash val="solid"/>
                      <a:round/>
                      <a:headEnd type="none" w="med" len="med"/>
                      <a:tailEnd type="none" w="med" len="med"/>
                    </a:lnB>
                    <a:solidFill>
                      <a:srgbClr val="F7F2EC"/>
                    </a:solidFill>
                  </a:tcPr>
                </a:tc>
                <a:tc>
                  <a:txBody>
                    <a:bodyPr/>
                    <a:lstStyle/>
                    <a:p>
                      <a:pPr marL="0" indent="0">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Hit@1 0.655 (vs 0.759)</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C5C1BC"/>
                      </a:solidFill>
                      <a:prstDash val="solid"/>
                      <a:round/>
                      <a:headEnd type="none" w="med" len="med"/>
                      <a:tailEnd type="none" w="med" len="med"/>
                    </a:lnL>
                    <a:lnR w="12700" cap="flat" cmpd="sng" algn="ctr">
                      <a:solidFill>
                        <a:srgbClr val="C5C1BC"/>
                      </a:solidFill>
                      <a:prstDash val="solid"/>
                      <a:round/>
                      <a:headEnd type="none" w="med" len="med"/>
                      <a:tailEnd type="none" w="med" len="med"/>
                    </a:lnR>
                    <a:lnT w="12700" cap="flat" cmpd="sng" algn="ctr">
                      <a:solidFill>
                        <a:srgbClr val="C5C1BC"/>
                      </a:solidFill>
                      <a:prstDash val="solid"/>
                      <a:round/>
                      <a:headEnd type="none" w="med" len="med"/>
                      <a:tailEnd type="none" w="med" len="med"/>
                    </a:lnT>
                    <a:lnB w="12700" cap="flat" cmpd="sng" algn="ctr">
                      <a:solidFill>
                        <a:srgbClr val="C5C1BC"/>
                      </a:solidFill>
                      <a:prstDash val="solid"/>
                      <a:round/>
                      <a:headEnd type="none" w="med" len="med"/>
                      <a:tailEnd type="none" w="med" len="med"/>
                    </a:lnB>
                    <a:solidFill>
                      <a:srgbClr val="F7F2EC"/>
                    </a:solidFill>
                  </a:tcPr>
                </a:tc>
                <a:tc>
                  <a:txBody>
                    <a:bodyPr/>
                    <a:lstStyle/>
                    <a:p>
                      <a:pPr marL="0" indent="0" algn="ctr">
                        <a:lnSpc>
                          <a:spcPts val="2100"/>
                        </a:lnSpc>
                        <a:buNone/>
                      </a:pPr>
                      <a:r>
                        <a:rPr lang="en-US" sz="1500" dirty="0">
                          <a:solidFill>
                            <a:srgbClr val="B85F0E"/>
                          </a:solidFill>
                          <a:latin typeface="IBM Plex Sans KR" pitchFamily="34" charset="0"/>
                          <a:ea typeface="IBM Plex Sans KR" pitchFamily="34" charset="-122"/>
                          <a:cs typeface="IBM Plex Sans KR" pitchFamily="34" charset="-120"/>
                        </a:rPr>
                        <a:t>기각</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C5C1BC"/>
                      </a:solidFill>
                      <a:prstDash val="solid"/>
                      <a:round/>
                      <a:headEnd type="none" w="med" len="med"/>
                      <a:tailEnd type="none" w="med" len="med"/>
                    </a:lnL>
                    <a:lnR w="12700" cap="flat" cmpd="sng" algn="ctr">
                      <a:solidFill>
                        <a:srgbClr val="C5C1BC"/>
                      </a:solidFill>
                      <a:prstDash val="solid"/>
                      <a:round/>
                      <a:headEnd type="none" w="med" len="med"/>
                      <a:tailEnd type="none" w="med" len="med"/>
                    </a:lnR>
                    <a:lnT w="12700" cap="flat" cmpd="sng" algn="ctr">
                      <a:solidFill>
                        <a:srgbClr val="C5C1BC"/>
                      </a:solidFill>
                      <a:prstDash val="solid"/>
                      <a:round/>
                      <a:headEnd type="none" w="med" len="med"/>
                      <a:tailEnd type="none" w="med" len="med"/>
                    </a:lnT>
                    <a:lnB w="12700" cap="flat" cmpd="sng" algn="ctr">
                      <a:solidFill>
                        <a:srgbClr val="C5C1BC"/>
                      </a:solidFill>
                      <a:prstDash val="solid"/>
                      <a:round/>
                      <a:headEnd type="none" w="med" len="med"/>
                      <a:tailEnd type="none" w="med" len="med"/>
                    </a:lnB>
                    <a:solidFill>
                      <a:srgbClr val="F7F2EC"/>
                    </a:solidFill>
                  </a:tcPr>
                </a:tc>
                <a:extLst>
                  <a:ext uri="{0D108BD9-81ED-4DB2-BD59-A6C34878D82A}">
                    <a16:rowId xmlns:a16="http://schemas.microsoft.com/office/drawing/2014/main" val="10004"/>
                  </a:ext>
                </a:extLst>
              </a:tr>
              <a:tr h="406930">
                <a:tc>
                  <a:txBody>
                    <a:bodyPr/>
                    <a:lstStyle/>
                    <a:p>
                      <a:pPr marL="0" indent="0">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Priority boost</a:t>
                      </a:r>
                      <a:endParaRPr lang="en-US" sz="1500" dirty="0">
                        <a:latin typeface="IBM Plex Sans KR" charset="0"/>
                        <a:ea typeface="IBM Plex Sans KR" charset="0"/>
                        <a:cs typeface="IBM Plex Sans KR" charset="0"/>
                      </a:endParaRPr>
                    </a:p>
                  </a:txBody>
                  <a:tcPr marL="66675" marR="66675" marT="66675" marB="66675">
                    <a:lnL w="0" cap="flat" cmpd="sng" algn="ctr">
                      <a:noFill/>
                    </a:lnL>
                    <a:lnR w="12700" cap="flat" cmpd="sng" algn="ctr">
                      <a:solidFill>
                        <a:srgbClr val="C5C1BC"/>
                      </a:solidFill>
                      <a:prstDash val="solid"/>
                      <a:round/>
                      <a:headEnd type="none" w="med" len="med"/>
                      <a:tailEnd type="none" w="med" len="med"/>
                    </a:lnR>
                    <a:lnT w="12700" cap="flat" cmpd="sng" algn="ctr">
                      <a:solidFill>
                        <a:srgbClr val="C5C1BC"/>
                      </a:solidFill>
                      <a:prstDash val="solid"/>
                      <a:round/>
                      <a:headEnd type="none" w="med" len="med"/>
                      <a:tailEnd type="none" w="med" len="med"/>
                    </a:lnT>
                    <a:lnB w="12700" cap="flat" cmpd="sng" algn="ctr">
                      <a:solidFill>
                        <a:srgbClr val="C5C1BC"/>
                      </a:solidFill>
                      <a:prstDash val="solid"/>
                      <a:round/>
                      <a:headEnd type="none" w="med" len="med"/>
                      <a:tailEnd type="none" w="med" len="med"/>
                    </a:lnB>
                    <a:solidFill>
                      <a:srgbClr val="F7F2EC"/>
                    </a:solidFill>
                  </a:tcPr>
                </a:tc>
                <a:tc>
                  <a:txBody>
                    <a:bodyPr/>
                    <a:lstStyle/>
                    <a:p>
                      <a:pPr marL="0" indent="0">
                        <a:lnSpc>
                          <a:spcPts val="2100"/>
                        </a:lnSpc>
                        <a:buNone/>
                      </a:pPr>
                      <a:r>
                        <a:rPr lang="en-US" sz="1500" dirty="0">
                          <a:solidFill>
                            <a:srgbClr val="0F1B2A"/>
                          </a:solidFill>
                          <a:latin typeface="IBM Plex Sans KR" pitchFamily="34" charset="0"/>
                          <a:ea typeface="IBM Plex Sans KR" pitchFamily="34" charset="-122"/>
                          <a:cs typeface="IBM Plex Sans KR" pitchFamily="34" charset="-120"/>
                        </a:rPr>
                        <a:t>Full-R@ctx 0.905 → 0.809</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C5C1BC"/>
                      </a:solidFill>
                      <a:prstDash val="solid"/>
                      <a:round/>
                      <a:headEnd type="none" w="med" len="med"/>
                      <a:tailEnd type="none" w="med" len="med"/>
                    </a:lnL>
                    <a:lnR w="12700" cap="flat" cmpd="sng" algn="ctr">
                      <a:solidFill>
                        <a:srgbClr val="C5C1BC"/>
                      </a:solidFill>
                      <a:prstDash val="solid"/>
                      <a:round/>
                      <a:headEnd type="none" w="med" len="med"/>
                      <a:tailEnd type="none" w="med" len="med"/>
                    </a:lnR>
                    <a:lnT w="12700" cap="flat" cmpd="sng" algn="ctr">
                      <a:solidFill>
                        <a:srgbClr val="C5C1BC"/>
                      </a:solidFill>
                      <a:prstDash val="solid"/>
                      <a:round/>
                      <a:headEnd type="none" w="med" len="med"/>
                      <a:tailEnd type="none" w="med" len="med"/>
                    </a:lnT>
                    <a:lnB w="12700" cap="flat" cmpd="sng" algn="ctr">
                      <a:solidFill>
                        <a:srgbClr val="C5C1BC"/>
                      </a:solidFill>
                      <a:prstDash val="solid"/>
                      <a:round/>
                      <a:headEnd type="none" w="med" len="med"/>
                      <a:tailEnd type="none" w="med" len="med"/>
                    </a:lnB>
                    <a:solidFill>
                      <a:srgbClr val="F7F2EC"/>
                    </a:solidFill>
                  </a:tcPr>
                </a:tc>
                <a:tc>
                  <a:txBody>
                    <a:bodyPr/>
                    <a:lstStyle/>
                    <a:p>
                      <a:pPr marL="0" indent="0" algn="ctr">
                        <a:lnSpc>
                          <a:spcPts val="2100"/>
                        </a:lnSpc>
                        <a:buNone/>
                      </a:pPr>
                      <a:r>
                        <a:rPr lang="en-US" sz="1500" dirty="0">
                          <a:solidFill>
                            <a:srgbClr val="B85F0E"/>
                          </a:solidFill>
                          <a:latin typeface="IBM Plex Sans KR" pitchFamily="34" charset="0"/>
                          <a:ea typeface="IBM Plex Sans KR" pitchFamily="34" charset="-122"/>
                          <a:cs typeface="IBM Plex Sans KR" pitchFamily="34" charset="-120"/>
                        </a:rPr>
                        <a:t>기각</a:t>
                      </a:r>
                      <a:endParaRPr lang="en-US" sz="1500" dirty="0">
                        <a:latin typeface="IBM Plex Sans KR" charset="0"/>
                        <a:ea typeface="IBM Plex Sans KR" charset="0"/>
                        <a:cs typeface="IBM Plex Sans KR" charset="0"/>
                      </a:endParaRPr>
                    </a:p>
                  </a:txBody>
                  <a:tcPr marL="66675" marR="66675" marT="66675" marB="66675">
                    <a:lnL w="12700" cap="flat" cmpd="sng" algn="ctr">
                      <a:solidFill>
                        <a:srgbClr val="C5C1BC"/>
                      </a:solidFill>
                      <a:prstDash val="solid"/>
                      <a:round/>
                      <a:headEnd type="none" w="med" len="med"/>
                      <a:tailEnd type="none" w="med" len="med"/>
                    </a:lnL>
                    <a:lnR w="12700" cap="flat" cmpd="sng" algn="ctr">
                      <a:solidFill>
                        <a:srgbClr val="C5C1BC"/>
                      </a:solidFill>
                      <a:prstDash val="solid"/>
                      <a:round/>
                      <a:headEnd type="none" w="med" len="med"/>
                      <a:tailEnd type="none" w="med" len="med"/>
                    </a:lnR>
                    <a:lnT w="12700" cap="flat" cmpd="sng" algn="ctr">
                      <a:solidFill>
                        <a:srgbClr val="C5C1BC"/>
                      </a:solidFill>
                      <a:prstDash val="solid"/>
                      <a:round/>
                      <a:headEnd type="none" w="med" len="med"/>
                      <a:tailEnd type="none" w="med" len="med"/>
                    </a:lnT>
                    <a:lnB w="12700" cap="flat" cmpd="sng" algn="ctr">
                      <a:solidFill>
                        <a:srgbClr val="C5C1BC"/>
                      </a:solidFill>
                      <a:prstDash val="solid"/>
                      <a:round/>
                      <a:headEnd type="none" w="med" len="med"/>
                      <a:tailEnd type="none" w="med" len="med"/>
                    </a:lnB>
                    <a:solidFill>
                      <a:srgbClr val="F7F2EC"/>
                    </a:solidFill>
                  </a:tcPr>
                </a:tc>
                <a:extLst>
                  <a:ext uri="{0D108BD9-81ED-4DB2-BD59-A6C34878D82A}">
                    <a16:rowId xmlns:a16="http://schemas.microsoft.com/office/drawing/2014/main" val="10005"/>
                  </a:ext>
                </a:extLst>
              </a:tr>
            </a:tbl>
          </a:graphicData>
        </a:graphic>
      </p:graphicFrame>
      <p:sp>
        <p:nvSpPr>
          <p:cNvPr id="8" name="Shape 5"/>
          <p:cNvSpPr/>
          <p:nvPr/>
        </p:nvSpPr>
        <p:spPr>
          <a:xfrm>
            <a:off x="838174" y="4634489"/>
            <a:ext cx="0" cy="421495"/>
          </a:xfrm>
          <a:prstGeom prst="line">
            <a:avLst/>
          </a:prstGeom>
          <a:noFill/>
          <a:ln w="50800">
            <a:solidFill>
              <a:srgbClr val="0B6BCB"/>
            </a:solidFill>
            <a:prstDash val="solid"/>
          </a:ln>
        </p:spPr>
      </p:sp>
      <p:sp>
        <p:nvSpPr>
          <p:cNvPr id="9" name="Text 6"/>
          <p:cNvSpPr/>
          <p:nvPr/>
        </p:nvSpPr>
        <p:spPr>
          <a:xfrm>
            <a:off x="1064605" y="4685246"/>
            <a:ext cx="3542225"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F1B2A"/>
                </a:solidFill>
                <a:latin typeface="IBM Plex Sans KR" pitchFamily="34" charset="0"/>
                <a:ea typeface="IBM Plex Sans KR" pitchFamily="34" charset="-122"/>
                <a:cs typeface="IBM Plex Sans KR" pitchFamily="34" charset="-120"/>
              </a:rPr>
              <a:t>같은 효과라면 비용 0 · 결정적인 쪽</a:t>
            </a:r>
            <a:endParaRPr lang="en-US" sz="1800" dirty="0"/>
          </a:p>
        </p:txBody>
      </p:sp>
      <p:sp>
        <p:nvSpPr>
          <p:cNvPr id="10" name="Text 7"/>
          <p:cNvSpPr/>
          <p:nvPr/>
        </p:nvSpPr>
        <p:spPr>
          <a:xfrm>
            <a:off x="812774" y="6238298"/>
            <a:ext cx="588640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Law-bot · AI 기본법 RAG QA</a:t>
            </a:r>
            <a:endParaRPr lang="en-US" sz="1200" dirty="0"/>
          </a:p>
        </p:txBody>
      </p:sp>
      <p:sp>
        <p:nvSpPr>
          <p:cNvPr id="11" name="Text 8"/>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03 · 실험 결과</a:t>
            </a:r>
            <a:endParaRPr lang="en-US" sz="1200" dirty="0"/>
          </a:p>
        </p:txBody>
      </p:sp>
      <p:sp>
        <p:nvSpPr>
          <p:cNvPr id="3" name="Text 1"/>
          <p:cNvSpPr>
            <a:spLocks noGrp="1"/>
          </p:cNvSpPr>
          <p:nvPr>
            <p:ph type="title"/>
          </p:nvPr>
        </p:nvSpPr>
        <p:spPr>
          <a:xfrm>
            <a:off x="812774" y="1102215"/>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시행착오</a:t>
            </a:r>
            <a:endParaRPr lang="en-US" sz="3200" dirty="0"/>
          </a:p>
        </p:txBody>
      </p:sp>
      <p:sp>
        <p:nvSpPr>
          <p:cNvPr id="4" name="Text 2"/>
          <p:cNvSpPr/>
          <p:nvPr/>
        </p:nvSpPr>
        <p:spPr>
          <a:xfrm>
            <a:off x="1066671" y="1823362"/>
            <a:ext cx="3270153" cy="23864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5F0E"/>
                </a:solidFill>
                <a:latin typeface="IBM Plex Sans KR" pitchFamily="34" charset="0"/>
                <a:ea typeface="IBM Plex Sans KR" pitchFamily="34" charset="-122"/>
                <a:cs typeface="IBM Plex Sans KR" pitchFamily="34" charset="-120"/>
              </a:rPr>
              <a:t>문제</a:t>
            </a:r>
            <a:endParaRPr lang="en-US" sz="1200" dirty="0"/>
          </a:p>
        </p:txBody>
      </p:sp>
      <p:sp>
        <p:nvSpPr>
          <p:cNvPr id="5" name="Text 3"/>
          <p:cNvSpPr/>
          <p:nvPr/>
        </p:nvSpPr>
        <p:spPr>
          <a:xfrm>
            <a:off x="4444716" y="1823362"/>
            <a:ext cx="3270153" cy="23864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7785"/>
                </a:solidFill>
                <a:latin typeface="IBM Plex Sans KR" pitchFamily="34" charset="0"/>
                <a:ea typeface="IBM Plex Sans KR" pitchFamily="34" charset="-122"/>
                <a:cs typeface="IBM Plex Sans KR" pitchFamily="34" charset="-120"/>
              </a:rPr>
              <a:t>원인</a:t>
            </a:r>
            <a:endParaRPr lang="en-US" sz="1200" dirty="0"/>
          </a:p>
        </p:txBody>
      </p:sp>
      <p:sp>
        <p:nvSpPr>
          <p:cNvPr id="6" name="Text 4"/>
          <p:cNvSpPr/>
          <p:nvPr/>
        </p:nvSpPr>
        <p:spPr>
          <a:xfrm>
            <a:off x="7822760" y="1823362"/>
            <a:ext cx="3401581" cy="23864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BCB"/>
                </a:solidFill>
                <a:latin typeface="IBM Plex Sans KR" pitchFamily="34" charset="0"/>
                <a:ea typeface="IBM Plex Sans KR" pitchFamily="34" charset="-122"/>
                <a:cs typeface="IBM Plex Sans KR" pitchFamily="34" charset="-120"/>
              </a:rPr>
              <a:t>해결</a:t>
            </a:r>
            <a:endParaRPr lang="en-US" sz="1200" dirty="0"/>
          </a:p>
        </p:txBody>
      </p:sp>
      <p:sp>
        <p:nvSpPr>
          <p:cNvPr id="7" name="Shape 5"/>
          <p:cNvSpPr/>
          <p:nvPr/>
        </p:nvSpPr>
        <p:spPr>
          <a:xfrm>
            <a:off x="815949" y="2141302"/>
            <a:ext cx="10560039" cy="561222"/>
          </a:xfrm>
          <a:prstGeom prst="roundRect">
            <a:avLst>
              <a:gd name="adj" fmla="val 17538"/>
            </a:avLst>
          </a:prstGeom>
          <a:solidFill>
            <a:srgbClr val="FDFDFE"/>
          </a:solidFill>
          <a:ln w="6350">
            <a:solidFill>
              <a:srgbClr val="DCE2EA"/>
            </a:solidFill>
            <a:prstDash val="solid"/>
          </a:ln>
        </p:spPr>
      </p:sp>
      <p:sp>
        <p:nvSpPr>
          <p:cNvPr id="8" name="Text 6"/>
          <p:cNvSpPr/>
          <p:nvPr/>
        </p:nvSpPr>
        <p:spPr>
          <a:xfrm>
            <a:off x="1073627" y="2297460"/>
            <a:ext cx="3270153"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2A"/>
                </a:solidFill>
                <a:latin typeface="IBM Plex Sans KR" pitchFamily="34" charset="0"/>
                <a:ea typeface="IBM Plex Sans KR" pitchFamily="34" charset="-122"/>
                <a:cs typeface="IBM Plex Sans KR" pitchFamily="34" charset="-120"/>
              </a:rPr>
              <a:t>BM25가 거의 모든 청크에 매칭</a:t>
            </a:r>
            <a:endParaRPr lang="en-US" sz="1400" dirty="0"/>
          </a:p>
        </p:txBody>
      </p:sp>
      <p:sp>
        <p:nvSpPr>
          <p:cNvPr id="9" name="Text 7"/>
          <p:cNvSpPr/>
          <p:nvPr/>
        </p:nvSpPr>
        <p:spPr>
          <a:xfrm>
            <a:off x="4451672" y="2306377"/>
            <a:ext cx="3270153"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‘인공지능’이 ‘인공/지능’으로 분해</a:t>
            </a:r>
            <a:endParaRPr lang="en-US" sz="1300" dirty="0"/>
          </a:p>
        </p:txBody>
      </p:sp>
      <p:sp>
        <p:nvSpPr>
          <p:cNvPr id="10" name="Text 8"/>
          <p:cNvSpPr/>
          <p:nvPr/>
        </p:nvSpPr>
        <p:spPr>
          <a:xfrm>
            <a:off x="7829717" y="2306377"/>
            <a:ext cx="3387252"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6BCB"/>
                </a:solidFill>
                <a:latin typeface="IBM Plex Sans KR" pitchFamily="34" charset="0"/>
                <a:ea typeface="IBM Plex Sans KR" pitchFamily="34" charset="-122"/>
                <a:cs typeface="IBM Plex Sans KR" pitchFamily="34" charset="-120"/>
              </a:rPr>
              <a:t>법령 정의어 51개를 형태소 사용자 사전에 등록</a:t>
            </a:r>
            <a:endParaRPr lang="en-US" sz="1300" dirty="0"/>
          </a:p>
        </p:txBody>
      </p:sp>
      <p:sp>
        <p:nvSpPr>
          <p:cNvPr id="11" name="Shape 9"/>
          <p:cNvSpPr/>
          <p:nvPr/>
        </p:nvSpPr>
        <p:spPr>
          <a:xfrm>
            <a:off x="815949" y="2810390"/>
            <a:ext cx="10560039" cy="810120"/>
          </a:xfrm>
          <a:prstGeom prst="roundRect">
            <a:avLst>
              <a:gd name="adj" fmla="val 12149"/>
            </a:avLst>
          </a:prstGeom>
          <a:solidFill>
            <a:srgbClr val="FDFDFE"/>
          </a:solidFill>
          <a:ln w="6350">
            <a:solidFill>
              <a:srgbClr val="DCE2EA"/>
            </a:solidFill>
            <a:prstDash val="solid"/>
          </a:ln>
        </p:spPr>
      </p:sp>
      <p:sp>
        <p:nvSpPr>
          <p:cNvPr id="12" name="Text 10"/>
          <p:cNvSpPr/>
          <p:nvPr/>
        </p:nvSpPr>
        <p:spPr>
          <a:xfrm>
            <a:off x="1073627" y="2966548"/>
            <a:ext cx="3270153" cy="52319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2A"/>
                </a:solidFill>
                <a:latin typeface="IBM Plex Sans KR" pitchFamily="34" charset="0"/>
                <a:ea typeface="IBM Plex Sans KR" pitchFamily="34" charset="-122"/>
                <a:cs typeface="IBM Plex Sans KR" pitchFamily="34" charset="-120"/>
              </a:rPr>
              <a:t>BM25 추가 후 Hit@1 하락</a:t>
            </a:r>
            <a:endParaRPr lang="en-US" sz="1400" dirty="0"/>
          </a:p>
          <a:p>
            <a:pPr marL="0" indent="0" algn="l">
              <a:lnSpc>
                <a:spcPts val="1960"/>
              </a:lnSpc>
              <a:buNone/>
            </a:pPr>
            <a:r>
              <a:rPr lang="en-US" sz="1400" b="1" dirty="0">
                <a:solidFill>
                  <a:srgbClr val="B85F0E"/>
                </a:solidFill>
                <a:latin typeface="IBM Plex Sans KR" pitchFamily="34" charset="0"/>
                <a:ea typeface="IBM Plex Sans KR" pitchFamily="34" charset="-122"/>
                <a:cs typeface="IBM Plex Sans KR" pitchFamily="34" charset="-120"/>
              </a:rPr>
              <a:t>0.552 → 0.483</a:t>
            </a:r>
            <a:endParaRPr lang="en-US" sz="1400" dirty="0"/>
          </a:p>
        </p:txBody>
      </p:sp>
      <p:sp>
        <p:nvSpPr>
          <p:cNvPr id="13" name="Text 11"/>
          <p:cNvSpPr/>
          <p:nvPr/>
        </p:nvSpPr>
        <p:spPr>
          <a:xfrm>
            <a:off x="4451672" y="3099910"/>
            <a:ext cx="3270153"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RRF가 dense·BM25 순위를 평준화</a:t>
            </a:r>
            <a:endParaRPr lang="en-US" sz="1300" dirty="0"/>
          </a:p>
        </p:txBody>
      </p:sp>
      <p:sp>
        <p:nvSpPr>
          <p:cNvPr id="14" name="Text 12"/>
          <p:cNvSpPr/>
          <p:nvPr/>
        </p:nvSpPr>
        <p:spPr>
          <a:xfrm>
            <a:off x="7829717" y="2984376"/>
            <a:ext cx="3387252" cy="48754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6BCB"/>
                </a:solidFill>
                <a:latin typeface="IBM Plex Sans KR" pitchFamily="34" charset="0"/>
                <a:ea typeface="IBM Plex Sans KR" pitchFamily="34" charset="-122"/>
                <a:cs typeface="IBM Plex Sans KR" pitchFamily="34" charset="-120"/>
              </a:rPr>
              <a:t>후보 생성기로 유지 (재현율 +0.086), 순위는 Rerank가 복원</a:t>
            </a:r>
            <a:endParaRPr lang="en-US" sz="1300" dirty="0"/>
          </a:p>
        </p:txBody>
      </p:sp>
      <p:sp>
        <p:nvSpPr>
          <p:cNvPr id="15" name="Shape 13"/>
          <p:cNvSpPr/>
          <p:nvPr/>
        </p:nvSpPr>
        <p:spPr>
          <a:xfrm>
            <a:off x="815949" y="3728374"/>
            <a:ext cx="10560039" cy="561222"/>
          </a:xfrm>
          <a:prstGeom prst="roundRect">
            <a:avLst>
              <a:gd name="adj" fmla="val 17538"/>
            </a:avLst>
          </a:prstGeom>
          <a:solidFill>
            <a:srgbClr val="FDFDFE"/>
          </a:solidFill>
          <a:ln w="6350">
            <a:solidFill>
              <a:srgbClr val="DCE2EA"/>
            </a:solidFill>
            <a:prstDash val="solid"/>
          </a:ln>
        </p:spPr>
      </p:sp>
      <p:sp>
        <p:nvSpPr>
          <p:cNvPr id="16" name="Text 14"/>
          <p:cNvSpPr/>
          <p:nvPr/>
        </p:nvSpPr>
        <p:spPr>
          <a:xfrm>
            <a:off x="1073627" y="3884532"/>
            <a:ext cx="3270153"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2A"/>
                </a:solidFill>
                <a:latin typeface="IBM Plex Sans KR" pitchFamily="34" charset="0"/>
                <a:ea typeface="IBM Plex Sans KR" pitchFamily="34" charset="-122"/>
                <a:cs typeface="IBM Plex Sans KR" pitchFamily="34" charset="-120"/>
              </a:rPr>
              <a:t>“고영향 인공지능이란?” 실패</a:t>
            </a:r>
            <a:endParaRPr lang="en-US" sz="1400" dirty="0"/>
          </a:p>
        </p:txBody>
      </p:sp>
      <p:sp>
        <p:nvSpPr>
          <p:cNvPr id="17" name="Text 15"/>
          <p:cNvSpPr/>
          <p:nvPr/>
        </p:nvSpPr>
        <p:spPr>
          <a:xfrm>
            <a:off x="4451672" y="3893449"/>
            <a:ext cx="3270153"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정의 호가 dense 29위 · BM25 49위</a:t>
            </a:r>
            <a:endParaRPr lang="en-US" sz="1300" dirty="0"/>
          </a:p>
        </p:txBody>
      </p:sp>
      <p:sp>
        <p:nvSpPr>
          <p:cNvPr id="18" name="Text 16"/>
          <p:cNvSpPr/>
          <p:nvPr/>
        </p:nvSpPr>
        <p:spPr>
          <a:xfrm>
            <a:off x="7829717" y="3893449"/>
            <a:ext cx="3387252"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6BCB"/>
                </a:solidFill>
                <a:latin typeface="IBM Plex Sans KR" pitchFamily="34" charset="0"/>
                <a:ea typeface="IBM Plex Sans KR" pitchFamily="34" charset="-122"/>
                <a:cs typeface="IBM Plex Sans KR" pitchFamily="34" charset="-120"/>
              </a:rPr>
              <a:t>정의형 질문이면 Router가 정의 호를 고정</a:t>
            </a:r>
            <a:endParaRPr lang="en-US" sz="1300" dirty="0"/>
          </a:p>
        </p:txBody>
      </p:sp>
      <p:sp>
        <p:nvSpPr>
          <p:cNvPr id="19" name="Shape 17"/>
          <p:cNvSpPr/>
          <p:nvPr/>
        </p:nvSpPr>
        <p:spPr>
          <a:xfrm>
            <a:off x="815949" y="4397462"/>
            <a:ext cx="10560039" cy="561222"/>
          </a:xfrm>
          <a:prstGeom prst="roundRect">
            <a:avLst>
              <a:gd name="adj" fmla="val 17538"/>
            </a:avLst>
          </a:prstGeom>
          <a:solidFill>
            <a:srgbClr val="FDFDFE"/>
          </a:solidFill>
          <a:ln w="6350">
            <a:solidFill>
              <a:srgbClr val="DCE2EA"/>
            </a:solidFill>
            <a:prstDash val="solid"/>
          </a:ln>
        </p:spPr>
      </p:sp>
      <p:sp>
        <p:nvSpPr>
          <p:cNvPr id="20" name="Text 18"/>
          <p:cNvSpPr/>
          <p:nvPr/>
        </p:nvSpPr>
        <p:spPr>
          <a:xfrm>
            <a:off x="1073627" y="4553620"/>
            <a:ext cx="3270153"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2A"/>
                </a:solidFill>
                <a:latin typeface="IBM Plex Sans KR" pitchFamily="34" charset="0"/>
                <a:ea typeface="IBM Plex Sans KR" pitchFamily="34" charset="-122"/>
                <a:cs typeface="IBM Plex Sans KR" pitchFamily="34" charset="-120"/>
              </a:rPr>
              <a:t>후검증이 맞는 인용을 삭제</a:t>
            </a:r>
            <a:endParaRPr lang="en-US" sz="1400" dirty="0"/>
          </a:p>
        </p:txBody>
      </p:sp>
      <p:sp>
        <p:nvSpPr>
          <p:cNvPr id="21" name="Text 19"/>
          <p:cNvSpPr/>
          <p:nvPr/>
        </p:nvSpPr>
        <p:spPr>
          <a:xfrm>
            <a:off x="4451672" y="4562537"/>
            <a:ext cx="3270153"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근거는 조 전체인데 인용은 형제 항</a:t>
            </a:r>
            <a:endParaRPr lang="en-US" sz="1300" dirty="0"/>
          </a:p>
        </p:txBody>
      </p:sp>
      <p:sp>
        <p:nvSpPr>
          <p:cNvPr id="22" name="Text 20"/>
          <p:cNvSpPr/>
          <p:nvPr/>
        </p:nvSpPr>
        <p:spPr>
          <a:xfrm>
            <a:off x="7829717" y="4562537"/>
            <a:ext cx="3387252"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6BCB"/>
                </a:solidFill>
                <a:latin typeface="IBM Plex Sans KR" pitchFamily="34" charset="0"/>
                <a:ea typeface="IBM Plex Sans KR" pitchFamily="34" charset="-122"/>
                <a:cs typeface="IBM Plex Sans KR" pitchFamily="34" charset="-120"/>
              </a:rPr>
              <a:t>근거 인용 범위를 조 단위로 확장</a:t>
            </a:r>
            <a:endParaRPr lang="en-US" sz="1300" dirty="0"/>
          </a:p>
        </p:txBody>
      </p:sp>
      <p:sp>
        <p:nvSpPr>
          <p:cNvPr id="23" name="Text 21"/>
          <p:cNvSpPr/>
          <p:nvPr/>
        </p:nvSpPr>
        <p:spPr>
          <a:xfrm>
            <a:off x="812774" y="6238298"/>
            <a:ext cx="588640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Law-bot · AI 기본법 RAG QA</a:t>
            </a:r>
            <a:endParaRPr lang="en-US" sz="1200" dirty="0"/>
          </a:p>
        </p:txBody>
      </p:sp>
      <p:sp>
        <p:nvSpPr>
          <p:cNvPr id="24" name="Text 22"/>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03 · 실험 결과 · 서비스 프리셋 full = E10</a:t>
            </a:r>
            <a:endParaRPr lang="en-US" sz="1200" dirty="0"/>
          </a:p>
        </p:txBody>
      </p:sp>
      <p:sp>
        <p:nvSpPr>
          <p:cNvPr id="3" name="Text 1"/>
          <p:cNvSpPr>
            <a:spLocks noGrp="1"/>
          </p:cNvSpPr>
          <p:nvPr>
            <p:ph type="title"/>
          </p:nvPr>
        </p:nvSpPr>
        <p:spPr>
          <a:xfrm>
            <a:off x="812774" y="1102209"/>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최종 성능</a:t>
            </a:r>
            <a:endParaRPr lang="en-US" sz="3200" dirty="0"/>
          </a:p>
        </p:txBody>
      </p:sp>
      <p:sp>
        <p:nvSpPr>
          <p:cNvPr id="4" name="Shape 2"/>
          <p:cNvSpPr/>
          <p:nvPr/>
        </p:nvSpPr>
        <p:spPr>
          <a:xfrm>
            <a:off x="812774" y="1874230"/>
            <a:ext cx="4063979" cy="3344460"/>
          </a:xfrm>
          <a:prstGeom prst="roundRect">
            <a:avLst>
              <a:gd name="adj" fmla="val 3038"/>
            </a:avLst>
          </a:prstGeom>
          <a:solidFill>
            <a:srgbClr val="0F1B2A"/>
          </a:solidFill>
          <a:ln/>
        </p:spPr>
      </p:sp>
      <p:sp>
        <p:nvSpPr>
          <p:cNvPr id="5" name="Text 3"/>
          <p:cNvSpPr/>
          <p:nvPr/>
        </p:nvSpPr>
        <p:spPr>
          <a:xfrm>
            <a:off x="1117537" y="2178993"/>
            <a:ext cx="3558087" cy="256472"/>
          </a:xfrm>
          <a:prstGeom prst="rect">
            <a:avLst/>
          </a:prstGeom>
          <a:noFill/>
          <a:ln/>
        </p:spPr>
        <p:txBody>
          <a:bodyPr wrap="square" lIns="0" tIns="0" rIns="0" bIns="0" rtlCol="0" anchor="t">
            <a:normAutofit/>
          </a:bodyPr>
          <a:lstStyle/>
          <a:p>
            <a:pPr marL="0" indent="0" algn="l">
              <a:lnSpc>
                <a:spcPts val="1820"/>
              </a:lnSpc>
              <a:buNone/>
            </a:pPr>
            <a:r>
              <a:rPr lang="en-US" sz="1300" kern="0" spc="50" dirty="0">
                <a:solidFill>
                  <a:srgbClr val="38BDF8"/>
                </a:solidFill>
                <a:latin typeface="JetBrains Mono" pitchFamily="49" charset="0"/>
                <a:ea typeface="JetBrains Mono" pitchFamily="49" charset="-122"/>
                <a:cs typeface="JetBrains Mono" pitchFamily="49" charset="-120"/>
              </a:rPr>
              <a:t>검색 · test 11문항</a:t>
            </a:r>
            <a:endParaRPr lang="en-US" sz="1300" dirty="0"/>
          </a:p>
        </p:txBody>
      </p:sp>
      <p:sp>
        <p:nvSpPr>
          <p:cNvPr id="6" name="Text 4"/>
          <p:cNvSpPr/>
          <p:nvPr/>
        </p:nvSpPr>
        <p:spPr>
          <a:xfrm>
            <a:off x="1117537" y="2613199"/>
            <a:ext cx="3558087"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6E3"/>
                </a:solidFill>
                <a:latin typeface="JetBrains Mono" pitchFamily="49" charset="0"/>
                <a:ea typeface="JetBrains Mono" pitchFamily="49" charset="-122"/>
                <a:cs typeface="JetBrains Mono" pitchFamily="49" charset="-120"/>
              </a:rPr>
              <a:t>Hit@1</a:t>
            </a:r>
            <a:endParaRPr lang="en-US" sz="1300" dirty="0"/>
          </a:p>
        </p:txBody>
      </p:sp>
      <p:sp>
        <p:nvSpPr>
          <p:cNvPr id="7" name="Text 5"/>
          <p:cNvSpPr/>
          <p:nvPr/>
        </p:nvSpPr>
        <p:spPr>
          <a:xfrm>
            <a:off x="1117537" y="2996654"/>
            <a:ext cx="888856" cy="380921"/>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8FA3B8"/>
                </a:solidFill>
                <a:latin typeface="JetBrains Mono" pitchFamily="49" charset="0"/>
                <a:ea typeface="JetBrains Mono" pitchFamily="49" charset="-122"/>
                <a:cs typeface="JetBrains Mono" pitchFamily="49" charset="-120"/>
              </a:rPr>
              <a:t>0.545</a:t>
            </a:r>
            <a:endParaRPr lang="en-US" sz="2000" dirty="0"/>
          </a:p>
        </p:txBody>
      </p:sp>
      <p:pic>
        <p:nvPicPr>
          <p:cNvPr id="8" name="Image 0" descr="connector"/>
          <p:cNvPicPr>
            <a:picLocks noChangeAspect="1"/>
          </p:cNvPicPr>
          <p:nvPr/>
        </p:nvPicPr>
        <p:blipFill>
          <a:blip r:embed="rId3"/>
          <a:srcRect l="-31" r="-31"/>
          <a:stretch/>
        </p:blipFill>
        <p:spPr>
          <a:xfrm>
            <a:off x="2006393" y="3123605"/>
            <a:ext cx="355521" cy="101515"/>
          </a:xfrm>
          <a:prstGeom prst="rect">
            <a:avLst/>
          </a:prstGeom>
        </p:spPr>
      </p:pic>
      <p:sp>
        <p:nvSpPr>
          <p:cNvPr id="9" name="Text 6"/>
          <p:cNvSpPr/>
          <p:nvPr/>
        </p:nvSpPr>
        <p:spPr>
          <a:xfrm>
            <a:off x="2488862" y="2895029"/>
            <a:ext cx="1828579" cy="584169"/>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F4F6F9"/>
                </a:solidFill>
                <a:latin typeface="JetBrains Mono" pitchFamily="49" charset="0"/>
                <a:ea typeface="JetBrains Mono" pitchFamily="49" charset="-122"/>
                <a:cs typeface="JetBrains Mono" pitchFamily="49" charset="-120"/>
              </a:rPr>
              <a:t>1.000</a:t>
            </a:r>
            <a:endParaRPr lang="en-US" sz="4000" dirty="0"/>
          </a:p>
        </p:txBody>
      </p:sp>
      <p:sp>
        <p:nvSpPr>
          <p:cNvPr id="10" name="Text 7"/>
          <p:cNvSpPr/>
          <p:nvPr/>
        </p:nvSpPr>
        <p:spPr>
          <a:xfrm>
            <a:off x="1117537" y="3656936"/>
            <a:ext cx="3558087"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6E3"/>
                </a:solidFill>
                <a:latin typeface="JetBrains Mono" pitchFamily="49" charset="0"/>
                <a:ea typeface="JetBrains Mono" pitchFamily="49" charset="-122"/>
                <a:cs typeface="JetBrains Mono" pitchFamily="49" charset="-120"/>
              </a:rPr>
              <a:t>Full-Recall@ctx</a:t>
            </a:r>
            <a:endParaRPr lang="en-US" sz="1300" dirty="0"/>
          </a:p>
        </p:txBody>
      </p:sp>
      <p:sp>
        <p:nvSpPr>
          <p:cNvPr id="11" name="Text 8"/>
          <p:cNvSpPr/>
          <p:nvPr/>
        </p:nvSpPr>
        <p:spPr>
          <a:xfrm>
            <a:off x="1117537" y="4040392"/>
            <a:ext cx="888856" cy="380921"/>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8FA3B8"/>
                </a:solidFill>
                <a:latin typeface="JetBrains Mono" pitchFamily="49" charset="0"/>
                <a:ea typeface="JetBrains Mono" pitchFamily="49" charset="-122"/>
                <a:cs typeface="JetBrains Mono" pitchFamily="49" charset="-120"/>
              </a:rPr>
              <a:t>0.000</a:t>
            </a:r>
            <a:endParaRPr lang="en-US" sz="2000" dirty="0"/>
          </a:p>
        </p:txBody>
      </p:sp>
      <p:pic>
        <p:nvPicPr>
          <p:cNvPr id="12" name="Image 1" descr="connector"/>
          <p:cNvPicPr>
            <a:picLocks noChangeAspect="1"/>
          </p:cNvPicPr>
          <p:nvPr/>
        </p:nvPicPr>
        <p:blipFill>
          <a:blip r:embed="rId3"/>
          <a:srcRect l="-31" r="-31"/>
          <a:stretch/>
        </p:blipFill>
        <p:spPr>
          <a:xfrm>
            <a:off x="2006393" y="4167343"/>
            <a:ext cx="355521" cy="101515"/>
          </a:xfrm>
          <a:prstGeom prst="rect">
            <a:avLst/>
          </a:prstGeom>
        </p:spPr>
      </p:pic>
      <p:sp>
        <p:nvSpPr>
          <p:cNvPr id="13" name="Text 9"/>
          <p:cNvSpPr/>
          <p:nvPr/>
        </p:nvSpPr>
        <p:spPr>
          <a:xfrm>
            <a:off x="2488862" y="3938767"/>
            <a:ext cx="1828579" cy="584169"/>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F4F6F9"/>
                </a:solidFill>
                <a:latin typeface="JetBrains Mono" pitchFamily="49" charset="0"/>
                <a:ea typeface="JetBrains Mono" pitchFamily="49" charset="-122"/>
                <a:cs typeface="JetBrains Mono" pitchFamily="49" charset="-120"/>
              </a:rPr>
              <a:t>1.000</a:t>
            </a:r>
            <a:endParaRPr lang="en-US" sz="4000" dirty="0"/>
          </a:p>
        </p:txBody>
      </p:sp>
      <p:sp>
        <p:nvSpPr>
          <p:cNvPr id="14" name="Text 10"/>
          <p:cNvSpPr/>
          <p:nvPr/>
        </p:nvSpPr>
        <p:spPr>
          <a:xfrm>
            <a:off x="1117537" y="4700674"/>
            <a:ext cx="3558087"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E3"/>
                </a:solidFill>
                <a:latin typeface="IBM Plex Sans KR" pitchFamily="34" charset="0"/>
                <a:ea typeface="IBM Plex Sans KR" pitchFamily="34" charset="-122"/>
                <a:cs typeface="IBM Plex Sans KR" pitchFamily="34" charset="-120"/>
              </a:rPr>
              <a:t>E0 → E10 · 튜닝은 dev, test는 최종 1회</a:t>
            </a:r>
            <a:endParaRPr lang="en-US" sz="1200" dirty="0"/>
          </a:p>
        </p:txBody>
      </p:sp>
      <p:sp>
        <p:nvSpPr>
          <p:cNvPr id="15" name="Text 11"/>
          <p:cNvSpPr/>
          <p:nvPr/>
        </p:nvSpPr>
        <p:spPr>
          <a:xfrm>
            <a:off x="5079892" y="1874230"/>
            <a:ext cx="6488249" cy="256472"/>
          </a:xfrm>
          <a:prstGeom prst="rect">
            <a:avLst/>
          </a:prstGeom>
          <a:noFill/>
          <a:ln/>
        </p:spPr>
        <p:txBody>
          <a:bodyPr wrap="square" lIns="0" tIns="0" rIns="0" bIns="0" rtlCol="0" anchor="t">
            <a:normAutofit/>
          </a:bodyPr>
          <a:lstStyle/>
          <a:p>
            <a:pPr marL="0" indent="0" algn="l">
              <a:lnSpc>
                <a:spcPts val="1820"/>
              </a:lnSpc>
              <a:buNone/>
            </a:pPr>
            <a:r>
              <a:rPr lang="en-US" sz="1300" kern="0" spc="50" dirty="0">
                <a:solidFill>
                  <a:srgbClr val="0B6BCB"/>
                </a:solidFill>
                <a:latin typeface="JetBrains Mono" pitchFamily="49" charset="0"/>
                <a:ea typeface="JetBrains Mono" pitchFamily="49" charset="-122"/>
                <a:cs typeface="JetBrains Mono" pitchFamily="49" charset="-120"/>
              </a:rPr>
              <a:t>답변 · LLM judge · dev</a:t>
            </a:r>
            <a:endParaRPr lang="en-US" sz="1300" dirty="0"/>
          </a:p>
        </p:txBody>
      </p:sp>
      <p:sp>
        <p:nvSpPr>
          <p:cNvPr id="16" name="Shape 12"/>
          <p:cNvSpPr/>
          <p:nvPr/>
        </p:nvSpPr>
        <p:spPr>
          <a:xfrm>
            <a:off x="5083067" y="2260854"/>
            <a:ext cx="3067040" cy="1198573"/>
          </a:xfrm>
          <a:prstGeom prst="roundRect">
            <a:avLst>
              <a:gd name="adj" fmla="val 8212"/>
            </a:avLst>
          </a:prstGeom>
          <a:solidFill>
            <a:srgbClr val="FDFDFE"/>
          </a:solidFill>
          <a:ln w="6350">
            <a:solidFill>
              <a:srgbClr val="DCE2EA"/>
            </a:solidFill>
            <a:prstDash val="solid"/>
          </a:ln>
        </p:spPr>
      </p:sp>
      <p:sp>
        <p:nvSpPr>
          <p:cNvPr id="17" name="Text 13"/>
          <p:cNvSpPr/>
          <p:nvPr/>
        </p:nvSpPr>
        <p:spPr>
          <a:xfrm>
            <a:off x="5340745" y="2467775"/>
            <a:ext cx="2628235"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정확도</a:t>
            </a:r>
            <a:endParaRPr lang="en-US" sz="1300" dirty="0"/>
          </a:p>
        </p:txBody>
      </p:sp>
      <p:sp>
        <p:nvSpPr>
          <p:cNvPr id="18" name="Text 14"/>
          <p:cNvSpPr/>
          <p:nvPr/>
        </p:nvSpPr>
        <p:spPr>
          <a:xfrm>
            <a:off x="5340745" y="2749606"/>
            <a:ext cx="2628235" cy="528303"/>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0B6BCB"/>
                </a:solidFill>
                <a:latin typeface="JetBrains Mono" pitchFamily="49" charset="0"/>
                <a:ea typeface="JetBrains Mono" pitchFamily="49" charset="-122"/>
                <a:cs typeface="JetBrains Mono" pitchFamily="49" charset="-120"/>
              </a:rPr>
              <a:t>4.24</a:t>
            </a:r>
            <a:r>
              <a:rPr lang="en-US" sz="3600" b="1" dirty="0">
                <a:solidFill>
                  <a:srgbClr val="8FA3B8"/>
                </a:solidFill>
                <a:latin typeface="JetBrains Mono" pitchFamily="49" charset="0"/>
                <a:ea typeface="JetBrains Mono" pitchFamily="49" charset="-122"/>
                <a:cs typeface="JetBrains Mono" pitchFamily="49" charset="-120"/>
              </a:rPr>
              <a:t> /5</a:t>
            </a:r>
            <a:endParaRPr lang="en-US" sz="3600" dirty="0"/>
          </a:p>
        </p:txBody>
      </p:sp>
      <p:sp>
        <p:nvSpPr>
          <p:cNvPr id="19" name="Shape 15"/>
          <p:cNvSpPr/>
          <p:nvPr/>
        </p:nvSpPr>
        <p:spPr>
          <a:xfrm>
            <a:off x="8308839" y="2260854"/>
            <a:ext cx="3067149" cy="1198573"/>
          </a:xfrm>
          <a:prstGeom prst="roundRect">
            <a:avLst>
              <a:gd name="adj" fmla="val 8212"/>
            </a:avLst>
          </a:prstGeom>
          <a:solidFill>
            <a:srgbClr val="FDFDFE"/>
          </a:solidFill>
          <a:ln w="6350">
            <a:solidFill>
              <a:srgbClr val="DCE2EA"/>
            </a:solidFill>
            <a:prstDash val="solid"/>
          </a:ln>
        </p:spPr>
      </p:sp>
      <p:sp>
        <p:nvSpPr>
          <p:cNvPr id="20" name="Text 16"/>
          <p:cNvSpPr/>
          <p:nvPr/>
        </p:nvSpPr>
        <p:spPr>
          <a:xfrm>
            <a:off x="8566517" y="2467775"/>
            <a:ext cx="2628347"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근거 인용률</a:t>
            </a:r>
            <a:endParaRPr lang="en-US" sz="1300" dirty="0"/>
          </a:p>
        </p:txBody>
      </p:sp>
      <p:sp>
        <p:nvSpPr>
          <p:cNvPr id="21" name="Text 17"/>
          <p:cNvSpPr/>
          <p:nvPr/>
        </p:nvSpPr>
        <p:spPr>
          <a:xfrm>
            <a:off x="8566517" y="2749606"/>
            <a:ext cx="2628347" cy="528303"/>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0B6BCB"/>
                </a:solidFill>
                <a:latin typeface="JetBrains Mono" pitchFamily="49" charset="0"/>
                <a:ea typeface="JetBrains Mono" pitchFamily="49" charset="-122"/>
                <a:cs typeface="JetBrains Mono" pitchFamily="49" charset="-120"/>
              </a:rPr>
              <a:t>100%</a:t>
            </a:r>
            <a:endParaRPr lang="en-US" sz="3600" dirty="0"/>
          </a:p>
        </p:txBody>
      </p:sp>
      <p:sp>
        <p:nvSpPr>
          <p:cNvPr id="22" name="Shape 18"/>
          <p:cNvSpPr/>
          <p:nvPr/>
        </p:nvSpPr>
        <p:spPr>
          <a:xfrm>
            <a:off x="5083067" y="3618161"/>
            <a:ext cx="3067040" cy="1198573"/>
          </a:xfrm>
          <a:prstGeom prst="roundRect">
            <a:avLst>
              <a:gd name="adj" fmla="val 8212"/>
            </a:avLst>
          </a:prstGeom>
          <a:solidFill>
            <a:srgbClr val="FDFDFE"/>
          </a:solidFill>
          <a:ln w="6350">
            <a:solidFill>
              <a:srgbClr val="DCE2EA"/>
            </a:solidFill>
            <a:prstDash val="solid"/>
          </a:ln>
        </p:spPr>
      </p:sp>
      <p:sp>
        <p:nvSpPr>
          <p:cNvPr id="23" name="Text 19"/>
          <p:cNvSpPr/>
          <p:nvPr/>
        </p:nvSpPr>
        <p:spPr>
          <a:xfrm>
            <a:off x="5340745" y="3825081"/>
            <a:ext cx="2628235"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거절 정확도</a:t>
            </a:r>
            <a:endParaRPr lang="en-US" sz="1300" dirty="0"/>
          </a:p>
        </p:txBody>
      </p:sp>
      <p:sp>
        <p:nvSpPr>
          <p:cNvPr id="24" name="Text 20"/>
          <p:cNvSpPr/>
          <p:nvPr/>
        </p:nvSpPr>
        <p:spPr>
          <a:xfrm>
            <a:off x="5340745" y="4106912"/>
            <a:ext cx="2628235" cy="528303"/>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0B6BCB"/>
                </a:solidFill>
                <a:latin typeface="JetBrains Mono" pitchFamily="49" charset="0"/>
                <a:ea typeface="JetBrains Mono" pitchFamily="49" charset="-122"/>
                <a:cs typeface="JetBrains Mono" pitchFamily="49" charset="-120"/>
              </a:rPr>
              <a:t>1.0</a:t>
            </a:r>
            <a:endParaRPr lang="en-US" sz="3600" dirty="0"/>
          </a:p>
        </p:txBody>
      </p:sp>
      <p:sp>
        <p:nvSpPr>
          <p:cNvPr id="25" name="Shape 21"/>
          <p:cNvSpPr/>
          <p:nvPr/>
        </p:nvSpPr>
        <p:spPr>
          <a:xfrm>
            <a:off x="8308839" y="3618161"/>
            <a:ext cx="3067149" cy="1198573"/>
          </a:xfrm>
          <a:prstGeom prst="roundRect">
            <a:avLst>
              <a:gd name="adj" fmla="val 8212"/>
            </a:avLst>
          </a:prstGeom>
          <a:solidFill>
            <a:srgbClr val="FDFDFE"/>
          </a:solidFill>
          <a:ln w="6350">
            <a:solidFill>
              <a:srgbClr val="DCE2EA"/>
            </a:solidFill>
            <a:prstDash val="solid"/>
          </a:ln>
        </p:spPr>
      </p:sp>
      <p:sp>
        <p:nvSpPr>
          <p:cNvPr id="26" name="Text 22"/>
          <p:cNvSpPr/>
          <p:nvPr/>
        </p:nvSpPr>
        <p:spPr>
          <a:xfrm>
            <a:off x="8566517" y="3825081"/>
            <a:ext cx="2628347"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충실도 · 가장 낮음</a:t>
            </a:r>
            <a:endParaRPr lang="en-US" sz="1300" dirty="0"/>
          </a:p>
        </p:txBody>
      </p:sp>
      <p:sp>
        <p:nvSpPr>
          <p:cNvPr id="27" name="Text 23"/>
          <p:cNvSpPr/>
          <p:nvPr/>
        </p:nvSpPr>
        <p:spPr>
          <a:xfrm>
            <a:off x="8566517" y="4106912"/>
            <a:ext cx="2628347" cy="528303"/>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85F0E"/>
                </a:solidFill>
                <a:latin typeface="JetBrains Mono" pitchFamily="49" charset="0"/>
                <a:ea typeface="JetBrains Mono" pitchFamily="49" charset="-122"/>
                <a:cs typeface="JetBrains Mono" pitchFamily="49" charset="-120"/>
              </a:rPr>
              <a:t>3.38</a:t>
            </a:r>
            <a:r>
              <a:rPr lang="en-US" sz="3600" b="1" dirty="0">
                <a:solidFill>
                  <a:srgbClr val="8FA3B8"/>
                </a:solidFill>
                <a:latin typeface="JetBrains Mono" pitchFamily="49" charset="0"/>
                <a:ea typeface="JetBrains Mono" pitchFamily="49" charset="-122"/>
                <a:cs typeface="JetBrains Mono" pitchFamily="49" charset="-120"/>
              </a:rPr>
              <a:t> /5</a:t>
            </a:r>
            <a:endParaRPr lang="en-US" sz="3600" dirty="0"/>
          </a:p>
        </p:txBody>
      </p:sp>
      <p:sp>
        <p:nvSpPr>
          <p:cNvPr id="28" name="Text 24"/>
          <p:cNvSpPr/>
          <p:nvPr/>
        </p:nvSpPr>
        <p:spPr>
          <a:xfrm>
            <a:off x="5079892" y="4972292"/>
            <a:ext cx="648824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숫자 불일치 0 · test 환각 인용 2/12는 후검증이 제거</a:t>
            </a:r>
            <a:endParaRPr lang="en-US" sz="1200" dirty="0"/>
          </a:p>
        </p:txBody>
      </p:sp>
      <p:sp>
        <p:nvSpPr>
          <p:cNvPr id="29" name="Text 25"/>
          <p:cNvSpPr/>
          <p:nvPr/>
        </p:nvSpPr>
        <p:spPr>
          <a:xfrm>
            <a:off x="812774" y="6238298"/>
            <a:ext cx="588640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Law-bot · AI 기본법 RAG QA</a:t>
            </a:r>
            <a:endParaRPr lang="en-US" sz="1200" dirty="0"/>
          </a:p>
        </p:txBody>
      </p:sp>
      <p:sp>
        <p:nvSpPr>
          <p:cNvPr id="30" name="Text 26"/>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A"/>
        </a:solidFill>
        <a:effectLst/>
      </p:bgPr>
    </p:bg>
    <p:spTree>
      <p:nvGrpSpPr>
        <p:cNvPr id="1" name=""/>
        <p:cNvGrpSpPr/>
        <p:nvPr/>
      </p:nvGrpSpPr>
      <p:grpSpPr>
        <a:xfrm>
          <a:off x="0" y="0"/>
          <a:ext cx="0" cy="0"/>
          <a:chOff x="0" y="0"/>
          <a:chExt cx="0" cy="0"/>
        </a:xfrm>
      </p:grpSpPr>
      <p:sp>
        <p:nvSpPr>
          <p:cNvPr id="2" name="Shape 0"/>
          <p:cNvSpPr/>
          <p:nvPr/>
        </p:nvSpPr>
        <p:spPr>
          <a:xfrm>
            <a:off x="0" y="0"/>
            <a:ext cx="152382" cy="6857931"/>
          </a:xfrm>
          <a:prstGeom prst="rect">
            <a:avLst/>
          </a:prstGeom>
          <a:solidFill>
            <a:srgbClr val="38BDF8"/>
          </a:solidFill>
          <a:ln/>
        </p:spPr>
      </p:sp>
      <p:sp>
        <p:nvSpPr>
          <p:cNvPr id="3" name="Text 1"/>
          <p:cNvSpPr/>
          <p:nvPr/>
        </p:nvSpPr>
        <p:spPr>
          <a:xfrm>
            <a:off x="812774" y="2029439"/>
            <a:ext cx="10883381" cy="1295427"/>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38BDF8"/>
                </a:solidFill>
                <a:latin typeface="JetBrains Mono" pitchFamily="49" charset="0"/>
                <a:ea typeface="JetBrains Mono" pitchFamily="49" charset="-122"/>
                <a:cs typeface="JetBrains Mono" pitchFamily="49" charset="-120"/>
              </a:rPr>
              <a:t>04</a:t>
            </a:r>
            <a:endParaRPr lang="en-US" sz="10000" dirty="0"/>
          </a:p>
        </p:txBody>
      </p:sp>
      <p:sp>
        <p:nvSpPr>
          <p:cNvPr id="4" name="Text 2"/>
          <p:cNvSpPr>
            <a:spLocks noGrp="1"/>
          </p:cNvSpPr>
          <p:nvPr>
            <p:ph type="title"/>
          </p:nvPr>
        </p:nvSpPr>
        <p:spPr>
          <a:xfrm>
            <a:off x="812774" y="3451839"/>
            <a:ext cx="10883381" cy="726442"/>
          </a:xfrm>
          <a:prstGeom prst="rect">
            <a:avLst/>
          </a:prstGeom>
          <a:noFill/>
          <a:ln/>
        </p:spPr>
        <p:txBody>
          <a:bodyPr wrap="square" lIns="0" tIns="0" rIns="0" bIns="0" rtlCol="0" anchor="t">
            <a:normAutofit/>
          </a:bodyPr>
          <a:lstStyle/>
          <a:p>
            <a:pPr marL="0" indent="0" algn="l">
              <a:lnSpc>
                <a:spcPts val="5520"/>
              </a:lnSpc>
              <a:buNone/>
            </a:pPr>
            <a:r>
              <a:rPr lang="en-US" sz="4800" b="1" i="0" dirty="0">
                <a:solidFill>
                  <a:srgbClr val="F4F6F9"/>
                </a:solidFill>
                <a:latin typeface="IBM Plex Sans KR" pitchFamily="34" charset="0"/>
                <a:ea typeface="IBM Plex Sans KR" pitchFamily="34" charset="-122"/>
                <a:cs typeface="IBM Plex Sans KR" pitchFamily="34" charset="-120"/>
              </a:rPr>
              <a:t>한계 · 향후 과제</a:t>
            </a:r>
            <a:endParaRPr lang="en-US" sz="4800" dirty="0"/>
          </a:p>
        </p:txBody>
      </p:sp>
      <p:sp>
        <p:nvSpPr>
          <p:cNvPr id="5" name="Text 3"/>
          <p:cNvSpPr/>
          <p:nvPr/>
        </p:nvSpPr>
        <p:spPr>
          <a:xfrm>
            <a:off x="812774" y="4305269"/>
            <a:ext cx="10883381"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E3"/>
                </a:solidFill>
                <a:latin typeface="IBM Plex Sans KR" pitchFamily="34" charset="0"/>
                <a:ea typeface="IBM Plex Sans KR" pitchFamily="34" charset="-122"/>
                <a:cs typeface="IBM Plex Sans KR" pitchFamily="34" charset="-120"/>
              </a:rPr>
              <a:t>남은 실패 유형 · 개선 방향</a:t>
            </a:r>
            <a:endParaRPr lang="en-US" sz="1800" dirty="0"/>
          </a:p>
        </p:txBody>
      </p:sp>
      <p:sp>
        <p:nvSpPr>
          <p:cNvPr id="6" name="Text 4"/>
          <p:cNvSpPr/>
          <p:nvPr/>
        </p:nvSpPr>
        <p:spPr>
          <a:xfrm>
            <a:off x="10058445" y="6238298"/>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381" cy="2386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6BCB"/>
                </a:solidFill>
                <a:latin typeface="JetBrains Mono" pitchFamily="49" charset="0"/>
                <a:ea typeface="JetBrains Mono" pitchFamily="49" charset="-122"/>
                <a:cs typeface="JetBrains Mono" pitchFamily="49" charset="-120"/>
              </a:rPr>
              <a:t>04 · 한계 · 향후 과제</a:t>
            </a:r>
            <a:endParaRPr lang="en-US" sz="1200" dirty="0"/>
          </a:p>
        </p:txBody>
      </p:sp>
      <p:sp>
        <p:nvSpPr>
          <p:cNvPr id="3" name="Text 1"/>
          <p:cNvSpPr>
            <a:spLocks noGrp="1"/>
          </p:cNvSpPr>
          <p:nvPr>
            <p:ph type="title"/>
          </p:nvPr>
        </p:nvSpPr>
        <p:spPr>
          <a:xfrm>
            <a:off x="812774" y="1102209"/>
            <a:ext cx="10883381" cy="492653"/>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A"/>
                </a:solidFill>
                <a:latin typeface="IBM Plex Sans KR" pitchFamily="34" charset="0"/>
                <a:ea typeface="IBM Plex Sans KR" pitchFamily="34" charset="-122"/>
                <a:cs typeface="IBM Plex Sans KR" pitchFamily="34" charset="-120"/>
              </a:rPr>
              <a:t>한계와 개선 방향</a:t>
            </a:r>
            <a:endParaRPr lang="en-US" sz="3200" dirty="0"/>
          </a:p>
        </p:txBody>
      </p:sp>
      <p:sp>
        <p:nvSpPr>
          <p:cNvPr id="4" name="Shape 2"/>
          <p:cNvSpPr/>
          <p:nvPr/>
        </p:nvSpPr>
        <p:spPr>
          <a:xfrm>
            <a:off x="815949" y="1928155"/>
            <a:ext cx="5175275" cy="1404103"/>
          </a:xfrm>
          <a:prstGeom prst="roundRect">
            <a:avLst>
              <a:gd name="adj" fmla="val 7010"/>
            </a:avLst>
          </a:prstGeom>
          <a:solidFill>
            <a:srgbClr val="FDFDFE"/>
          </a:solidFill>
          <a:ln w="6350">
            <a:solidFill>
              <a:srgbClr val="DCE2EA"/>
            </a:solidFill>
            <a:prstDash val="solid"/>
          </a:ln>
        </p:spPr>
      </p:sp>
      <p:pic>
        <p:nvPicPr>
          <p:cNvPr id="5" name="Image 0" descr="Clock"/>
          <p:cNvPicPr>
            <a:picLocks noChangeAspect="1"/>
          </p:cNvPicPr>
          <p:nvPr/>
        </p:nvPicPr>
        <p:blipFill>
          <a:blip r:embed="rId3"/>
          <a:srcRect/>
          <a:stretch/>
        </p:blipFill>
        <p:spPr>
          <a:xfrm>
            <a:off x="1073627" y="2185839"/>
            <a:ext cx="355521" cy="355521"/>
          </a:xfrm>
          <a:prstGeom prst="rect">
            <a:avLst/>
          </a:prstGeom>
        </p:spPr>
      </p:pic>
      <p:sp>
        <p:nvSpPr>
          <p:cNvPr id="6" name="Text 3"/>
          <p:cNvSpPr/>
          <p:nvPr/>
        </p:nvSpPr>
        <p:spPr>
          <a:xfrm>
            <a:off x="1632287" y="2185839"/>
            <a:ext cx="4224297" cy="29962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BM Plex Sans KR" pitchFamily="34" charset="0"/>
                <a:ea typeface="IBM Plex Sans KR" pitchFamily="34" charset="-122"/>
                <a:cs typeface="IBM Plex Sans KR" pitchFamily="34" charset="-120"/>
              </a:rPr>
              <a:t>응답 지연</a:t>
            </a:r>
            <a:endParaRPr lang="en-US" sz="1800" dirty="0"/>
          </a:p>
        </p:txBody>
      </p:sp>
      <p:sp>
        <p:nvSpPr>
          <p:cNvPr id="7" name="Text 4"/>
          <p:cNvSpPr/>
          <p:nvPr/>
        </p:nvSpPr>
        <p:spPr>
          <a:xfrm>
            <a:off x="1632287" y="2536242"/>
            <a:ext cx="4224297"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질문당 11~13초 (검색만 0.9초)</a:t>
            </a:r>
            <a:endParaRPr lang="en-US" sz="1300" dirty="0"/>
          </a:p>
        </p:txBody>
      </p:sp>
      <p:sp>
        <p:nvSpPr>
          <p:cNvPr id="8" name="Text 5"/>
          <p:cNvSpPr/>
          <p:nvPr/>
        </p:nvSpPr>
        <p:spPr>
          <a:xfrm>
            <a:off x="1632287" y="2843510"/>
            <a:ext cx="4224297" cy="25647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6BCB"/>
                </a:solidFill>
                <a:latin typeface="IBM Plex Sans KR" pitchFamily="34" charset="0"/>
                <a:ea typeface="IBM Plex Sans KR" pitchFamily="34" charset="-122"/>
                <a:cs typeface="IBM Plex Sans KR" pitchFamily="34" charset="-120"/>
              </a:rPr>
              <a:t>→ 범위 밖 질문 조기 거절</a:t>
            </a:r>
            <a:endParaRPr lang="en-US" sz="1300" dirty="0"/>
          </a:p>
        </p:txBody>
      </p:sp>
      <p:sp>
        <p:nvSpPr>
          <p:cNvPr id="9" name="Shape 6"/>
          <p:cNvSpPr/>
          <p:nvPr/>
        </p:nvSpPr>
        <p:spPr>
          <a:xfrm>
            <a:off x="6200713" y="1928155"/>
            <a:ext cx="5175275" cy="1404103"/>
          </a:xfrm>
          <a:prstGeom prst="roundRect">
            <a:avLst>
              <a:gd name="adj" fmla="val 7010"/>
            </a:avLst>
          </a:prstGeom>
          <a:solidFill>
            <a:srgbClr val="FDFDFE"/>
          </a:solidFill>
          <a:ln w="6350">
            <a:solidFill>
              <a:srgbClr val="DCE2EA"/>
            </a:solidFill>
            <a:prstDash val="solid"/>
          </a:ln>
        </p:spPr>
      </p:sp>
      <p:pic>
        <p:nvPicPr>
          <p:cNvPr id="10" name="Image 1" descr="Link"/>
          <p:cNvPicPr>
            <a:picLocks noChangeAspect="1"/>
          </p:cNvPicPr>
          <p:nvPr/>
        </p:nvPicPr>
        <p:blipFill>
          <a:blip r:embed="rId4"/>
          <a:srcRect/>
          <a:stretch/>
        </p:blipFill>
        <p:spPr>
          <a:xfrm>
            <a:off x="6458391" y="2185839"/>
            <a:ext cx="355521" cy="355521"/>
          </a:xfrm>
          <a:prstGeom prst="rect">
            <a:avLst/>
          </a:prstGeom>
        </p:spPr>
      </p:pic>
      <p:sp>
        <p:nvSpPr>
          <p:cNvPr id="11" name="Text 7"/>
          <p:cNvSpPr/>
          <p:nvPr/>
        </p:nvSpPr>
        <p:spPr>
          <a:xfrm>
            <a:off x="7017051" y="2185839"/>
            <a:ext cx="4224297" cy="29962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BM Plex Sans KR" pitchFamily="34" charset="0"/>
                <a:ea typeface="IBM Plex Sans KR" pitchFamily="34" charset="-122"/>
                <a:cs typeface="IBM Plex Sans KR" pitchFamily="34" charset="-120"/>
              </a:rPr>
              <a:t>역방향 참조</a:t>
            </a:r>
            <a:endParaRPr lang="en-US" sz="1800" dirty="0"/>
          </a:p>
        </p:txBody>
      </p:sp>
      <p:sp>
        <p:nvSpPr>
          <p:cNvPr id="12" name="Text 8"/>
          <p:cNvSpPr/>
          <p:nvPr/>
        </p:nvSpPr>
        <p:spPr>
          <a:xfrm>
            <a:off x="7017051" y="2536242"/>
            <a:ext cx="4224297"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의무 조문 → 제재 조문 연결 실패</a:t>
            </a:r>
            <a:endParaRPr lang="en-US" sz="1300" dirty="0"/>
          </a:p>
        </p:txBody>
      </p:sp>
      <p:sp>
        <p:nvSpPr>
          <p:cNvPr id="13" name="Text 9"/>
          <p:cNvSpPr/>
          <p:nvPr/>
        </p:nvSpPr>
        <p:spPr>
          <a:xfrm>
            <a:off x="7017051" y="2843510"/>
            <a:ext cx="4224297" cy="25647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6BCB"/>
                </a:solidFill>
                <a:latin typeface="IBM Plex Sans KR" pitchFamily="34" charset="0"/>
                <a:ea typeface="IBM Plex Sans KR" pitchFamily="34" charset="-122"/>
                <a:cs typeface="IBM Plex Sans KR" pitchFamily="34" charset="-120"/>
              </a:rPr>
              <a:t>→ referenced_by 확장</a:t>
            </a:r>
            <a:endParaRPr lang="en-US" sz="1300" dirty="0"/>
          </a:p>
        </p:txBody>
      </p:sp>
      <p:sp>
        <p:nvSpPr>
          <p:cNvPr id="14" name="Shape 10"/>
          <p:cNvSpPr/>
          <p:nvPr/>
        </p:nvSpPr>
        <p:spPr>
          <a:xfrm>
            <a:off x="815949" y="3541750"/>
            <a:ext cx="5175275" cy="1404103"/>
          </a:xfrm>
          <a:prstGeom prst="roundRect">
            <a:avLst>
              <a:gd name="adj" fmla="val 7010"/>
            </a:avLst>
          </a:prstGeom>
          <a:solidFill>
            <a:srgbClr val="FDFDFE"/>
          </a:solidFill>
          <a:ln w="6350">
            <a:solidFill>
              <a:srgbClr val="DCE2EA"/>
            </a:solidFill>
            <a:prstDash val="solid"/>
          </a:ln>
        </p:spPr>
      </p:sp>
      <p:pic>
        <p:nvPicPr>
          <p:cNvPr id="15" name="Image 2" descr="Warning"/>
          <p:cNvPicPr>
            <a:picLocks noChangeAspect="1"/>
          </p:cNvPicPr>
          <p:nvPr/>
        </p:nvPicPr>
        <p:blipFill>
          <a:blip r:embed="rId5"/>
          <a:srcRect/>
          <a:stretch/>
        </p:blipFill>
        <p:spPr>
          <a:xfrm>
            <a:off x="1073627" y="3799433"/>
            <a:ext cx="355521" cy="355521"/>
          </a:xfrm>
          <a:prstGeom prst="rect">
            <a:avLst/>
          </a:prstGeom>
        </p:spPr>
      </p:pic>
      <p:sp>
        <p:nvSpPr>
          <p:cNvPr id="16" name="Text 11"/>
          <p:cNvSpPr/>
          <p:nvPr/>
        </p:nvSpPr>
        <p:spPr>
          <a:xfrm>
            <a:off x="1632287" y="3799433"/>
            <a:ext cx="4224297" cy="29962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BM Plex Sans KR" pitchFamily="34" charset="0"/>
                <a:ea typeface="IBM Plex Sans KR" pitchFamily="34" charset="-122"/>
                <a:cs typeface="IBM Plex Sans KR" pitchFamily="34" charset="-120"/>
              </a:rPr>
              <a:t>작은 골든셋</a:t>
            </a:r>
            <a:endParaRPr lang="en-US" sz="1800" dirty="0"/>
          </a:p>
        </p:txBody>
      </p:sp>
      <p:sp>
        <p:nvSpPr>
          <p:cNvPr id="17" name="Text 12"/>
          <p:cNvSpPr/>
          <p:nvPr/>
        </p:nvSpPr>
        <p:spPr>
          <a:xfrm>
            <a:off x="1632287" y="4149837"/>
            <a:ext cx="4224297"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45문항 · 위임 확장 test 미재현</a:t>
            </a:r>
            <a:endParaRPr lang="en-US" sz="1300" dirty="0"/>
          </a:p>
        </p:txBody>
      </p:sp>
      <p:sp>
        <p:nvSpPr>
          <p:cNvPr id="18" name="Text 13"/>
          <p:cNvSpPr/>
          <p:nvPr/>
        </p:nvSpPr>
        <p:spPr>
          <a:xfrm>
            <a:off x="1632287" y="4457105"/>
            <a:ext cx="4224297" cy="25647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6BCB"/>
                </a:solidFill>
                <a:latin typeface="IBM Plex Sans KR" pitchFamily="34" charset="0"/>
                <a:ea typeface="IBM Plex Sans KR" pitchFamily="34" charset="-122"/>
                <a:cs typeface="IBM Plex Sans KR" pitchFamily="34" charset="-120"/>
              </a:rPr>
              <a:t>→ 문항 확대 · term gold 정리</a:t>
            </a:r>
            <a:endParaRPr lang="en-US" sz="1300" dirty="0"/>
          </a:p>
        </p:txBody>
      </p:sp>
      <p:sp>
        <p:nvSpPr>
          <p:cNvPr id="19" name="Shape 14"/>
          <p:cNvSpPr/>
          <p:nvPr/>
        </p:nvSpPr>
        <p:spPr>
          <a:xfrm>
            <a:off x="6200713" y="3541750"/>
            <a:ext cx="5175275" cy="1404103"/>
          </a:xfrm>
          <a:prstGeom prst="roundRect">
            <a:avLst>
              <a:gd name="adj" fmla="val 7010"/>
            </a:avLst>
          </a:prstGeom>
          <a:solidFill>
            <a:srgbClr val="FDFDFE"/>
          </a:solidFill>
          <a:ln w="6350">
            <a:solidFill>
              <a:srgbClr val="DCE2EA"/>
            </a:solidFill>
            <a:prstDash val="solid"/>
          </a:ln>
        </p:spPr>
      </p:sp>
      <p:pic>
        <p:nvPicPr>
          <p:cNvPr id="20" name="Image 3" descr="Book"/>
          <p:cNvPicPr>
            <a:picLocks noChangeAspect="1"/>
          </p:cNvPicPr>
          <p:nvPr/>
        </p:nvPicPr>
        <p:blipFill>
          <a:blip r:embed="rId6"/>
          <a:srcRect/>
          <a:stretch/>
        </p:blipFill>
        <p:spPr>
          <a:xfrm>
            <a:off x="6458391" y="3799433"/>
            <a:ext cx="355521" cy="355521"/>
          </a:xfrm>
          <a:prstGeom prst="rect">
            <a:avLst/>
          </a:prstGeom>
        </p:spPr>
      </p:pic>
      <p:sp>
        <p:nvSpPr>
          <p:cNvPr id="21" name="Text 15"/>
          <p:cNvSpPr/>
          <p:nvPr/>
        </p:nvSpPr>
        <p:spPr>
          <a:xfrm>
            <a:off x="7017051" y="3799433"/>
            <a:ext cx="4224297" cy="29962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BM Plex Sans KR" pitchFamily="34" charset="0"/>
                <a:ea typeface="IBM Plex Sans KR" pitchFamily="34" charset="-122"/>
                <a:cs typeface="IBM Plex Sans KR" pitchFamily="34" charset="-120"/>
              </a:rPr>
              <a:t>수작업 용어 사전</a:t>
            </a:r>
            <a:endParaRPr lang="en-US" sz="1800" dirty="0"/>
          </a:p>
        </p:txBody>
      </p:sp>
      <p:sp>
        <p:nvSpPr>
          <p:cNvPr id="22" name="Text 16"/>
          <p:cNvSpPr/>
          <p:nvPr/>
        </p:nvSpPr>
        <p:spPr>
          <a:xfrm>
            <a:off x="7017051" y="4149837"/>
            <a:ext cx="4224297" cy="25647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Term 확장 성능이 사전 품질에 의존</a:t>
            </a:r>
            <a:endParaRPr lang="en-US" sz="1300" dirty="0"/>
          </a:p>
        </p:txBody>
      </p:sp>
      <p:sp>
        <p:nvSpPr>
          <p:cNvPr id="23" name="Text 17"/>
          <p:cNvSpPr/>
          <p:nvPr/>
        </p:nvSpPr>
        <p:spPr>
          <a:xfrm>
            <a:off x="7017051" y="4457105"/>
            <a:ext cx="4224297" cy="25647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6BCB"/>
                </a:solidFill>
                <a:latin typeface="IBM Plex Sans KR" pitchFamily="34" charset="0"/>
                <a:ea typeface="IBM Plex Sans KR" pitchFamily="34" charset="-122"/>
                <a:cs typeface="IBM Plex Sans KR" pitchFamily="34" charset="-120"/>
              </a:rPr>
              <a:t>→ 사전 자동 구축 검토</a:t>
            </a:r>
            <a:endParaRPr lang="en-US" sz="1300" dirty="0"/>
          </a:p>
        </p:txBody>
      </p:sp>
      <p:sp>
        <p:nvSpPr>
          <p:cNvPr id="24" name="Text 18"/>
          <p:cNvSpPr/>
          <p:nvPr/>
        </p:nvSpPr>
        <p:spPr>
          <a:xfrm>
            <a:off x="812774" y="6238292"/>
            <a:ext cx="5886409" cy="2386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5"/>
                </a:solidFill>
                <a:latin typeface="IBM Plex Sans KR" pitchFamily="34" charset="0"/>
                <a:ea typeface="IBM Plex Sans KR" pitchFamily="34" charset="-122"/>
                <a:cs typeface="IBM Plex Sans KR" pitchFamily="34" charset="-120"/>
              </a:rPr>
              <a:t>Law-bot · AI 기본법 RAG QA</a:t>
            </a:r>
            <a:endParaRPr lang="en-US" sz="1200" dirty="0"/>
          </a:p>
        </p:txBody>
      </p:sp>
      <p:sp>
        <p:nvSpPr>
          <p:cNvPr id="25" name="Text 19"/>
          <p:cNvSpPr/>
          <p:nvPr/>
        </p:nvSpPr>
        <p:spPr>
          <a:xfrm>
            <a:off x="10058445" y="6238292"/>
            <a:ext cx="1320719" cy="2386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85"/>
                </a:solidFill>
                <a:latin typeface="JetBrains Mono" pitchFamily="49" charset="0"/>
                <a:ea typeface="JetBrains Mono" pitchFamily="49" charset="-122"/>
                <a:cs typeface="JetBrains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A"/>
        </a:solidFill>
        <a:effectLst/>
      </p:bgPr>
    </p:bg>
    <p:spTree>
      <p:nvGrpSpPr>
        <p:cNvPr id="1" name=""/>
        <p:cNvGrpSpPr/>
        <p:nvPr/>
      </p:nvGrpSpPr>
      <p:grpSpPr>
        <a:xfrm>
          <a:off x="0" y="0"/>
          <a:ext cx="0" cy="0"/>
          <a:chOff x="0" y="0"/>
          <a:chExt cx="0" cy="0"/>
        </a:xfrm>
      </p:grpSpPr>
      <p:sp>
        <p:nvSpPr>
          <p:cNvPr id="2" name="Shape 0"/>
          <p:cNvSpPr/>
          <p:nvPr/>
        </p:nvSpPr>
        <p:spPr>
          <a:xfrm>
            <a:off x="0" y="0"/>
            <a:ext cx="152382" cy="6857931"/>
          </a:xfrm>
          <a:prstGeom prst="rect">
            <a:avLst/>
          </a:prstGeom>
          <a:solidFill>
            <a:srgbClr val="38BDF8"/>
          </a:solidFill>
          <a:ln/>
        </p:spPr>
      </p:sp>
      <p:pic>
        <p:nvPicPr>
          <p:cNvPr id="3" name="Image 0" descr="Law-bot 로고"/>
          <p:cNvPicPr>
            <a:picLocks noChangeAspect="1"/>
          </p:cNvPicPr>
          <p:nvPr/>
        </p:nvPicPr>
        <p:blipFill>
          <a:blip r:embed="rId3"/>
          <a:srcRect l="-781" r="-781"/>
          <a:stretch/>
        </p:blipFill>
        <p:spPr>
          <a:xfrm>
            <a:off x="5334007" y="1849127"/>
            <a:ext cx="1523924" cy="1523924"/>
          </a:xfrm>
          <a:prstGeom prst="rect">
            <a:avLst/>
          </a:prstGeom>
        </p:spPr>
      </p:pic>
      <p:sp>
        <p:nvSpPr>
          <p:cNvPr id="4" name="Text 1"/>
          <p:cNvSpPr>
            <a:spLocks noGrp="1"/>
          </p:cNvSpPr>
          <p:nvPr>
            <p:ph type="title"/>
          </p:nvPr>
        </p:nvSpPr>
        <p:spPr>
          <a:xfrm>
            <a:off x="4056828" y="3576191"/>
            <a:ext cx="4078174" cy="863607"/>
          </a:xfrm>
          <a:prstGeom prst="rect">
            <a:avLst/>
          </a:prstGeom>
          <a:noFill/>
          <a:ln/>
        </p:spPr>
        <p:txBody>
          <a:bodyPr wrap="square" lIns="0" tIns="0" rIns="0" bIns="0" rtlCol="0" anchor="t">
            <a:normAutofit/>
          </a:bodyPr>
          <a:lstStyle/>
          <a:p>
            <a:pPr marL="0" indent="0" algn="ctr">
              <a:lnSpc>
                <a:spcPts val="6600"/>
              </a:lnSpc>
              <a:buNone/>
            </a:pPr>
            <a:r>
              <a:rPr lang="en-US" sz="6000" b="1" i="0" dirty="0">
                <a:solidFill>
                  <a:srgbClr val="F4F6F9"/>
                </a:solidFill>
                <a:latin typeface="IBM Plex Sans KR" pitchFamily="34" charset="0"/>
                <a:ea typeface="IBM Plex Sans KR" pitchFamily="34" charset="-122"/>
                <a:cs typeface="IBM Plex Sans KR" pitchFamily="34" charset="-120"/>
              </a:rPr>
              <a:t>감사합니다</a:t>
            </a:r>
            <a:endParaRPr lang="en-US" sz="6000" dirty="0"/>
          </a:p>
        </p:txBody>
      </p:sp>
      <p:sp>
        <p:nvSpPr>
          <p:cNvPr id="5" name="Text 2"/>
          <p:cNvSpPr/>
          <p:nvPr/>
        </p:nvSpPr>
        <p:spPr>
          <a:xfrm>
            <a:off x="5593110" y="4617529"/>
            <a:ext cx="1005718" cy="416571"/>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38BDF8"/>
                </a:solidFill>
                <a:latin typeface="JetBrains Mono" pitchFamily="49" charset="0"/>
                <a:ea typeface="JetBrains Mono" pitchFamily="49" charset="-122"/>
                <a:cs typeface="JetBrains Mono" pitchFamily="49" charset="-120"/>
              </a:rPr>
              <a:t>Q &amp; A</a:t>
            </a:r>
            <a:endParaRPr lang="en-US" sz="2200" dirty="0"/>
          </a:p>
        </p:txBody>
      </p:sp>
      <p:sp>
        <p:nvSpPr>
          <p:cNvPr id="6" name="Text 3"/>
          <p:cNvSpPr/>
          <p:nvPr/>
        </p:nvSpPr>
        <p:spPr>
          <a:xfrm>
            <a:off x="654278" y="6238304"/>
            <a:ext cx="10883381" cy="23864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8FA3B8"/>
                </a:solidFill>
                <a:latin typeface="IBM Plex Sans KR" pitchFamily="34" charset="0"/>
                <a:ea typeface="IBM Plex Sans KR" pitchFamily="34" charset="-122"/>
                <a:cs typeface="IBM Plex Sans KR" pitchFamily="34" charset="-120"/>
              </a:rPr>
              <a:t>답변은 법률 자문이 아닙니다 · 응답의 notice 필드로 AI 생성 표시</a:t>
            </a:r>
            <a:endParaRPr lang="en-US" sz="1200" dirty="0"/>
          </a:p>
        </p:txBody>
      </p:sp>
    </p:spTree>
  </p:cSld>
  <p:clrMapOvr>
    <a:masterClrMapping/>
  </p:clrMapOvr>
</p:sld>
</file>

<file path=ppt/theme/theme1.xml><?xml version="1.0" encoding="utf-8"?>
<a:theme xmlns:a="http://schemas.openxmlformats.org/drawingml/2006/main" name="로봇 (Law-bot) — AI 기본법 RAG QA">
  <a:themeElements>
    <a:clrScheme name="로봇 (Law-bot) — AI 기본법 RAG QA">
      <a:dk1>
        <a:srgbClr val="0F1B2A"/>
      </a:dk1>
      <a:lt1>
        <a:srgbClr val="F4F6F9"/>
      </a:lt1>
      <a:dk2>
        <a:srgbClr val="48525E"/>
      </a:dk2>
      <a:lt2>
        <a:srgbClr val="DDE0E4"/>
      </a:lt2>
      <a:accent1>
        <a:srgbClr val="0B6BCB"/>
      </a:accent1>
      <a:accent2>
        <a:srgbClr val="B85F0E"/>
      </a:accent2>
      <a:accent3>
        <a:srgbClr val="38BDF8"/>
      </a:accent3>
      <a:accent4>
        <a:srgbClr val="E8892B"/>
      </a:accent4>
      <a:accent5>
        <a:srgbClr val="8FA3B8"/>
      </a:accent5>
      <a:accent6>
        <a:srgbClr val="9CC3EA"/>
      </a:accent6>
      <a:hlink>
        <a:srgbClr val="0563C1"/>
      </a:hlink>
      <a:folHlink>
        <a:srgbClr val="954F72"/>
      </a:folHlink>
    </a:clrScheme>
    <a:fontScheme name="로봇 (Law-bot) — AI 기본법 RAG QA">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1923</Words>
  <Application>Microsoft Office PowerPoint</Application>
  <PresentationFormat>와이드스크린</PresentationFormat>
  <Paragraphs>328</Paragraphs>
  <Slides>18</Slides>
  <Notes>18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18</vt:i4>
      </vt:variant>
    </vt:vector>
  </HeadingPairs>
  <TitlesOfParts>
    <vt:vector size="22" baseType="lpstr">
      <vt:lpstr>IBM Plex Sans KR</vt:lpstr>
      <vt:lpstr>JetBrains Mono</vt:lpstr>
      <vt:lpstr>Arial</vt:lpstr>
      <vt:lpstr>로봇 (Law-bot) — AI 기본법 RAG QA</vt:lpstr>
      <vt:lpstr>로봇 Law-bot</vt:lpstr>
      <vt:lpstr>목차</vt:lpstr>
      <vt:lpstr>프로젝트 개요</vt:lpstr>
      <vt:lpstr>프로젝트 목표</vt:lpstr>
      <vt:lpstr>데이터 · 아키텍처</vt:lpstr>
      <vt:lpstr>데이터 원천과 청크 수</vt:lpstr>
      <vt:lpstr>검색 파이프라인</vt:lpstr>
      <vt:lpstr>위임 그래프</vt:lpstr>
      <vt:lpstr>실험 결과</vt:lpstr>
      <vt:lpstr>Ablation E0 → E10</vt:lpstr>
      <vt:lpstr>핵심 기법 3가지</vt:lpstr>
      <vt:lpstr>Before / After</vt:lpstr>
      <vt:lpstr>채택 · 기각 판단</vt:lpstr>
      <vt:lpstr>시행착오</vt:lpstr>
      <vt:lpstr>최종 성능</vt:lpstr>
      <vt:lpstr>한계 · 향후 과제</vt:lpstr>
      <vt:lpstr>한계와 개선 방향</vt:lpstr>
      <vt:lpstr>감사합니다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로봇 (Law-bot) — AI 기본법 RAG QA</dc:title>
  <dc:subject/>
  <dc:creator/>
  <cp:lastModifiedBy>Admin</cp:lastModifiedBy>
  <cp:revision>2</cp:revision>
  <dcterms:created xsi:type="dcterms:W3CDTF">2026-10-08T08:03:09Z</dcterms:created>
  <dcterms:modified xsi:type="dcterms:W3CDTF">2026-10-08T08:05:41Z</dcterms:modified>
</cp:coreProperties>
</file>